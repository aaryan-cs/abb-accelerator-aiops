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70" r:id="rId10"/>
    <p:sldId id="265" r:id="rId11"/>
    <p:sldId id="266" r:id="rId12"/>
    <p:sldId id="267" r:id="rId13"/>
    <p:sldId id="268" r:id="rId14"/>
  </p:sldIdLst>
  <p:sldSz cx="18288000" cy="10287000"/>
  <p:notesSz cx="6858000" cy="9144000"/>
  <p:embeddedFontLst>
    <p:embeddedFont>
      <p:font typeface="Poppins" panose="00000500000000000000" pitchFamily="2" charset="0"/>
      <p:regular r:id="rId16"/>
      <p:bold r:id="rId17"/>
      <p:italic r:id="rId18"/>
      <p:boldItalic r:id="rId19"/>
    </p:embeddedFont>
    <p:embeddedFont>
      <p:font typeface="Poppins SemiBold" panose="000007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JEpfjPfeK2Jpd5Ai9o3Kt4Kgj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ADCE63-7E8D-4895-A6B5-11DF1ACA8A4B}">
  <a:tblStyle styleId="{FCADCE63-7E8D-4895-A6B5-11DF1ACA8A4B}" styleName="Table_0">
    <a:wholeTbl>
      <a:tcTxStyle b="off" i="off">
        <a:font>
          <a:latin typeface="Calibri"/>
          <a:ea typeface="Calibri"/>
          <a:cs typeface="Calibri"/>
        </a:font>
        <a:schemeClr val="dk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40000"/>
            </a:schemeClr>
          </a:solidFill>
        </a:fill>
      </a:tcStyle>
    </a:band1H>
    <a:band2H>
      <a:tcTxStyle/>
      <a:tcStyle>
        <a:tcBdr/>
      </a:tcStyle>
    </a:band2H>
    <a:band1V>
      <a:tcTxStyle/>
      <a:tcStyle>
        <a:tcBdr>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tcBdr>
        <a:fill>
          <a:solidFill>
            <a:schemeClr val="accent2">
              <a:alpha val="40000"/>
            </a:schemeClr>
          </a:solidFill>
        </a:fill>
      </a:tcStyle>
    </a:band1V>
    <a:band2V>
      <a:tcTxStyle/>
      <a:tcStyle>
        <a:tcBdr/>
      </a:tcStyle>
    </a:band2V>
    <a:lastCol>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chemeClr val="accent2"/>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accent2"/>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left>
            <a:ln w="9525" cap="flat" cmpd="sng">
              <a:solidFill>
                <a:schemeClr val="accent2"/>
              </a:solidFill>
              <a:prstDash val="solid"/>
              <a:round/>
              <a:headEnd type="none" w="sm" len="sm"/>
              <a:tailEnd type="none" w="sm" len="sm"/>
            </a:ln>
          </a:left>
          <a:right>
            <a:ln w="9525" cap="flat" cmpd="sng">
              <a:solidFill>
                <a:schemeClr val="accent2"/>
              </a:solidFill>
              <a:prstDash val="solid"/>
              <a:round/>
              <a:headEnd type="none" w="sm" len="sm"/>
              <a:tailEnd type="none" w="sm" len="sm"/>
            </a:ln>
          </a:right>
          <a:top>
            <a:ln w="9525" cap="flat" cmpd="sng">
              <a:solidFill>
                <a:schemeClr val="accent2"/>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VibML-&gt;CCR</c:v>
                </c:pt>
              </c:strCache>
            </c:strRef>
          </c:tx>
          <c:spPr>
            <a:ln w="25400" cap="flat">
              <a:solidFill>
                <a:srgbClr val="CC0000"/>
              </a:solidFill>
              <a:prstDash val="solid"/>
              <a:round/>
            </a:ln>
            <a:effectLst/>
          </c:spPr>
          <c:marker>
            <c:symbol val="circle"/>
            <c:size val="5"/>
            <c:spPr>
              <a:solidFill>
                <a:srgbClr val="CC0000"/>
              </a:solidFill>
              <a:ln w="9525" cap="flat">
                <a:solidFill>
                  <a:srgbClr val="CC0000"/>
                </a:solidFill>
                <a:prstDash val="solid"/>
                <a:round/>
              </a:ln>
              <a:effectLst/>
            </c:spPr>
          </c:marker>
          <c:cat>
            <c:strRef>
              <c:f>Sheet1!$A$2:$A$6</c:f>
              <c:strCache>
                <c:ptCount val="5"/>
                <c:pt idx="0">
                  <c:v>0s</c:v>
                </c:pt>
                <c:pt idx="1">
                  <c:v>15s</c:v>
                </c:pt>
                <c:pt idx="2">
                  <c:v>30s</c:v>
                </c:pt>
                <c:pt idx="3">
                  <c:v>60s</c:v>
                </c:pt>
                <c:pt idx="4">
                  <c:v>120s</c:v>
                </c:pt>
              </c:strCache>
            </c:strRef>
          </c:cat>
          <c:val>
            <c:numRef>
              <c:f>Sheet1!$B$2:$B$6</c:f>
              <c:numCache>
                <c:formatCode>General</c:formatCode>
                <c:ptCount val="5"/>
                <c:pt idx="0">
                  <c:v>0.31</c:v>
                </c:pt>
                <c:pt idx="1">
                  <c:v>0.57999999999999996</c:v>
                </c:pt>
                <c:pt idx="2">
                  <c:v>0.91</c:v>
                </c:pt>
                <c:pt idx="3">
                  <c:v>0.74</c:v>
                </c:pt>
                <c:pt idx="4">
                  <c:v>0.42</c:v>
                </c:pt>
              </c:numCache>
            </c:numRef>
          </c:val>
          <c:smooth val="0"/>
          <c:extLst>
            <c:ext xmlns:c16="http://schemas.microsoft.com/office/drawing/2014/chart" uri="{C3380CC4-5D6E-409C-BE32-E72D297353CC}">
              <c16:uniqueId val="{00000000-DC48-40A4-B05C-9DC57E4015D4}"/>
            </c:ext>
          </c:extLst>
        </c:ser>
        <c:ser>
          <c:idx val="1"/>
          <c:order val="1"/>
          <c:tx>
            <c:strRef>
              <c:f>Sheet1!$C$1</c:f>
              <c:strCache>
                <c:ptCount val="1"/>
                <c:pt idx="0">
                  <c:v>MQTT-&gt;CCR</c:v>
                </c:pt>
              </c:strCache>
            </c:strRef>
          </c:tx>
          <c:spPr>
            <a:ln w="25400" cap="flat">
              <a:solidFill>
                <a:srgbClr val="1565A0"/>
              </a:solidFill>
              <a:prstDash val="solid"/>
              <a:round/>
            </a:ln>
            <a:effectLst/>
          </c:spPr>
          <c:marker>
            <c:symbol val="circle"/>
            <c:size val="5"/>
            <c:spPr>
              <a:solidFill>
                <a:srgbClr val="1565A0"/>
              </a:solidFill>
              <a:ln w="9525" cap="flat">
                <a:solidFill>
                  <a:srgbClr val="1565A0"/>
                </a:solidFill>
                <a:prstDash val="solid"/>
                <a:round/>
              </a:ln>
              <a:effectLst/>
            </c:spPr>
          </c:marker>
          <c:cat>
            <c:strRef>
              <c:f>Sheet1!$A$2:$A$6</c:f>
              <c:strCache>
                <c:ptCount val="5"/>
                <c:pt idx="0">
                  <c:v>0s</c:v>
                </c:pt>
                <c:pt idx="1">
                  <c:v>15s</c:v>
                </c:pt>
                <c:pt idx="2">
                  <c:v>30s</c:v>
                </c:pt>
                <c:pt idx="3">
                  <c:v>60s</c:v>
                </c:pt>
                <c:pt idx="4">
                  <c:v>120s</c:v>
                </c:pt>
              </c:strCache>
            </c:strRef>
          </c:cat>
          <c:val>
            <c:numRef>
              <c:f>Sheet1!$C$2:$C$6</c:f>
              <c:numCache>
                <c:formatCode>General</c:formatCode>
                <c:ptCount val="5"/>
                <c:pt idx="0">
                  <c:v>0.44</c:v>
                </c:pt>
                <c:pt idx="1">
                  <c:v>0.72</c:v>
                </c:pt>
                <c:pt idx="2">
                  <c:v>0.61</c:v>
                </c:pt>
                <c:pt idx="3">
                  <c:v>0.38</c:v>
                </c:pt>
                <c:pt idx="4">
                  <c:v>0.2</c:v>
                </c:pt>
              </c:numCache>
            </c:numRef>
          </c:val>
          <c:smooth val="0"/>
          <c:extLst>
            <c:ext xmlns:c16="http://schemas.microsoft.com/office/drawing/2014/chart" uri="{C3380CC4-5D6E-409C-BE32-E72D297353CC}">
              <c16:uniqueId val="{00000001-DC48-40A4-B05C-9DC57E4015D4}"/>
            </c:ext>
          </c:extLst>
        </c:ser>
        <c:ser>
          <c:idx val="2"/>
          <c:order val="2"/>
          <c:tx>
            <c:strRef>
              <c:f>Sheet1!$D$1</c:f>
              <c:strCache>
                <c:ptCount val="1"/>
                <c:pt idx="0">
                  <c:v>TSDB-&gt;CCR</c:v>
                </c:pt>
              </c:strCache>
            </c:strRef>
          </c:tx>
          <c:spPr>
            <a:ln w="25400" cap="flat">
              <a:solidFill>
                <a:srgbClr val="8B6200"/>
              </a:solidFill>
              <a:prstDash val="solid"/>
              <a:round/>
            </a:ln>
            <a:effectLst/>
          </c:spPr>
          <c:marker>
            <c:symbol val="circle"/>
            <c:size val="5"/>
            <c:spPr>
              <a:solidFill>
                <a:srgbClr val="8B6200"/>
              </a:solidFill>
              <a:ln w="9525" cap="flat">
                <a:solidFill>
                  <a:srgbClr val="8B6200"/>
                </a:solidFill>
                <a:prstDash val="solid"/>
                <a:round/>
              </a:ln>
              <a:effectLst/>
            </c:spPr>
          </c:marker>
          <c:cat>
            <c:strRef>
              <c:f>Sheet1!$A$2:$A$6</c:f>
              <c:strCache>
                <c:ptCount val="5"/>
                <c:pt idx="0">
                  <c:v>0s</c:v>
                </c:pt>
                <c:pt idx="1">
                  <c:v>15s</c:v>
                </c:pt>
                <c:pt idx="2">
                  <c:v>30s</c:v>
                </c:pt>
                <c:pt idx="3">
                  <c:v>60s</c:v>
                </c:pt>
                <c:pt idx="4">
                  <c:v>120s</c:v>
                </c:pt>
              </c:strCache>
            </c:strRef>
          </c:cat>
          <c:val>
            <c:numRef>
              <c:f>Sheet1!$D$2:$D$6</c:f>
              <c:numCache>
                <c:formatCode>General</c:formatCode>
                <c:ptCount val="5"/>
                <c:pt idx="0">
                  <c:v>0.22</c:v>
                </c:pt>
                <c:pt idx="1">
                  <c:v>0.35</c:v>
                </c:pt>
                <c:pt idx="2">
                  <c:v>0.48</c:v>
                </c:pt>
                <c:pt idx="3">
                  <c:v>0.64</c:v>
                </c:pt>
                <c:pt idx="4">
                  <c:v>0.51</c:v>
                </c:pt>
              </c:numCache>
            </c:numRef>
          </c:val>
          <c:smooth val="0"/>
          <c:extLst>
            <c:ext xmlns:c16="http://schemas.microsoft.com/office/drawing/2014/chart" uri="{C3380CC4-5D6E-409C-BE32-E72D297353CC}">
              <c16:uniqueId val="{00000002-DC48-40A4-B05C-9DC57E4015D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Poppins"/>
              </a:defRPr>
            </a:pPr>
            <a:endParaRPr lang="en-US"/>
          </a:p>
        </c:txPr>
        <c:crossAx val="2094734552"/>
        <c:crosses val="autoZero"/>
        <c:auto val="1"/>
        <c:lblAlgn val="ctr"/>
        <c:lblOffset val="100"/>
        <c:noMultiLvlLbl val="1"/>
      </c:catAx>
      <c:valAx>
        <c:axId val="2094734552"/>
        <c:scaling>
          <c:orientation val="minMax"/>
          <c:max val="1"/>
          <c:min val="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Poppins"/>
              </a:defRPr>
            </a:pPr>
            <a:endParaRPr lang="en-US"/>
          </a:p>
        </c:txPr>
        <c:crossAx val="2094734554"/>
        <c:crosses val="autoZero"/>
        <c:crossBetween val="between"/>
        <c:majorUnit val="0.25"/>
      </c:valAx>
      <c:spPr>
        <a:noFill/>
        <a:ln>
          <a:noFill/>
        </a:ln>
        <a:effectLst/>
      </c:spPr>
    </c:plotArea>
    <c:legend>
      <c:legendPos val="b"/>
      <c:overlay val="0"/>
      <c:txPr>
        <a:bodyPr/>
        <a:lstStyle/>
        <a:p>
          <a:pPr>
            <a:defRPr sz="700">
              <a:latin typeface="Poppins"/>
              <a:cs typeface="Poppins"/>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e98ae1005c_4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e98ae1005c_4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3e98ae1005c_4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7" name="Google Shape;56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0" name="Google Shape;69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0" name="Google Shape;76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1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3" name="Google Shape;23;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5" name="Google Shape;35;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1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2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2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2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3" name="Google Shape;63;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1792288" y="612775"/>
            <a:ext cx="5486400" cy="4114800"/>
          </a:xfrm>
          <a:prstGeom prst="rect">
            <a:avLst/>
          </a:prstGeom>
          <a:noFill/>
          <a:ln>
            <a:noFill/>
          </a:ln>
        </p:spPr>
      </p:sp>
      <p:sp>
        <p:nvSpPr>
          <p:cNvPr id="69" name="Google Shape;69;p2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0" name="Google Shape;7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Shape 88"/>
        <p:cNvGrpSpPr/>
        <p:nvPr/>
      </p:nvGrpSpPr>
      <p:grpSpPr>
        <a:xfrm>
          <a:off x="0" y="0"/>
          <a:ext cx="0" cy="0"/>
          <a:chOff x="0" y="0"/>
          <a:chExt cx="0" cy="0"/>
        </a:xfrm>
      </p:grpSpPr>
      <p:sp>
        <p:nvSpPr>
          <p:cNvPr id="89" name="Google Shape;89;p1"/>
          <p:cNvSpPr/>
          <p:nvPr/>
        </p:nvSpPr>
        <p:spPr>
          <a:xfrm>
            <a:off x="11136999" y="0"/>
            <a:ext cx="1718522" cy="10287000"/>
          </a:xfrm>
          <a:custGeom>
            <a:avLst/>
            <a:gdLst/>
            <a:ahLst/>
            <a:cxnLst/>
            <a:rect l="l" t="t" r="r" b="b"/>
            <a:pathLst>
              <a:path w="889495" h="1593725" extrusionOk="0">
                <a:moveTo>
                  <a:pt x="0" y="0"/>
                </a:moveTo>
                <a:lnTo>
                  <a:pt x="889495" y="0"/>
                </a:lnTo>
                <a:lnTo>
                  <a:pt x="889495" y="1593725"/>
                </a:lnTo>
                <a:lnTo>
                  <a:pt x="0" y="1593725"/>
                </a:lnTo>
                <a:close/>
              </a:path>
            </a:pathLst>
          </a:custGeom>
          <a:solidFill>
            <a:srgbClr val="CC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 name="Google Shape;90;p1"/>
          <p:cNvSpPr txBox="1"/>
          <p:nvPr/>
        </p:nvSpPr>
        <p:spPr>
          <a:xfrm>
            <a:off x="829234" y="68738"/>
            <a:ext cx="11047338" cy="2550314"/>
          </a:xfrm>
          <a:prstGeom prst="rect">
            <a:avLst/>
          </a:prstGeom>
          <a:noFill/>
          <a:ln>
            <a:noFill/>
          </a:ln>
        </p:spPr>
        <p:txBody>
          <a:bodyPr spcFirstLastPara="1" wrap="square" lIns="0" tIns="0" rIns="0" bIns="0" anchor="t" anchorCtr="0">
            <a:spAutoFit/>
          </a:bodyPr>
          <a:lstStyle/>
          <a:p>
            <a:pPr marL="0" marR="0" lvl="0" indent="0" algn="l" rtl="0">
              <a:lnSpc>
                <a:spcPct val="200925"/>
              </a:lnSpc>
              <a:spcBef>
                <a:spcPts val="0"/>
              </a:spcBef>
              <a:spcAft>
                <a:spcPts val="0"/>
              </a:spcAft>
              <a:buNone/>
            </a:pPr>
            <a:r>
              <a:rPr lang="en-US" sz="10800" b="1" dirty="0" err="1">
                <a:solidFill>
                  <a:srgbClr val="FFFFFF"/>
                </a:solidFill>
                <a:latin typeface="Poppins SemiBold"/>
                <a:ea typeface="Poppins SemiBold"/>
                <a:cs typeface="Poppins SemiBold"/>
                <a:sym typeface="Poppins SemiBold"/>
              </a:rPr>
              <a:t>SiliconKnights</a:t>
            </a:r>
            <a:endParaRPr dirty="0"/>
          </a:p>
        </p:txBody>
      </p:sp>
      <p:sp>
        <p:nvSpPr>
          <p:cNvPr id="91" name="Google Shape;91;p1"/>
          <p:cNvSpPr txBox="1"/>
          <p:nvPr/>
        </p:nvSpPr>
        <p:spPr>
          <a:xfrm>
            <a:off x="829234" y="6372038"/>
            <a:ext cx="4311818" cy="475579"/>
          </a:xfrm>
          <a:prstGeom prst="rect">
            <a:avLst/>
          </a:prstGeom>
          <a:noFill/>
          <a:ln>
            <a:noFill/>
          </a:ln>
        </p:spPr>
        <p:txBody>
          <a:bodyPr spcFirstLastPara="1" wrap="square" lIns="0" tIns="0" rIns="0" bIns="0" anchor="t" anchorCtr="0">
            <a:spAutoFit/>
          </a:bodyPr>
          <a:lstStyle/>
          <a:p>
            <a:pPr marL="0" marR="0" lvl="0" indent="0" algn="l" rtl="0">
              <a:lnSpc>
                <a:spcPct val="140014"/>
              </a:lnSpc>
              <a:spcBef>
                <a:spcPts val="0"/>
              </a:spcBef>
              <a:spcAft>
                <a:spcPts val="0"/>
              </a:spcAft>
              <a:buNone/>
            </a:pPr>
            <a:r>
              <a:rPr lang="en-US" sz="2799" b="1" dirty="0">
                <a:solidFill>
                  <a:srgbClr val="FFFFFF"/>
                </a:solidFill>
                <a:latin typeface="Poppins SemiBold"/>
                <a:ea typeface="Poppins SemiBold"/>
                <a:cs typeface="Poppins SemiBold"/>
                <a:sym typeface="Poppins SemiBold"/>
              </a:rPr>
              <a:t>Team Members:</a:t>
            </a:r>
            <a:endParaRPr dirty="0"/>
          </a:p>
        </p:txBody>
      </p:sp>
      <p:sp>
        <p:nvSpPr>
          <p:cNvPr id="92" name="Google Shape;92;p1"/>
          <p:cNvSpPr txBox="1"/>
          <p:nvPr/>
        </p:nvSpPr>
        <p:spPr>
          <a:xfrm>
            <a:off x="834150" y="3825266"/>
            <a:ext cx="9791700" cy="221599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4000" dirty="0">
                <a:solidFill>
                  <a:srgbClr val="FFFFFF"/>
                </a:solidFill>
                <a:latin typeface="Poppins"/>
                <a:ea typeface="Poppins"/>
                <a:cs typeface="Poppins"/>
                <a:sym typeface="Poppins"/>
              </a:rPr>
              <a:t>Theme 2:</a:t>
            </a:r>
            <a:br>
              <a:rPr lang="en-US" sz="4000" dirty="0">
                <a:solidFill>
                  <a:srgbClr val="FFFFFF"/>
                </a:solidFill>
                <a:latin typeface="Poppins"/>
                <a:ea typeface="Poppins"/>
                <a:cs typeface="Poppins"/>
                <a:sym typeface="Poppins"/>
              </a:rPr>
            </a:br>
            <a:r>
              <a:rPr lang="en-US" sz="2800" dirty="0">
                <a:solidFill>
                  <a:srgbClr val="FFFFFF"/>
                </a:solidFill>
                <a:latin typeface="Poppins"/>
                <a:ea typeface="Poppins"/>
                <a:cs typeface="Poppins"/>
                <a:sym typeface="Poppins"/>
              </a:rPr>
              <a:t>Beyond monitoring: AI agents for real-time pod resource discovery and dependency mapping</a:t>
            </a:r>
            <a:endParaRPr dirty="0"/>
          </a:p>
        </p:txBody>
      </p:sp>
      <p:sp>
        <p:nvSpPr>
          <p:cNvPr id="93" name="Google Shape;93;p1"/>
          <p:cNvSpPr txBox="1"/>
          <p:nvPr/>
        </p:nvSpPr>
        <p:spPr>
          <a:xfrm>
            <a:off x="829234" y="7049139"/>
            <a:ext cx="7039800" cy="2539157"/>
          </a:xfrm>
          <a:prstGeom prst="rect">
            <a:avLst/>
          </a:prstGeom>
          <a:noFill/>
          <a:ln>
            <a:noFill/>
          </a:ln>
        </p:spPr>
        <p:txBody>
          <a:bodyPr spcFirstLastPara="1" wrap="square" lIns="0" tIns="0" rIns="0" bIns="0" anchor="t" anchorCtr="0">
            <a:spAutoFit/>
          </a:bodyPr>
          <a:lstStyle/>
          <a:p>
            <a:pPr marL="0" lvl="0" indent="0" algn="l" rtl="0">
              <a:lnSpc>
                <a:spcPct val="150000"/>
              </a:lnSpc>
              <a:spcBef>
                <a:spcPts val="0"/>
              </a:spcBef>
              <a:spcAft>
                <a:spcPts val="0"/>
              </a:spcAft>
              <a:buClr>
                <a:schemeClr val="dk1"/>
              </a:buClr>
              <a:buFont typeface="Arial"/>
              <a:buNone/>
            </a:pPr>
            <a:r>
              <a:rPr lang="en-US" sz="2400" dirty="0">
                <a:solidFill>
                  <a:schemeClr val="lt1"/>
                </a:solidFill>
                <a:latin typeface="Poppins"/>
                <a:ea typeface="Poppins"/>
                <a:cs typeface="Poppins"/>
                <a:sym typeface="Poppins"/>
              </a:rPr>
              <a:t>Soumyadip Das</a:t>
            </a:r>
          </a:p>
          <a:p>
            <a:pPr>
              <a:lnSpc>
                <a:spcPct val="150000"/>
              </a:lnSpc>
              <a:buClr>
                <a:schemeClr val="dk1"/>
              </a:buClr>
            </a:pPr>
            <a:r>
              <a:rPr lang="en-US" sz="2400" dirty="0">
                <a:solidFill>
                  <a:srgbClr val="FFFFFF"/>
                </a:solidFill>
                <a:latin typeface="Poppins"/>
                <a:ea typeface="Poppins"/>
                <a:cs typeface="Poppins"/>
                <a:sym typeface="Poppins"/>
              </a:rPr>
              <a:t>Shivam Kumar</a:t>
            </a:r>
            <a:endParaRPr sz="2400" dirty="0">
              <a:solidFill>
                <a:schemeClr val="lt1"/>
              </a:solidFill>
              <a:latin typeface="Poppins"/>
              <a:ea typeface="Poppins"/>
              <a:cs typeface="Poppins"/>
              <a:sym typeface="Poppins"/>
            </a:endParaRPr>
          </a:p>
          <a:p>
            <a:pPr marL="0" lvl="0" indent="0" algn="l" rtl="0">
              <a:lnSpc>
                <a:spcPct val="150000"/>
              </a:lnSpc>
              <a:spcBef>
                <a:spcPts val="0"/>
              </a:spcBef>
              <a:spcAft>
                <a:spcPts val="0"/>
              </a:spcAft>
              <a:buClr>
                <a:schemeClr val="dk1"/>
              </a:buClr>
              <a:buFont typeface="Arial"/>
              <a:buNone/>
            </a:pPr>
            <a:r>
              <a:rPr lang="en-US" sz="2400" dirty="0">
                <a:solidFill>
                  <a:schemeClr val="lt1"/>
                </a:solidFill>
                <a:latin typeface="Poppins"/>
                <a:ea typeface="Poppins"/>
                <a:cs typeface="Poppins"/>
                <a:sym typeface="Poppins"/>
              </a:rPr>
              <a:t>B Kishan</a:t>
            </a:r>
            <a:endParaRPr sz="2400" dirty="0">
              <a:solidFill>
                <a:schemeClr val="lt1"/>
              </a:solidFill>
              <a:latin typeface="Poppins"/>
              <a:ea typeface="Poppins"/>
              <a:cs typeface="Poppins"/>
              <a:sym typeface="Poppins"/>
            </a:endParaRPr>
          </a:p>
          <a:p>
            <a:pPr marL="0" lvl="0" indent="0" algn="l" rtl="0">
              <a:lnSpc>
                <a:spcPct val="150000"/>
              </a:lnSpc>
              <a:spcBef>
                <a:spcPts val="0"/>
              </a:spcBef>
              <a:spcAft>
                <a:spcPts val="0"/>
              </a:spcAft>
              <a:buClr>
                <a:schemeClr val="dk1"/>
              </a:buClr>
              <a:buFont typeface="Arial"/>
              <a:buNone/>
            </a:pPr>
            <a:r>
              <a:rPr lang="en-US" sz="2400" dirty="0">
                <a:solidFill>
                  <a:schemeClr val="lt1"/>
                </a:solidFill>
                <a:latin typeface="Poppins"/>
                <a:ea typeface="Poppins"/>
                <a:cs typeface="Poppins"/>
                <a:sym typeface="Poppins"/>
              </a:rPr>
              <a:t>Aaryan Shyam Pillai</a:t>
            </a:r>
            <a:endParaRPr sz="2400" dirty="0">
              <a:solidFill>
                <a:schemeClr val="lt1"/>
              </a:solidFill>
              <a:latin typeface="Poppins"/>
              <a:ea typeface="Poppins"/>
              <a:cs typeface="Poppins"/>
              <a:sym typeface="Poppins"/>
            </a:endParaRPr>
          </a:p>
          <a:p>
            <a:pPr marL="0" marR="0" lvl="0" indent="0" algn="l" rtl="0">
              <a:lnSpc>
                <a:spcPct val="150000"/>
              </a:lnSpc>
              <a:spcBef>
                <a:spcPts val="0"/>
              </a:spcBef>
              <a:spcAft>
                <a:spcPts val="0"/>
              </a:spcAft>
              <a:buNone/>
            </a:pPr>
            <a:endParaRPr dirty="0"/>
          </a:p>
        </p:txBody>
      </p:sp>
      <p:pic>
        <p:nvPicPr>
          <p:cNvPr id="94" name="Google Shape;94;p1" descr="Data center server racks. IT modern hardware server room, data storage center, database information system. Hosting, it data backup, computing technology service, network security, supercomputers, 3D Data center server racks. IT modern hardware server room, data storage center, database information system. Hosting, it data backup, computing technology service, network security, artificial intelligence supercomputers, 3D mixed-media illustration Data Center Stock Photo"/>
          <p:cNvPicPr preferRelativeResize="0"/>
          <p:nvPr/>
        </p:nvPicPr>
        <p:blipFill rotWithShape="1">
          <a:blip r:embed="rId3">
            <a:alphaModFix/>
          </a:blip>
          <a:srcRect l="23011" r="43251"/>
          <a:stretch/>
        </p:blipFill>
        <p:spPr>
          <a:xfrm>
            <a:off x="12855521" y="0"/>
            <a:ext cx="5401183" cy="10287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g3e98ae1005c_4_7"/>
          <p:cNvPicPr preferRelativeResize="0"/>
          <p:nvPr/>
        </p:nvPicPr>
        <p:blipFill>
          <a:blip r:embed="rId3">
            <a:alphaModFix/>
          </a:blip>
          <a:stretch>
            <a:fillRect/>
          </a:stretch>
        </p:blipFill>
        <p:spPr>
          <a:xfrm>
            <a:off x="152400" y="152400"/>
            <a:ext cx="17746135" cy="9982201"/>
          </a:xfrm>
          <a:prstGeom prst="rect">
            <a:avLst/>
          </a:prstGeom>
          <a:noFill/>
          <a:ln>
            <a:noFill/>
          </a:ln>
        </p:spPr>
      </p:pic>
      <p:pic>
        <p:nvPicPr>
          <p:cNvPr id="101" name="Google Shape;101;g3e98ae1005c_4_7"/>
          <p:cNvPicPr preferRelativeResize="0"/>
          <p:nvPr/>
        </p:nvPicPr>
        <p:blipFill>
          <a:blip r:embed="rId4">
            <a:alphaModFix/>
          </a:blip>
          <a:stretch>
            <a:fillRect/>
          </a:stretch>
        </p:blipFill>
        <p:spPr>
          <a:xfrm>
            <a:off x="0" y="0"/>
            <a:ext cx="18288000" cy="10287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graphicFrame>
        <p:nvGraphicFramePr>
          <p:cNvPr id="106" name="Google Shape;106;p3"/>
          <p:cNvGraphicFramePr/>
          <p:nvPr/>
        </p:nvGraphicFramePr>
        <p:xfrm>
          <a:off x="1052572" y="2022794"/>
          <a:ext cx="12587250" cy="3474780"/>
        </p:xfrm>
        <a:graphic>
          <a:graphicData uri="http://schemas.openxmlformats.org/drawingml/2006/table">
            <a:tbl>
              <a:tblPr>
                <a:gradFill>
                  <a:gsLst>
                    <a:gs pos="0">
                      <a:srgbClr val="E4A5A5"/>
                    </a:gs>
                    <a:gs pos="35000">
                      <a:srgbClr val="EBC0C1"/>
                    </a:gs>
                    <a:gs pos="100000">
                      <a:srgbClr val="F8E6E6"/>
                    </a:gs>
                  </a:gsLst>
                  <a:lin ang="16200000" scaled="0"/>
                </a:gradFill>
                <a:tableStyleId>{FCADCE63-7E8D-4895-A6B5-11DF1ACA8A4B}</a:tableStyleId>
              </a:tblPr>
              <a:tblGrid>
                <a:gridCol w="2517450">
                  <a:extLst>
                    <a:ext uri="{9D8B030D-6E8A-4147-A177-3AD203B41FA5}">
                      <a16:colId xmlns:a16="http://schemas.microsoft.com/office/drawing/2014/main" val="20000"/>
                    </a:ext>
                  </a:extLst>
                </a:gridCol>
                <a:gridCol w="2517450">
                  <a:extLst>
                    <a:ext uri="{9D8B030D-6E8A-4147-A177-3AD203B41FA5}">
                      <a16:colId xmlns:a16="http://schemas.microsoft.com/office/drawing/2014/main" val="20001"/>
                    </a:ext>
                  </a:extLst>
                </a:gridCol>
                <a:gridCol w="2517450">
                  <a:extLst>
                    <a:ext uri="{9D8B030D-6E8A-4147-A177-3AD203B41FA5}">
                      <a16:colId xmlns:a16="http://schemas.microsoft.com/office/drawing/2014/main" val="20002"/>
                    </a:ext>
                  </a:extLst>
                </a:gridCol>
                <a:gridCol w="2517450">
                  <a:extLst>
                    <a:ext uri="{9D8B030D-6E8A-4147-A177-3AD203B41FA5}">
                      <a16:colId xmlns:a16="http://schemas.microsoft.com/office/drawing/2014/main" val="20003"/>
                    </a:ext>
                  </a:extLst>
                </a:gridCol>
                <a:gridCol w="2517450">
                  <a:extLst>
                    <a:ext uri="{9D8B030D-6E8A-4147-A177-3AD203B41FA5}">
                      <a16:colId xmlns:a16="http://schemas.microsoft.com/office/drawing/2014/main" val="20004"/>
                    </a:ext>
                  </a:extLst>
                </a:gridCol>
              </a:tblGrid>
              <a:tr h="304800">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Platform</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Cloud Dependency</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Manual Configuration</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Edge Ready</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Resource Correlation</a:t>
                      </a:r>
                      <a:endParaRPr/>
                    </a:p>
                  </a:txBody>
                  <a:tcPr marL="91450" marR="91450" marT="45725" marB="45725" anchor="ctr"/>
                </a:tc>
                <a:extLst>
                  <a:ext uri="{0D108BD9-81ED-4DB2-BD59-A6C34878D82A}">
                    <a16:rowId xmlns:a16="http://schemas.microsoft.com/office/drawing/2014/main" val="10000"/>
                  </a:ext>
                </a:extLst>
              </a:tr>
              <a:tr h="304800">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Dynatrace</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Yes</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Partial</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No</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Limited</a:t>
                      </a:r>
                      <a:endParaRPr/>
                    </a:p>
                  </a:txBody>
                  <a:tcPr marL="91450" marR="91450" marT="45725" marB="45725" anchor="ctr"/>
                </a:tc>
                <a:extLst>
                  <a:ext uri="{0D108BD9-81ED-4DB2-BD59-A6C34878D82A}">
                    <a16:rowId xmlns:a16="http://schemas.microsoft.com/office/drawing/2014/main" val="10001"/>
                  </a:ext>
                </a:extLst>
              </a:tr>
              <a:tr h="304800">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Datadog</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Yes</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Partial</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No</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Limited</a:t>
                      </a:r>
                      <a:endParaRPr/>
                    </a:p>
                  </a:txBody>
                  <a:tcPr marL="91450" marR="91450" marT="45725" marB="45725" anchor="ctr"/>
                </a:tc>
                <a:extLst>
                  <a:ext uri="{0D108BD9-81ED-4DB2-BD59-A6C34878D82A}">
                    <a16:rowId xmlns:a16="http://schemas.microsoft.com/office/drawing/2014/main" val="10002"/>
                  </a:ext>
                </a:extLst>
              </a:tr>
              <a:tr h="304800">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Istio / Linkerd</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No</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Automatic</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Heavy</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Network-only</a:t>
                      </a:r>
                      <a:endParaRPr/>
                    </a:p>
                  </a:txBody>
                  <a:tcPr marL="91450" marR="91450" marT="45725" marB="45725" anchor="ctr"/>
                </a:tc>
                <a:extLst>
                  <a:ext uri="{0D108BD9-81ED-4DB2-BD59-A6C34878D82A}">
                    <a16:rowId xmlns:a16="http://schemas.microsoft.com/office/drawing/2014/main" val="10003"/>
                  </a:ext>
                </a:extLst>
              </a:tr>
              <a:tr h="304800">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Prometheus + Grafana Only</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No</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N/A</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Yes</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None</a:t>
                      </a:r>
                      <a:endParaRPr/>
                    </a:p>
                  </a:txBody>
                  <a:tcPr marL="91450" marR="91450" marT="45725" marB="45725" anchor="ctr"/>
                </a:tc>
                <a:extLst>
                  <a:ext uri="{0D108BD9-81ED-4DB2-BD59-A6C34878D82A}">
                    <a16:rowId xmlns:a16="http://schemas.microsoft.com/office/drawing/2014/main" val="10004"/>
                  </a:ext>
                </a:extLst>
              </a:tr>
              <a:tr h="304800">
                <a:tc>
                  <a:txBody>
                    <a:bodyPr/>
                    <a:lstStyle/>
                    <a:p>
                      <a:pPr marL="0" marR="0" lvl="0" indent="0" algn="l" rtl="0">
                        <a:spcBef>
                          <a:spcPts val="0"/>
                        </a:spcBef>
                        <a:spcAft>
                          <a:spcPts val="0"/>
                        </a:spcAft>
                        <a:buClr>
                          <a:schemeClr val="dk1"/>
                        </a:buClr>
                        <a:buSzPts val="2400"/>
                        <a:buFont typeface="Poppins SemiBold"/>
                        <a:buNone/>
                      </a:pPr>
                      <a:r>
                        <a:rPr lang="en-US" sz="2400" u="none" strike="noStrike" cap="none">
                          <a:latin typeface="Poppins SemiBold"/>
                          <a:ea typeface="Poppins SemiBold"/>
                          <a:cs typeface="Poppins SemiBold"/>
                          <a:sym typeface="Poppins SemiBold"/>
                        </a:rPr>
                        <a:t>(Our Solution)</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No</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No</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Yes</a:t>
                      </a:r>
                      <a:endParaRPr/>
                    </a:p>
                  </a:txBody>
                  <a:tcPr marL="91450" marR="91450" marT="45725" marB="45725" anchor="ctr"/>
                </a:tc>
                <a:tc>
                  <a:txBody>
                    <a:bodyPr/>
                    <a:lstStyle/>
                    <a:p>
                      <a:pPr marL="0" marR="0" lvl="0" indent="0" algn="l" rtl="0">
                        <a:spcBef>
                          <a:spcPts val="0"/>
                        </a:spcBef>
                        <a:spcAft>
                          <a:spcPts val="0"/>
                        </a:spcAft>
                        <a:buClr>
                          <a:schemeClr val="dk1"/>
                        </a:buClr>
                        <a:buSzPts val="2400"/>
                        <a:buFont typeface="Poppins"/>
                        <a:buNone/>
                      </a:pPr>
                      <a:r>
                        <a:rPr lang="en-US" sz="2400" u="none" strike="noStrike" cap="none">
                          <a:latin typeface="Poppins"/>
                          <a:ea typeface="Poppins"/>
                          <a:cs typeface="Poppins"/>
                          <a:sym typeface="Poppins"/>
                        </a:rPr>
                        <a:t>Multi-resource</a:t>
                      </a:r>
                      <a:endParaRPr/>
                    </a:p>
                  </a:txBody>
                  <a:tcPr marL="91450" marR="91450" marT="45725" marB="45725" anchor="ctr"/>
                </a:tc>
                <a:extLst>
                  <a:ext uri="{0D108BD9-81ED-4DB2-BD59-A6C34878D82A}">
                    <a16:rowId xmlns:a16="http://schemas.microsoft.com/office/drawing/2014/main" val="10005"/>
                  </a:ext>
                </a:extLst>
              </a:tr>
            </a:tbl>
          </a:graphicData>
        </a:graphic>
      </p:graphicFrame>
      <p:sp>
        <p:nvSpPr>
          <p:cNvPr id="107" name="Google Shape;107;p3"/>
          <p:cNvSpPr txBox="1"/>
          <p:nvPr/>
        </p:nvSpPr>
        <p:spPr>
          <a:xfrm>
            <a:off x="1052572" y="5792131"/>
            <a:ext cx="15201911" cy="2830518"/>
          </a:xfrm>
          <a:prstGeom prst="rect">
            <a:avLst/>
          </a:prstGeom>
          <a:noFill/>
          <a:ln>
            <a:noFill/>
          </a:ln>
        </p:spPr>
        <p:txBody>
          <a:bodyPr spcFirstLastPara="1" wrap="square" lIns="0" tIns="0" rIns="0" bIns="0" anchor="t" anchorCtr="0">
            <a:spAutoFit/>
          </a:bodyPr>
          <a:lstStyle/>
          <a:p>
            <a:pPr marL="302259" marR="0" lvl="1" indent="0" algn="l" rtl="0">
              <a:lnSpc>
                <a:spcPct val="187031"/>
              </a:lnSpc>
              <a:spcBef>
                <a:spcPts val="0"/>
              </a:spcBef>
              <a:spcAft>
                <a:spcPts val="0"/>
              </a:spcAft>
              <a:buNone/>
            </a:pPr>
            <a:r>
              <a:rPr lang="en-US" sz="2799" b="0" i="0" u="none" strike="noStrike" cap="none">
                <a:solidFill>
                  <a:srgbClr val="1A1A1A"/>
                </a:solidFill>
                <a:latin typeface="Poppins SemiBold"/>
                <a:ea typeface="Poppins SemiBold"/>
                <a:cs typeface="Poppins SemiBold"/>
                <a:sym typeface="Poppins SemiBold"/>
              </a:rPr>
              <a:t>Existing limitations</a:t>
            </a:r>
            <a:endParaRPr/>
          </a:p>
          <a:p>
            <a:pPr marL="759459" marR="0" lvl="1" indent="-4572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Designed primarily for large cloud-native clusters</a:t>
            </a:r>
            <a:endParaRPr/>
          </a:p>
          <a:p>
            <a:pPr marL="759459" marR="0" lvl="1" indent="-4572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Focused on communication visibility rather than causal resource behavior</a:t>
            </a:r>
            <a:endParaRPr/>
          </a:p>
          <a:p>
            <a:pPr marL="759459" marR="0" lvl="1" indent="-4572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High deployment overhead in constrained edge environments</a:t>
            </a:r>
            <a:endParaRPr/>
          </a:p>
          <a:p>
            <a:pPr marL="759459" marR="0" lvl="1" indent="-4572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No automated tracing of cascading failures</a:t>
            </a:r>
            <a:endParaRPr/>
          </a:p>
        </p:txBody>
      </p:sp>
      <p:sp>
        <p:nvSpPr>
          <p:cNvPr id="108" name="Google Shape;108;p3"/>
          <p:cNvSpPr/>
          <p:nvPr/>
        </p:nvSpPr>
        <p:spPr>
          <a:xfrm>
            <a:off x="0" y="9774936"/>
            <a:ext cx="18288000" cy="512064"/>
          </a:xfrm>
          <a:prstGeom prst="rect">
            <a:avLst/>
          </a:prstGeom>
          <a:solidFill>
            <a:srgbClr val="0D0D0D"/>
          </a:solidFill>
          <a:ln w="12700" cap="flat" cmpd="sng">
            <a:solidFill>
              <a:srgbClr val="0D0D0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 name="Google Shape;109;p3"/>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 name="Google Shape;110;p3"/>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sz="1400">
              <a:solidFill>
                <a:schemeClr val="dk1"/>
              </a:solidFill>
              <a:latin typeface="Calibri"/>
              <a:ea typeface="Calibri"/>
              <a:cs typeface="Calibri"/>
              <a:sym typeface="Calibri"/>
            </a:endParaRPr>
          </a:p>
        </p:txBody>
      </p:sp>
      <p:sp>
        <p:nvSpPr>
          <p:cNvPr id="111" name="Google Shape;111;p3"/>
          <p:cNvSpPr/>
          <p:nvPr/>
        </p:nvSpPr>
        <p:spPr>
          <a:xfrm>
            <a:off x="1645920" y="9774936"/>
            <a:ext cx="1280160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lt1"/>
                </a:solidFill>
                <a:latin typeface="Poppins"/>
                <a:ea typeface="Poppins"/>
                <a:cs typeface="Poppins"/>
                <a:sym typeface="Poppins"/>
              </a:rPr>
              <a:t>SiliconKnights</a:t>
            </a:r>
            <a:endParaRPr sz="1400">
              <a:solidFill>
                <a:schemeClr val="lt1"/>
              </a:solidFill>
              <a:latin typeface="Calibri"/>
              <a:ea typeface="Calibri"/>
              <a:cs typeface="Calibri"/>
              <a:sym typeface="Calibri"/>
            </a:endParaRPr>
          </a:p>
        </p:txBody>
      </p:sp>
      <p:sp>
        <p:nvSpPr>
          <p:cNvPr id="112" name="Google Shape;112;p3"/>
          <p:cNvSpPr/>
          <p:nvPr/>
        </p:nvSpPr>
        <p:spPr>
          <a:xfrm>
            <a:off x="17373600" y="9774936"/>
            <a:ext cx="731400" cy="512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a:solidFill>
                  <a:schemeClr val="lt1"/>
                </a:solidFill>
                <a:latin typeface="Calibri"/>
                <a:ea typeface="Calibri"/>
                <a:cs typeface="Calibri"/>
                <a:sym typeface="Calibri"/>
              </a:rPr>
              <a:t>3</a:t>
            </a:r>
            <a:endParaRPr/>
          </a:p>
        </p:txBody>
      </p:sp>
      <p:sp>
        <p:nvSpPr>
          <p:cNvPr id="113" name="Google Shape;113;p3"/>
          <p:cNvSpPr/>
          <p:nvPr/>
        </p:nvSpPr>
        <p:spPr>
          <a:xfrm>
            <a:off x="1426464" y="512064"/>
            <a:ext cx="9165336"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4000" b="1">
                <a:solidFill>
                  <a:schemeClr val="dk1"/>
                </a:solidFill>
                <a:latin typeface="Poppins"/>
                <a:ea typeface="Poppins"/>
                <a:cs typeface="Poppins"/>
                <a:sym typeface="Poppins"/>
              </a:rPr>
              <a:t>Why existing tools fall short</a:t>
            </a:r>
            <a:endParaRPr/>
          </a:p>
        </p:txBody>
      </p:sp>
      <p:sp>
        <p:nvSpPr>
          <p:cNvPr id="114" name="Google Shape;114;p3"/>
          <p:cNvSpPr/>
          <p:nvPr/>
        </p:nvSpPr>
        <p:spPr>
          <a:xfrm>
            <a:off x="706545" y="548640"/>
            <a:ext cx="585216"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 name="Google Shape;115;p3"/>
          <p:cNvSpPr/>
          <p:nvPr/>
        </p:nvSpPr>
        <p:spPr>
          <a:xfrm>
            <a:off x="706545" y="548067"/>
            <a:ext cx="585216"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p:nvPr/>
        </p:nvSpPr>
        <p:spPr>
          <a:xfrm>
            <a:off x="1052572" y="1702587"/>
            <a:ext cx="16206727" cy="4979440"/>
          </a:xfrm>
          <a:prstGeom prst="rect">
            <a:avLst/>
          </a:prstGeom>
          <a:noFill/>
          <a:ln>
            <a:noFill/>
          </a:ln>
        </p:spPr>
        <p:txBody>
          <a:bodyPr spcFirstLastPara="1" wrap="square" lIns="0" tIns="0" rIns="0" bIns="0" anchor="t" anchorCtr="0">
            <a:spAutoFit/>
          </a:bodyPr>
          <a:lstStyle/>
          <a:p>
            <a:pPr marL="302259" marR="0" lvl="1" indent="0" algn="l" rtl="0">
              <a:lnSpc>
                <a:spcPct val="187031"/>
              </a:lnSpc>
              <a:spcBef>
                <a:spcPts val="0"/>
              </a:spcBef>
              <a:spcAft>
                <a:spcPts val="0"/>
              </a:spcAft>
              <a:buNone/>
            </a:pPr>
            <a:r>
              <a:rPr lang="en-US" sz="2799" b="0" i="0" u="none" strike="noStrike" cap="none">
                <a:solidFill>
                  <a:srgbClr val="1A1A1A"/>
                </a:solidFill>
                <a:latin typeface="Poppins SemiBold"/>
                <a:ea typeface="Poppins SemiBold"/>
                <a:cs typeface="Poppins SemiBold"/>
                <a:sym typeface="Poppins SemiBold"/>
              </a:rPr>
              <a:t>Analysis of resource behavior reveals hidden dependencies, identifying:</a:t>
            </a:r>
            <a:endParaRPr/>
          </a:p>
          <a:p>
            <a:pPr marL="645159" marR="0" lvl="1" indent="-3429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infrastructure metrics</a:t>
            </a:r>
            <a:endParaRPr/>
          </a:p>
          <a:p>
            <a:pPr marL="645159" marR="0" lvl="1" indent="-3429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communication paths</a:t>
            </a:r>
            <a:endParaRPr/>
          </a:p>
          <a:p>
            <a:pPr marL="645159" marR="0" lvl="1" indent="-3429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isolated anomalies</a:t>
            </a:r>
            <a:endParaRPr/>
          </a:p>
          <a:p>
            <a:pPr marL="302259" marR="0" lvl="1" indent="0" algn="l" rtl="0">
              <a:lnSpc>
                <a:spcPct val="150000"/>
              </a:lnSpc>
              <a:spcBef>
                <a:spcPts val="0"/>
              </a:spcBef>
              <a:spcAft>
                <a:spcPts val="0"/>
              </a:spcAft>
              <a:buNone/>
            </a:pPr>
            <a:r>
              <a:rPr lang="en-US" sz="2800" b="0" i="0" u="none" strike="noStrike" cap="none">
                <a:solidFill>
                  <a:srgbClr val="1A1A1A"/>
                </a:solidFill>
                <a:latin typeface="Poppins SemiBold"/>
                <a:ea typeface="Poppins SemiBold"/>
                <a:cs typeface="Poppins SemiBold"/>
                <a:sym typeface="Poppins SemiBold"/>
              </a:rPr>
              <a:t>However, what they cannot identify are:</a:t>
            </a:r>
            <a:endParaRPr/>
          </a:p>
          <a:p>
            <a:pPr marL="645159" marR="0" lvl="1" indent="-3429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storage contention cascades</a:t>
            </a:r>
            <a:endParaRPr/>
          </a:p>
          <a:p>
            <a:pPr marL="645159" marR="0" lvl="1" indent="-3429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delayed cross-pod interference</a:t>
            </a:r>
            <a:endParaRPr/>
          </a:p>
          <a:p>
            <a:pPr marL="645159" marR="0" lvl="1" indent="-3429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indirect resource propagation</a:t>
            </a:r>
            <a:endParaRPr/>
          </a:p>
          <a:p>
            <a:pPr marL="645159" marR="0" lvl="1" indent="-342900" algn="l" rtl="0">
              <a:lnSpc>
                <a:spcPct val="150000"/>
              </a:lnSpc>
              <a:spcBef>
                <a:spcPts val="0"/>
              </a:spcBef>
              <a:spcAft>
                <a:spcPts val="0"/>
              </a:spcAft>
              <a:buClr>
                <a:srgbClr val="1A1A1A"/>
              </a:buClr>
              <a:buSzPts val="2300"/>
              <a:buFont typeface="Arial"/>
              <a:buChar char="•"/>
            </a:pPr>
            <a:r>
              <a:rPr lang="en-US" sz="2300" b="0" i="0" u="none" strike="noStrike" cap="none">
                <a:solidFill>
                  <a:srgbClr val="1A1A1A"/>
                </a:solidFill>
                <a:latin typeface="Poppins"/>
                <a:ea typeface="Poppins"/>
                <a:cs typeface="Poppins"/>
                <a:sym typeface="Poppins"/>
              </a:rPr>
              <a:t>causal failure chains</a:t>
            </a:r>
            <a:endParaRPr/>
          </a:p>
        </p:txBody>
      </p:sp>
      <p:sp>
        <p:nvSpPr>
          <p:cNvPr id="121" name="Google Shape;121;p4"/>
          <p:cNvSpPr txBox="1"/>
          <p:nvPr/>
        </p:nvSpPr>
        <p:spPr>
          <a:xfrm>
            <a:off x="476534" y="7324483"/>
            <a:ext cx="17334931" cy="1148007"/>
          </a:xfrm>
          <a:prstGeom prst="rect">
            <a:avLst/>
          </a:prstGeom>
          <a:noFill/>
          <a:ln>
            <a:noFill/>
          </a:ln>
        </p:spPr>
        <p:txBody>
          <a:bodyPr spcFirstLastPara="1" wrap="square" lIns="91425" tIns="45700" rIns="91425" bIns="45700" anchor="t" anchorCtr="0">
            <a:spAutoFit/>
          </a:bodyPr>
          <a:lstStyle/>
          <a:p>
            <a:pPr marL="302259" marR="0" lvl="1" indent="0" algn="ctr" rtl="0">
              <a:lnSpc>
                <a:spcPct val="150000"/>
              </a:lnSpc>
              <a:spcBef>
                <a:spcPts val="0"/>
              </a:spcBef>
              <a:spcAft>
                <a:spcPts val="0"/>
              </a:spcAft>
              <a:buNone/>
            </a:pPr>
            <a:r>
              <a:rPr lang="en-US" sz="2400" b="0" i="0" u="none" strike="noStrike" cap="none">
                <a:solidFill>
                  <a:schemeClr val="dk1"/>
                </a:solidFill>
                <a:latin typeface="Poppins SemiBold"/>
                <a:ea typeface="Poppins SemiBold"/>
                <a:cs typeface="Poppins SemiBold"/>
                <a:sym typeface="Poppins SemiBold"/>
              </a:rPr>
              <a:t>Our solution infers </a:t>
            </a:r>
            <a:r>
              <a:rPr lang="en-US" sz="2400" b="0" i="0" u="none" strike="noStrike" cap="none">
                <a:solidFill>
                  <a:srgbClr val="FF4747"/>
                </a:solidFill>
                <a:latin typeface="Poppins SemiBold"/>
                <a:ea typeface="Poppins SemiBold"/>
                <a:cs typeface="Poppins SemiBold"/>
                <a:sym typeface="Poppins SemiBold"/>
              </a:rPr>
              <a:t>dependency relationships directly from lagged resource behavior</a:t>
            </a:r>
            <a:r>
              <a:rPr lang="en-US" sz="2400" b="0" i="0" u="none" strike="noStrike" cap="none">
                <a:solidFill>
                  <a:schemeClr val="dk1"/>
                </a:solidFill>
                <a:latin typeface="Poppins SemiBold"/>
                <a:ea typeface="Poppins SemiBold"/>
                <a:cs typeface="Poppins SemiBold"/>
                <a:sym typeface="Poppins SemiBold"/>
              </a:rPr>
              <a:t>, using </a:t>
            </a:r>
            <a:r>
              <a:rPr lang="en-US" sz="2400" b="0" i="0" u="none" strike="noStrike" cap="none">
                <a:solidFill>
                  <a:srgbClr val="FF4747"/>
                </a:solidFill>
                <a:latin typeface="Poppins SemiBold"/>
                <a:ea typeface="Poppins SemiBold"/>
                <a:cs typeface="Poppins SemiBold"/>
                <a:sym typeface="Poppins SemiBold"/>
              </a:rPr>
              <a:t>time-series correlation analysis</a:t>
            </a:r>
            <a:r>
              <a:rPr lang="en-US" sz="2400" b="0" i="0" u="none" strike="noStrike" cap="none">
                <a:solidFill>
                  <a:schemeClr val="dk1"/>
                </a:solidFill>
                <a:latin typeface="Poppins SemiBold"/>
                <a:ea typeface="Poppins SemiBold"/>
                <a:cs typeface="Poppins SemiBold"/>
                <a:sym typeface="Poppins SemiBold"/>
              </a:rPr>
              <a:t>.</a:t>
            </a:r>
            <a:endParaRPr/>
          </a:p>
        </p:txBody>
      </p:sp>
      <p:sp>
        <p:nvSpPr>
          <p:cNvPr id="122" name="Google Shape;122;p4"/>
          <p:cNvSpPr/>
          <p:nvPr/>
        </p:nvSpPr>
        <p:spPr>
          <a:xfrm>
            <a:off x="0" y="9774936"/>
            <a:ext cx="18288000" cy="512064"/>
          </a:xfrm>
          <a:prstGeom prst="rect">
            <a:avLst/>
          </a:prstGeom>
          <a:solidFill>
            <a:srgbClr val="0D0D0D"/>
          </a:solidFill>
          <a:ln w="12700" cap="flat" cmpd="sng">
            <a:solidFill>
              <a:srgbClr val="0D0D0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4"/>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4"/>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sz="1400">
              <a:solidFill>
                <a:schemeClr val="dk1"/>
              </a:solidFill>
              <a:latin typeface="Calibri"/>
              <a:ea typeface="Calibri"/>
              <a:cs typeface="Calibri"/>
              <a:sym typeface="Calibri"/>
            </a:endParaRPr>
          </a:p>
        </p:txBody>
      </p:sp>
      <p:sp>
        <p:nvSpPr>
          <p:cNvPr id="125" name="Google Shape;125;p4"/>
          <p:cNvSpPr/>
          <p:nvPr/>
        </p:nvSpPr>
        <p:spPr>
          <a:xfrm>
            <a:off x="1645920" y="9774936"/>
            <a:ext cx="1280160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lt1"/>
                </a:solidFill>
                <a:latin typeface="Poppins"/>
                <a:ea typeface="Poppins"/>
                <a:cs typeface="Poppins"/>
                <a:sym typeface="Poppins"/>
              </a:rPr>
              <a:t>SiliconKnights</a:t>
            </a:r>
            <a:endParaRPr sz="1400">
              <a:solidFill>
                <a:schemeClr val="lt1"/>
              </a:solidFill>
              <a:latin typeface="Calibri"/>
              <a:ea typeface="Calibri"/>
              <a:cs typeface="Calibri"/>
              <a:sym typeface="Calibri"/>
            </a:endParaRPr>
          </a:p>
        </p:txBody>
      </p:sp>
      <p:sp>
        <p:nvSpPr>
          <p:cNvPr id="126" name="Google Shape;126;p4"/>
          <p:cNvSpPr/>
          <p:nvPr/>
        </p:nvSpPr>
        <p:spPr>
          <a:xfrm>
            <a:off x="17373600" y="9774936"/>
            <a:ext cx="731520" cy="5120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sz="1400">
                <a:solidFill>
                  <a:schemeClr val="lt1"/>
                </a:solidFill>
                <a:latin typeface="Calibri"/>
                <a:ea typeface="Calibri"/>
                <a:cs typeface="Calibri"/>
                <a:sym typeface="Calibri"/>
              </a:rPr>
              <a:t>4</a:t>
            </a:r>
            <a:endParaRPr/>
          </a:p>
        </p:txBody>
      </p:sp>
      <p:sp>
        <p:nvSpPr>
          <p:cNvPr id="127" name="Google Shape;127;p4"/>
          <p:cNvSpPr/>
          <p:nvPr/>
        </p:nvSpPr>
        <p:spPr>
          <a:xfrm>
            <a:off x="1426464" y="512064"/>
            <a:ext cx="5888736"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4000" b="1">
                <a:solidFill>
                  <a:schemeClr val="dk1"/>
                </a:solidFill>
                <a:latin typeface="Poppins"/>
                <a:ea typeface="Poppins"/>
                <a:cs typeface="Poppins"/>
                <a:sym typeface="Poppins"/>
              </a:rPr>
              <a:t>Core Insight</a:t>
            </a:r>
            <a:endParaRPr/>
          </a:p>
        </p:txBody>
      </p:sp>
      <p:sp>
        <p:nvSpPr>
          <p:cNvPr id="128" name="Google Shape;128;p4"/>
          <p:cNvSpPr/>
          <p:nvPr/>
        </p:nvSpPr>
        <p:spPr>
          <a:xfrm>
            <a:off x="706545" y="548640"/>
            <a:ext cx="585216"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 name="Google Shape;129;p4"/>
          <p:cNvSpPr/>
          <p:nvPr/>
        </p:nvSpPr>
        <p:spPr>
          <a:xfrm>
            <a:off x="706545" y="548067"/>
            <a:ext cx="585216"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04</a:t>
            </a:r>
            <a:endParaRPr sz="1800">
              <a:solidFill>
                <a:schemeClr val="dk1"/>
              </a:solidFill>
              <a:latin typeface="Calibri"/>
              <a:ea typeface="Calibri"/>
              <a:cs typeface="Calibri"/>
              <a:sym typeface="Calibri"/>
            </a:endParaRPr>
          </a:p>
        </p:txBody>
      </p:sp>
      <p:pic>
        <p:nvPicPr>
          <p:cNvPr id="130" name="Google Shape;130;p4"/>
          <p:cNvPicPr preferRelativeResize="0"/>
          <p:nvPr/>
        </p:nvPicPr>
        <p:blipFill>
          <a:blip r:embed="rId3">
            <a:alphaModFix/>
          </a:blip>
          <a:stretch>
            <a:fillRect/>
          </a:stretch>
        </p:blipFill>
        <p:spPr>
          <a:xfrm>
            <a:off x="9033775" y="2578425"/>
            <a:ext cx="7191022" cy="4364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5"/>
          <p:cNvSpPr/>
          <p:nvPr/>
        </p:nvSpPr>
        <p:spPr>
          <a:xfrm>
            <a:off x="731520" y="548640"/>
            <a:ext cx="585216"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7" name="Google Shape;137;p5"/>
          <p:cNvSpPr/>
          <p:nvPr/>
        </p:nvSpPr>
        <p:spPr>
          <a:xfrm>
            <a:off x="731520" y="548640"/>
            <a:ext cx="585216"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05</a:t>
            </a:r>
            <a:endParaRPr sz="1800">
              <a:solidFill>
                <a:schemeClr val="dk1"/>
              </a:solidFill>
              <a:latin typeface="Calibri"/>
              <a:ea typeface="Calibri"/>
              <a:cs typeface="Calibri"/>
              <a:sym typeface="Calibri"/>
            </a:endParaRPr>
          </a:p>
        </p:txBody>
      </p:sp>
      <p:sp>
        <p:nvSpPr>
          <p:cNvPr id="138" name="Google Shape;138;p5"/>
          <p:cNvSpPr/>
          <p:nvPr/>
        </p:nvSpPr>
        <p:spPr>
          <a:xfrm>
            <a:off x="1426464" y="512064"/>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4000" b="1">
                <a:solidFill>
                  <a:schemeClr val="dk1"/>
                </a:solidFill>
                <a:latin typeface="Poppins"/>
                <a:ea typeface="Poppins"/>
                <a:cs typeface="Poppins"/>
                <a:sym typeface="Poppins"/>
              </a:rPr>
              <a:t>System Architecture</a:t>
            </a:r>
            <a:endParaRPr sz="4000">
              <a:solidFill>
                <a:schemeClr val="dk1"/>
              </a:solidFill>
              <a:latin typeface="Calibri"/>
              <a:ea typeface="Calibri"/>
              <a:cs typeface="Calibri"/>
              <a:sym typeface="Calibri"/>
            </a:endParaRPr>
          </a:p>
        </p:txBody>
      </p:sp>
      <p:sp>
        <p:nvSpPr>
          <p:cNvPr id="139" name="Google Shape;139;p5"/>
          <p:cNvSpPr/>
          <p:nvPr/>
        </p:nvSpPr>
        <p:spPr>
          <a:xfrm>
            <a:off x="1426464" y="1097280"/>
            <a:ext cx="731520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a:solidFill>
                  <a:schemeClr val="dk1"/>
                </a:solidFill>
                <a:latin typeface="Poppins"/>
                <a:ea typeface="Poppins"/>
                <a:cs typeface="Poppins"/>
                <a:sym typeface="Poppins"/>
              </a:rPr>
              <a:t>Layer-by-Layer Architecture</a:t>
            </a:r>
            <a:endParaRPr sz="1800">
              <a:solidFill>
                <a:schemeClr val="dk1"/>
              </a:solidFill>
              <a:latin typeface="Calibri"/>
              <a:ea typeface="Calibri"/>
              <a:cs typeface="Calibri"/>
              <a:sym typeface="Calibri"/>
            </a:endParaRPr>
          </a:p>
        </p:txBody>
      </p:sp>
      <p:sp>
        <p:nvSpPr>
          <p:cNvPr id="140" name="Google Shape;140;p5"/>
          <p:cNvSpPr/>
          <p:nvPr/>
        </p:nvSpPr>
        <p:spPr>
          <a:xfrm>
            <a:off x="731520" y="1609344"/>
            <a:ext cx="7315200" cy="45720"/>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1" name="Google Shape;141;p5"/>
          <p:cNvSpPr/>
          <p:nvPr/>
        </p:nvSpPr>
        <p:spPr>
          <a:xfrm>
            <a:off x="731520" y="1865376"/>
            <a:ext cx="8412480" cy="1463040"/>
          </a:xfrm>
          <a:prstGeom prst="rect">
            <a:avLst/>
          </a:prstGeom>
          <a:solidFill>
            <a:srgbClr val="1E1E1E"/>
          </a:solidFill>
          <a:ln w="9525" cap="flat" cmpd="sng">
            <a:solidFill>
              <a:srgbClr val="2A2A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2" name="Google Shape;142;p5"/>
          <p:cNvSpPr/>
          <p:nvPr/>
        </p:nvSpPr>
        <p:spPr>
          <a:xfrm>
            <a:off x="731520" y="1865376"/>
            <a:ext cx="82296" cy="1463040"/>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5"/>
          <p:cNvSpPr/>
          <p:nvPr/>
        </p:nvSpPr>
        <p:spPr>
          <a:xfrm>
            <a:off x="813816" y="1865376"/>
            <a:ext cx="768096" cy="1463040"/>
          </a:xfrm>
          <a:prstGeom prst="rect">
            <a:avLst/>
          </a:prstGeom>
          <a:solidFill>
            <a:srgbClr val="1A1A1A"/>
          </a:solidFill>
          <a:ln w="12700" cap="flat" cmpd="sng">
            <a:solidFill>
              <a:srgbClr val="1A1A1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4" name="Google Shape;144;p5"/>
          <p:cNvSpPr/>
          <p:nvPr/>
        </p:nvSpPr>
        <p:spPr>
          <a:xfrm>
            <a:off x="813816" y="1865376"/>
            <a:ext cx="768096" cy="1463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600" b="1">
                <a:solidFill>
                  <a:srgbClr val="CC0000"/>
                </a:solidFill>
                <a:latin typeface="Poppins"/>
                <a:ea typeface="Poppins"/>
                <a:cs typeface="Poppins"/>
                <a:sym typeface="Poppins"/>
              </a:rPr>
              <a:t>L0</a:t>
            </a:r>
            <a:endParaRPr sz="2600">
              <a:solidFill>
                <a:schemeClr val="dk1"/>
              </a:solidFill>
              <a:latin typeface="Calibri"/>
              <a:ea typeface="Calibri"/>
              <a:cs typeface="Calibri"/>
              <a:sym typeface="Calibri"/>
            </a:endParaRPr>
          </a:p>
        </p:txBody>
      </p:sp>
      <p:sp>
        <p:nvSpPr>
          <p:cNvPr id="145" name="Google Shape;145;p5"/>
          <p:cNvSpPr/>
          <p:nvPr/>
        </p:nvSpPr>
        <p:spPr>
          <a:xfrm>
            <a:off x="1801368" y="1975104"/>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a:solidFill>
                  <a:srgbClr val="FFFFFF"/>
                </a:solidFill>
                <a:latin typeface="Poppins"/>
                <a:ea typeface="Poppins"/>
                <a:cs typeface="Poppins"/>
                <a:sym typeface="Poppins"/>
              </a:rPr>
              <a:t>Industrial Workload Layer</a:t>
            </a:r>
            <a:endParaRPr sz="1800">
              <a:solidFill>
                <a:schemeClr val="dk1"/>
              </a:solidFill>
              <a:latin typeface="Calibri"/>
              <a:ea typeface="Calibri"/>
              <a:cs typeface="Calibri"/>
              <a:sym typeface="Calibri"/>
            </a:endParaRPr>
          </a:p>
        </p:txBody>
      </p:sp>
      <p:sp>
        <p:nvSpPr>
          <p:cNvPr id="146" name="Google Shape;146;p5"/>
          <p:cNvSpPr/>
          <p:nvPr/>
        </p:nvSpPr>
        <p:spPr>
          <a:xfrm>
            <a:off x="1801368" y="2560320"/>
            <a:ext cx="32918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AAAAAA"/>
                </a:solidFill>
                <a:latin typeface="Poppins"/>
                <a:ea typeface="Poppins"/>
                <a:cs typeface="Poppins"/>
                <a:sym typeface="Poppins"/>
              </a:rPr>
              <a:t>Simulated industrial </a:t>
            </a:r>
            <a:endParaRPr/>
          </a:p>
          <a:p>
            <a:pPr marL="0" marR="0" lvl="0" indent="0" algn="l" rtl="0">
              <a:spcBef>
                <a:spcPts val="0"/>
              </a:spcBef>
              <a:spcAft>
                <a:spcPts val="0"/>
              </a:spcAft>
              <a:buNone/>
            </a:pPr>
            <a:r>
              <a:rPr lang="en-US" sz="1500">
                <a:solidFill>
                  <a:srgbClr val="AAAAAA"/>
                </a:solidFill>
                <a:latin typeface="Poppins"/>
                <a:ea typeface="Poppins"/>
                <a:cs typeface="Poppins"/>
                <a:sym typeface="Poppins"/>
              </a:rPr>
              <a:t>microservices</a:t>
            </a:r>
            <a:endParaRPr sz="1500">
              <a:solidFill>
                <a:schemeClr val="dk1"/>
              </a:solidFill>
              <a:latin typeface="Calibri"/>
              <a:ea typeface="Calibri"/>
              <a:cs typeface="Calibri"/>
              <a:sym typeface="Calibri"/>
            </a:endParaRPr>
          </a:p>
        </p:txBody>
      </p:sp>
      <p:sp>
        <p:nvSpPr>
          <p:cNvPr id="147" name="Google Shape;147;p5"/>
          <p:cNvSpPr/>
          <p:nvPr/>
        </p:nvSpPr>
        <p:spPr>
          <a:xfrm>
            <a:off x="4953000" y="2214372"/>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8" name="Google Shape;148;p5"/>
          <p:cNvSpPr/>
          <p:nvPr/>
        </p:nvSpPr>
        <p:spPr>
          <a:xfrm>
            <a:off x="5135880" y="201930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MQTT Broker</a:t>
            </a:r>
            <a:endParaRPr sz="1500">
              <a:solidFill>
                <a:schemeClr val="dk1"/>
              </a:solidFill>
              <a:latin typeface="Calibri"/>
              <a:ea typeface="Calibri"/>
              <a:cs typeface="Calibri"/>
              <a:sym typeface="Calibri"/>
            </a:endParaRPr>
          </a:p>
        </p:txBody>
      </p:sp>
      <p:sp>
        <p:nvSpPr>
          <p:cNvPr id="149" name="Google Shape;149;p5"/>
          <p:cNvSpPr/>
          <p:nvPr/>
        </p:nvSpPr>
        <p:spPr>
          <a:xfrm>
            <a:off x="4953000" y="2823972"/>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0" name="Google Shape;150;p5"/>
          <p:cNvSpPr/>
          <p:nvPr/>
        </p:nvSpPr>
        <p:spPr>
          <a:xfrm>
            <a:off x="5135880" y="262890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CPU Anomaly Det.</a:t>
            </a:r>
            <a:endParaRPr sz="1500">
              <a:solidFill>
                <a:schemeClr val="dk1"/>
              </a:solidFill>
              <a:latin typeface="Calibri"/>
              <a:ea typeface="Calibri"/>
              <a:cs typeface="Calibri"/>
              <a:sym typeface="Calibri"/>
            </a:endParaRPr>
          </a:p>
        </p:txBody>
      </p:sp>
      <p:sp>
        <p:nvSpPr>
          <p:cNvPr id="151" name="Google Shape;151;p5"/>
          <p:cNvSpPr/>
          <p:nvPr/>
        </p:nvSpPr>
        <p:spPr>
          <a:xfrm>
            <a:off x="7062216" y="2214372"/>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2" name="Google Shape;152;p5"/>
          <p:cNvSpPr/>
          <p:nvPr/>
        </p:nvSpPr>
        <p:spPr>
          <a:xfrm>
            <a:off x="7245096" y="201930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TimescaleDB</a:t>
            </a:r>
            <a:endParaRPr sz="1500">
              <a:solidFill>
                <a:schemeClr val="dk1"/>
              </a:solidFill>
              <a:latin typeface="Calibri"/>
              <a:ea typeface="Calibri"/>
              <a:cs typeface="Calibri"/>
              <a:sym typeface="Calibri"/>
            </a:endParaRPr>
          </a:p>
        </p:txBody>
      </p:sp>
      <p:sp>
        <p:nvSpPr>
          <p:cNvPr id="153" name="Google Shape;153;p5"/>
          <p:cNvSpPr/>
          <p:nvPr/>
        </p:nvSpPr>
        <p:spPr>
          <a:xfrm>
            <a:off x="7062216" y="2823972"/>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4" name="Google Shape;154;p5"/>
          <p:cNvSpPr/>
          <p:nvPr/>
        </p:nvSpPr>
        <p:spPr>
          <a:xfrm>
            <a:off x="7245096" y="2741676"/>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Critical Control Relay</a:t>
            </a:r>
            <a:endParaRPr sz="1500">
              <a:solidFill>
                <a:schemeClr val="dk1"/>
              </a:solidFill>
              <a:latin typeface="Calibri"/>
              <a:ea typeface="Calibri"/>
              <a:cs typeface="Calibri"/>
              <a:sym typeface="Calibri"/>
            </a:endParaRPr>
          </a:p>
        </p:txBody>
      </p:sp>
      <p:sp>
        <p:nvSpPr>
          <p:cNvPr id="155" name="Google Shape;155;p5"/>
          <p:cNvSpPr/>
          <p:nvPr/>
        </p:nvSpPr>
        <p:spPr>
          <a:xfrm>
            <a:off x="731520" y="3438144"/>
            <a:ext cx="8412480" cy="1463040"/>
          </a:xfrm>
          <a:prstGeom prst="rect">
            <a:avLst/>
          </a:prstGeom>
          <a:solidFill>
            <a:srgbClr val="1E1E1E"/>
          </a:solidFill>
          <a:ln w="9525" cap="flat" cmpd="sng">
            <a:solidFill>
              <a:srgbClr val="2A2A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6" name="Google Shape;156;p5"/>
          <p:cNvSpPr/>
          <p:nvPr/>
        </p:nvSpPr>
        <p:spPr>
          <a:xfrm>
            <a:off x="731520" y="3438144"/>
            <a:ext cx="82296" cy="1463040"/>
          </a:xfrm>
          <a:prstGeom prst="rect">
            <a:avLst/>
          </a:prstGeom>
          <a:solidFill>
            <a:srgbClr val="993300"/>
          </a:solidFill>
          <a:ln w="12700" cap="flat" cmpd="sng">
            <a:solidFill>
              <a:srgbClr val="993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7" name="Google Shape;157;p5"/>
          <p:cNvSpPr/>
          <p:nvPr/>
        </p:nvSpPr>
        <p:spPr>
          <a:xfrm>
            <a:off x="813816" y="3438144"/>
            <a:ext cx="768096" cy="1463040"/>
          </a:xfrm>
          <a:prstGeom prst="rect">
            <a:avLst/>
          </a:prstGeom>
          <a:solidFill>
            <a:srgbClr val="1A1A1A"/>
          </a:solidFill>
          <a:ln w="12700" cap="flat" cmpd="sng">
            <a:solidFill>
              <a:srgbClr val="1A1A1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8" name="Google Shape;158;p5"/>
          <p:cNvSpPr/>
          <p:nvPr/>
        </p:nvSpPr>
        <p:spPr>
          <a:xfrm>
            <a:off x="813816" y="3438144"/>
            <a:ext cx="768096" cy="1463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600" b="1">
                <a:solidFill>
                  <a:srgbClr val="993300"/>
                </a:solidFill>
                <a:latin typeface="Poppins"/>
                <a:ea typeface="Poppins"/>
                <a:cs typeface="Poppins"/>
                <a:sym typeface="Poppins"/>
              </a:rPr>
              <a:t>L1</a:t>
            </a:r>
            <a:endParaRPr sz="2600">
              <a:solidFill>
                <a:schemeClr val="dk1"/>
              </a:solidFill>
              <a:latin typeface="Calibri"/>
              <a:ea typeface="Calibri"/>
              <a:cs typeface="Calibri"/>
              <a:sym typeface="Calibri"/>
            </a:endParaRPr>
          </a:p>
        </p:txBody>
      </p:sp>
      <p:sp>
        <p:nvSpPr>
          <p:cNvPr id="159" name="Google Shape;159;p5"/>
          <p:cNvSpPr/>
          <p:nvPr/>
        </p:nvSpPr>
        <p:spPr>
          <a:xfrm>
            <a:off x="1801368" y="3547872"/>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a:solidFill>
                  <a:srgbClr val="FFFFFF"/>
                </a:solidFill>
                <a:latin typeface="Poppins"/>
                <a:ea typeface="Poppins"/>
                <a:cs typeface="Poppins"/>
                <a:sym typeface="Poppins"/>
              </a:rPr>
              <a:t>Telemetry Collection</a:t>
            </a:r>
            <a:endParaRPr sz="1800">
              <a:solidFill>
                <a:schemeClr val="dk1"/>
              </a:solidFill>
              <a:latin typeface="Calibri"/>
              <a:ea typeface="Calibri"/>
              <a:cs typeface="Calibri"/>
              <a:sym typeface="Calibri"/>
            </a:endParaRPr>
          </a:p>
        </p:txBody>
      </p:sp>
      <p:sp>
        <p:nvSpPr>
          <p:cNvPr id="160" name="Google Shape;160;p5"/>
          <p:cNvSpPr/>
          <p:nvPr/>
        </p:nvSpPr>
        <p:spPr>
          <a:xfrm>
            <a:off x="1801368" y="4133088"/>
            <a:ext cx="32918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AAAAAA"/>
                </a:solidFill>
                <a:latin typeface="Poppins"/>
                <a:ea typeface="Poppins"/>
                <a:cs typeface="Poppins"/>
                <a:sym typeface="Poppins"/>
              </a:rPr>
              <a:t>Lightweight Kubernetes observability</a:t>
            </a:r>
            <a:endParaRPr sz="1500">
              <a:solidFill>
                <a:schemeClr val="dk1"/>
              </a:solidFill>
              <a:latin typeface="Calibri"/>
              <a:ea typeface="Calibri"/>
              <a:cs typeface="Calibri"/>
              <a:sym typeface="Calibri"/>
            </a:endParaRPr>
          </a:p>
        </p:txBody>
      </p:sp>
      <p:sp>
        <p:nvSpPr>
          <p:cNvPr id="161" name="Google Shape;161;p5"/>
          <p:cNvSpPr/>
          <p:nvPr/>
        </p:nvSpPr>
        <p:spPr>
          <a:xfrm>
            <a:off x="4953000" y="3814572"/>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5"/>
          <p:cNvSpPr/>
          <p:nvPr/>
        </p:nvSpPr>
        <p:spPr>
          <a:xfrm>
            <a:off x="5135880" y="3621024"/>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Prometheus</a:t>
            </a:r>
            <a:endParaRPr sz="1500">
              <a:solidFill>
                <a:schemeClr val="dk1"/>
              </a:solidFill>
              <a:latin typeface="Calibri"/>
              <a:ea typeface="Calibri"/>
              <a:cs typeface="Calibri"/>
              <a:sym typeface="Calibri"/>
            </a:endParaRPr>
          </a:p>
        </p:txBody>
      </p:sp>
      <p:sp>
        <p:nvSpPr>
          <p:cNvPr id="163" name="Google Shape;163;p5"/>
          <p:cNvSpPr/>
          <p:nvPr/>
        </p:nvSpPr>
        <p:spPr>
          <a:xfrm>
            <a:off x="4953000" y="4424172"/>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4" name="Google Shape;164;p5"/>
          <p:cNvSpPr/>
          <p:nvPr/>
        </p:nvSpPr>
        <p:spPr>
          <a:xfrm>
            <a:off x="5135880" y="4232148"/>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kube-state-metrics</a:t>
            </a:r>
            <a:endParaRPr sz="1500">
              <a:solidFill>
                <a:schemeClr val="dk1"/>
              </a:solidFill>
              <a:latin typeface="Calibri"/>
              <a:ea typeface="Calibri"/>
              <a:cs typeface="Calibri"/>
              <a:sym typeface="Calibri"/>
            </a:endParaRPr>
          </a:p>
        </p:txBody>
      </p:sp>
      <p:sp>
        <p:nvSpPr>
          <p:cNvPr id="165" name="Google Shape;165;p5"/>
          <p:cNvSpPr/>
          <p:nvPr/>
        </p:nvSpPr>
        <p:spPr>
          <a:xfrm>
            <a:off x="7062216" y="3814572"/>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6" name="Google Shape;166;p5"/>
          <p:cNvSpPr/>
          <p:nvPr/>
        </p:nvSpPr>
        <p:spPr>
          <a:xfrm>
            <a:off x="7245096" y="3621024"/>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Loki + Promtail</a:t>
            </a:r>
            <a:endParaRPr sz="1500">
              <a:solidFill>
                <a:schemeClr val="dk1"/>
              </a:solidFill>
              <a:latin typeface="Calibri"/>
              <a:ea typeface="Calibri"/>
              <a:cs typeface="Calibri"/>
              <a:sym typeface="Calibri"/>
            </a:endParaRPr>
          </a:p>
        </p:txBody>
      </p:sp>
      <p:sp>
        <p:nvSpPr>
          <p:cNvPr id="167" name="Google Shape;167;p5"/>
          <p:cNvSpPr/>
          <p:nvPr/>
        </p:nvSpPr>
        <p:spPr>
          <a:xfrm>
            <a:off x="7062216" y="4424172"/>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8" name="Google Shape;168;p5"/>
          <p:cNvSpPr/>
          <p:nvPr/>
        </p:nvSpPr>
        <p:spPr>
          <a:xfrm>
            <a:off x="7245096" y="4232148"/>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Pixie/Cilium eBPF</a:t>
            </a:r>
            <a:endParaRPr sz="1500">
              <a:solidFill>
                <a:schemeClr val="dk1"/>
              </a:solidFill>
              <a:latin typeface="Calibri"/>
              <a:ea typeface="Calibri"/>
              <a:cs typeface="Calibri"/>
              <a:sym typeface="Calibri"/>
            </a:endParaRPr>
          </a:p>
        </p:txBody>
      </p:sp>
      <p:sp>
        <p:nvSpPr>
          <p:cNvPr id="169" name="Google Shape;169;p5"/>
          <p:cNvSpPr/>
          <p:nvPr/>
        </p:nvSpPr>
        <p:spPr>
          <a:xfrm>
            <a:off x="731520" y="5010912"/>
            <a:ext cx="8412480" cy="1463040"/>
          </a:xfrm>
          <a:prstGeom prst="rect">
            <a:avLst/>
          </a:prstGeom>
          <a:solidFill>
            <a:srgbClr val="1E1E1E"/>
          </a:solidFill>
          <a:ln w="9525" cap="flat" cmpd="sng">
            <a:solidFill>
              <a:srgbClr val="2A2A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0" name="Google Shape;170;p5"/>
          <p:cNvSpPr/>
          <p:nvPr/>
        </p:nvSpPr>
        <p:spPr>
          <a:xfrm>
            <a:off x="731520" y="5010912"/>
            <a:ext cx="82296" cy="1463040"/>
          </a:xfrm>
          <a:prstGeom prst="rect">
            <a:avLst/>
          </a:prstGeom>
          <a:solidFill>
            <a:srgbClr val="7A1A00"/>
          </a:solidFill>
          <a:ln w="12700" cap="flat" cmpd="sng">
            <a:solidFill>
              <a:srgbClr val="7A1A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1" name="Google Shape;171;p5"/>
          <p:cNvSpPr/>
          <p:nvPr/>
        </p:nvSpPr>
        <p:spPr>
          <a:xfrm>
            <a:off x="813816" y="5010912"/>
            <a:ext cx="768096" cy="1463040"/>
          </a:xfrm>
          <a:prstGeom prst="rect">
            <a:avLst/>
          </a:prstGeom>
          <a:solidFill>
            <a:srgbClr val="1A1A1A"/>
          </a:solidFill>
          <a:ln w="12700" cap="flat" cmpd="sng">
            <a:solidFill>
              <a:srgbClr val="1A1A1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2" name="Google Shape;172;p5"/>
          <p:cNvSpPr/>
          <p:nvPr/>
        </p:nvSpPr>
        <p:spPr>
          <a:xfrm>
            <a:off x="813816" y="5010912"/>
            <a:ext cx="768096" cy="1463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600" b="1">
                <a:solidFill>
                  <a:schemeClr val="accent1"/>
                </a:solidFill>
                <a:latin typeface="Poppins"/>
                <a:ea typeface="Poppins"/>
                <a:cs typeface="Poppins"/>
                <a:sym typeface="Poppins"/>
              </a:rPr>
              <a:t>L2</a:t>
            </a:r>
            <a:endParaRPr sz="2600">
              <a:solidFill>
                <a:schemeClr val="accent1"/>
              </a:solidFill>
              <a:latin typeface="Calibri"/>
              <a:ea typeface="Calibri"/>
              <a:cs typeface="Calibri"/>
              <a:sym typeface="Calibri"/>
            </a:endParaRPr>
          </a:p>
        </p:txBody>
      </p:sp>
      <p:sp>
        <p:nvSpPr>
          <p:cNvPr id="173" name="Google Shape;173;p5"/>
          <p:cNvSpPr/>
          <p:nvPr/>
        </p:nvSpPr>
        <p:spPr>
          <a:xfrm>
            <a:off x="1801368" y="5120640"/>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a:solidFill>
                  <a:srgbClr val="FFFFFF"/>
                </a:solidFill>
                <a:latin typeface="Poppins"/>
                <a:ea typeface="Poppins"/>
                <a:cs typeface="Poppins"/>
                <a:sym typeface="Poppins"/>
              </a:rPr>
              <a:t>Aggregation &amp; Event Bus</a:t>
            </a:r>
            <a:endParaRPr sz="1800">
              <a:solidFill>
                <a:schemeClr val="dk1"/>
              </a:solidFill>
              <a:latin typeface="Calibri"/>
              <a:ea typeface="Calibri"/>
              <a:cs typeface="Calibri"/>
              <a:sym typeface="Calibri"/>
            </a:endParaRPr>
          </a:p>
        </p:txBody>
      </p:sp>
      <p:sp>
        <p:nvSpPr>
          <p:cNvPr id="174" name="Google Shape;174;p5"/>
          <p:cNvSpPr/>
          <p:nvPr/>
        </p:nvSpPr>
        <p:spPr>
          <a:xfrm>
            <a:off x="1801368" y="5705856"/>
            <a:ext cx="32918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AAAAAA"/>
                </a:solidFill>
                <a:latin typeface="Poppins"/>
                <a:ea typeface="Poppins"/>
                <a:cs typeface="Poppins"/>
                <a:sym typeface="Poppins"/>
              </a:rPr>
              <a:t>Normalization and structured event abstraction</a:t>
            </a:r>
            <a:endParaRPr sz="1500">
              <a:solidFill>
                <a:schemeClr val="dk1"/>
              </a:solidFill>
              <a:latin typeface="Calibri"/>
              <a:ea typeface="Calibri"/>
              <a:cs typeface="Calibri"/>
              <a:sym typeface="Calibri"/>
            </a:endParaRPr>
          </a:p>
        </p:txBody>
      </p:sp>
      <p:sp>
        <p:nvSpPr>
          <p:cNvPr id="175" name="Google Shape;175;p5"/>
          <p:cNvSpPr/>
          <p:nvPr/>
        </p:nvSpPr>
        <p:spPr>
          <a:xfrm>
            <a:off x="4953000" y="5372100"/>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6" name="Google Shape;176;p5"/>
          <p:cNvSpPr/>
          <p:nvPr/>
        </p:nvSpPr>
        <p:spPr>
          <a:xfrm>
            <a:off x="5135880" y="5164836"/>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Scrape polling</a:t>
            </a:r>
            <a:endParaRPr sz="1500">
              <a:solidFill>
                <a:schemeClr val="dk1"/>
              </a:solidFill>
              <a:latin typeface="Calibri"/>
              <a:ea typeface="Calibri"/>
              <a:cs typeface="Calibri"/>
              <a:sym typeface="Calibri"/>
            </a:endParaRPr>
          </a:p>
        </p:txBody>
      </p:sp>
      <p:sp>
        <p:nvSpPr>
          <p:cNvPr id="177" name="Google Shape;177;p5"/>
          <p:cNvSpPr/>
          <p:nvPr/>
        </p:nvSpPr>
        <p:spPr>
          <a:xfrm>
            <a:off x="4953000" y="5981700"/>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8" name="Google Shape;178;p5"/>
          <p:cNvSpPr/>
          <p:nvPr/>
        </p:nvSpPr>
        <p:spPr>
          <a:xfrm>
            <a:off x="5135880" y="5779008"/>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Metric reduction</a:t>
            </a:r>
            <a:endParaRPr sz="1500">
              <a:solidFill>
                <a:schemeClr val="dk1"/>
              </a:solidFill>
              <a:latin typeface="Calibri"/>
              <a:ea typeface="Calibri"/>
              <a:cs typeface="Calibri"/>
              <a:sym typeface="Calibri"/>
            </a:endParaRPr>
          </a:p>
        </p:txBody>
      </p:sp>
      <p:sp>
        <p:nvSpPr>
          <p:cNvPr id="179" name="Google Shape;179;p5"/>
          <p:cNvSpPr/>
          <p:nvPr/>
        </p:nvSpPr>
        <p:spPr>
          <a:xfrm>
            <a:off x="6979615" y="5367528"/>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5"/>
          <p:cNvSpPr/>
          <p:nvPr/>
        </p:nvSpPr>
        <p:spPr>
          <a:xfrm>
            <a:off x="7178040" y="530352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JSON event generation</a:t>
            </a:r>
            <a:endParaRPr sz="1500">
              <a:solidFill>
                <a:schemeClr val="dk1"/>
              </a:solidFill>
              <a:latin typeface="Calibri"/>
              <a:ea typeface="Calibri"/>
              <a:cs typeface="Calibri"/>
              <a:sym typeface="Calibri"/>
            </a:endParaRPr>
          </a:p>
        </p:txBody>
      </p:sp>
      <p:sp>
        <p:nvSpPr>
          <p:cNvPr id="181" name="Google Shape;181;p5"/>
          <p:cNvSpPr/>
          <p:nvPr/>
        </p:nvSpPr>
        <p:spPr>
          <a:xfrm>
            <a:off x="6992417" y="5987796"/>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5"/>
          <p:cNvSpPr/>
          <p:nvPr/>
        </p:nvSpPr>
        <p:spPr>
          <a:xfrm>
            <a:off x="7168896" y="5907024"/>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Threshold anomaly extraction</a:t>
            </a:r>
            <a:endParaRPr sz="1500">
              <a:solidFill>
                <a:schemeClr val="dk1"/>
              </a:solidFill>
              <a:latin typeface="Calibri"/>
              <a:ea typeface="Calibri"/>
              <a:cs typeface="Calibri"/>
              <a:sym typeface="Calibri"/>
            </a:endParaRPr>
          </a:p>
        </p:txBody>
      </p:sp>
      <p:sp>
        <p:nvSpPr>
          <p:cNvPr id="183" name="Google Shape;183;p5"/>
          <p:cNvSpPr/>
          <p:nvPr/>
        </p:nvSpPr>
        <p:spPr>
          <a:xfrm>
            <a:off x="731520" y="6583680"/>
            <a:ext cx="8412480" cy="1463040"/>
          </a:xfrm>
          <a:prstGeom prst="rect">
            <a:avLst/>
          </a:prstGeom>
          <a:solidFill>
            <a:srgbClr val="1E1E1E"/>
          </a:solidFill>
          <a:ln w="9525" cap="flat" cmpd="sng">
            <a:solidFill>
              <a:srgbClr val="2A2A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5"/>
          <p:cNvSpPr/>
          <p:nvPr/>
        </p:nvSpPr>
        <p:spPr>
          <a:xfrm>
            <a:off x="731520" y="6583680"/>
            <a:ext cx="82296" cy="1463040"/>
          </a:xfrm>
          <a:prstGeom prst="rect">
            <a:avLst/>
          </a:prstGeom>
          <a:solidFill>
            <a:srgbClr val="550000"/>
          </a:solidFill>
          <a:ln w="12700" cap="flat" cmpd="sng">
            <a:solidFill>
              <a:srgbClr val="55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5" name="Google Shape;185;p5"/>
          <p:cNvSpPr/>
          <p:nvPr/>
        </p:nvSpPr>
        <p:spPr>
          <a:xfrm>
            <a:off x="813816" y="6583680"/>
            <a:ext cx="768096" cy="1463040"/>
          </a:xfrm>
          <a:prstGeom prst="rect">
            <a:avLst/>
          </a:prstGeom>
          <a:solidFill>
            <a:srgbClr val="1A1A1A"/>
          </a:solidFill>
          <a:ln w="12700" cap="flat" cmpd="sng">
            <a:solidFill>
              <a:srgbClr val="1A1A1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6" name="Google Shape;186;p5"/>
          <p:cNvSpPr/>
          <p:nvPr/>
        </p:nvSpPr>
        <p:spPr>
          <a:xfrm>
            <a:off x="813816" y="6583680"/>
            <a:ext cx="768096" cy="1463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600" b="1">
                <a:solidFill>
                  <a:schemeClr val="accent1"/>
                </a:solidFill>
                <a:latin typeface="Poppins"/>
                <a:ea typeface="Poppins"/>
                <a:cs typeface="Poppins"/>
                <a:sym typeface="Poppins"/>
              </a:rPr>
              <a:t>L3</a:t>
            </a:r>
            <a:endParaRPr sz="2600">
              <a:solidFill>
                <a:schemeClr val="accent1"/>
              </a:solidFill>
              <a:latin typeface="Calibri"/>
              <a:ea typeface="Calibri"/>
              <a:cs typeface="Calibri"/>
              <a:sym typeface="Calibri"/>
            </a:endParaRPr>
          </a:p>
        </p:txBody>
      </p:sp>
      <p:sp>
        <p:nvSpPr>
          <p:cNvPr id="187" name="Google Shape;187;p5"/>
          <p:cNvSpPr/>
          <p:nvPr/>
        </p:nvSpPr>
        <p:spPr>
          <a:xfrm>
            <a:off x="1801368" y="6693408"/>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a:solidFill>
                  <a:srgbClr val="FFFFFF"/>
                </a:solidFill>
                <a:latin typeface="Poppins"/>
                <a:ea typeface="Poppins"/>
                <a:cs typeface="Poppins"/>
                <a:sym typeface="Poppins"/>
              </a:rPr>
              <a:t>Correlation &amp; AI Engine</a:t>
            </a:r>
            <a:endParaRPr sz="1800">
              <a:solidFill>
                <a:schemeClr val="dk1"/>
              </a:solidFill>
              <a:latin typeface="Calibri"/>
              <a:ea typeface="Calibri"/>
              <a:cs typeface="Calibri"/>
              <a:sym typeface="Calibri"/>
            </a:endParaRPr>
          </a:p>
        </p:txBody>
      </p:sp>
      <p:sp>
        <p:nvSpPr>
          <p:cNvPr id="188" name="Google Shape;188;p5"/>
          <p:cNvSpPr/>
          <p:nvPr/>
        </p:nvSpPr>
        <p:spPr>
          <a:xfrm>
            <a:off x="1801368" y="7278624"/>
            <a:ext cx="32918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AAAAAA"/>
                </a:solidFill>
                <a:latin typeface="Poppins"/>
                <a:ea typeface="Poppins"/>
                <a:cs typeface="Poppins"/>
                <a:sym typeface="Poppins"/>
              </a:rPr>
              <a:t>Localized analysis pipeline</a:t>
            </a:r>
            <a:endParaRPr sz="1500">
              <a:solidFill>
                <a:schemeClr val="dk1"/>
              </a:solidFill>
              <a:latin typeface="Calibri"/>
              <a:ea typeface="Calibri"/>
              <a:cs typeface="Calibri"/>
              <a:sym typeface="Calibri"/>
            </a:endParaRPr>
          </a:p>
        </p:txBody>
      </p:sp>
      <p:sp>
        <p:nvSpPr>
          <p:cNvPr id="189" name="Google Shape;189;p5"/>
          <p:cNvSpPr/>
          <p:nvPr/>
        </p:nvSpPr>
        <p:spPr>
          <a:xfrm>
            <a:off x="4946904" y="6970776"/>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5"/>
          <p:cNvSpPr/>
          <p:nvPr/>
        </p:nvSpPr>
        <p:spPr>
          <a:xfrm>
            <a:off x="5135880" y="676656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Resource analysis</a:t>
            </a:r>
            <a:endParaRPr sz="1500">
              <a:solidFill>
                <a:schemeClr val="dk1"/>
              </a:solidFill>
              <a:latin typeface="Calibri"/>
              <a:ea typeface="Calibri"/>
              <a:cs typeface="Calibri"/>
              <a:sym typeface="Calibri"/>
            </a:endParaRPr>
          </a:p>
        </p:txBody>
      </p:sp>
      <p:sp>
        <p:nvSpPr>
          <p:cNvPr id="191" name="Google Shape;191;p5"/>
          <p:cNvSpPr/>
          <p:nvPr/>
        </p:nvSpPr>
        <p:spPr>
          <a:xfrm>
            <a:off x="4937760" y="7481316"/>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5"/>
          <p:cNvSpPr/>
          <p:nvPr/>
        </p:nvSpPr>
        <p:spPr>
          <a:xfrm>
            <a:off x="5135880" y="740664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Dependency inference</a:t>
            </a:r>
            <a:endParaRPr sz="1500">
              <a:solidFill>
                <a:schemeClr val="dk1"/>
              </a:solidFill>
              <a:latin typeface="Calibri"/>
              <a:ea typeface="Calibri"/>
              <a:cs typeface="Calibri"/>
              <a:sym typeface="Calibri"/>
            </a:endParaRPr>
          </a:p>
        </p:txBody>
      </p:sp>
      <p:sp>
        <p:nvSpPr>
          <p:cNvPr id="193" name="Google Shape;193;p5"/>
          <p:cNvSpPr/>
          <p:nvPr/>
        </p:nvSpPr>
        <p:spPr>
          <a:xfrm>
            <a:off x="6980834" y="6967728"/>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5"/>
          <p:cNvSpPr/>
          <p:nvPr/>
        </p:nvSpPr>
        <p:spPr>
          <a:xfrm>
            <a:off x="7184136" y="676656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Topology mapping</a:t>
            </a:r>
            <a:endParaRPr sz="1500">
              <a:solidFill>
                <a:schemeClr val="dk1"/>
              </a:solidFill>
              <a:latin typeface="Calibri"/>
              <a:ea typeface="Calibri"/>
              <a:cs typeface="Calibri"/>
              <a:sym typeface="Calibri"/>
            </a:endParaRPr>
          </a:p>
        </p:txBody>
      </p:sp>
      <p:sp>
        <p:nvSpPr>
          <p:cNvPr id="195" name="Google Shape;195;p5"/>
          <p:cNvSpPr/>
          <p:nvPr/>
        </p:nvSpPr>
        <p:spPr>
          <a:xfrm>
            <a:off x="6979615" y="7481316"/>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5"/>
          <p:cNvSpPr/>
          <p:nvPr/>
        </p:nvSpPr>
        <p:spPr>
          <a:xfrm>
            <a:off x="7184136" y="740664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NLP insight generation</a:t>
            </a:r>
            <a:endParaRPr sz="1500">
              <a:solidFill>
                <a:schemeClr val="dk1"/>
              </a:solidFill>
              <a:latin typeface="Calibri"/>
              <a:ea typeface="Calibri"/>
              <a:cs typeface="Calibri"/>
              <a:sym typeface="Calibri"/>
            </a:endParaRPr>
          </a:p>
        </p:txBody>
      </p:sp>
      <p:sp>
        <p:nvSpPr>
          <p:cNvPr id="197" name="Google Shape;197;p5"/>
          <p:cNvSpPr/>
          <p:nvPr/>
        </p:nvSpPr>
        <p:spPr>
          <a:xfrm>
            <a:off x="731520" y="8156448"/>
            <a:ext cx="8412480" cy="1463040"/>
          </a:xfrm>
          <a:prstGeom prst="rect">
            <a:avLst/>
          </a:prstGeom>
          <a:solidFill>
            <a:srgbClr val="1E1E1E"/>
          </a:solidFill>
          <a:ln w="9525" cap="flat" cmpd="sng">
            <a:solidFill>
              <a:srgbClr val="2A2A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5"/>
          <p:cNvSpPr/>
          <p:nvPr/>
        </p:nvSpPr>
        <p:spPr>
          <a:xfrm>
            <a:off x="731520" y="8156448"/>
            <a:ext cx="82296" cy="1463040"/>
          </a:xfrm>
          <a:prstGeom prst="rect">
            <a:avLst/>
          </a:prstGeom>
          <a:solidFill>
            <a:srgbClr val="330000"/>
          </a:solidFill>
          <a:ln w="12700" cap="flat" cmpd="sng">
            <a:solidFill>
              <a:srgbClr val="33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5"/>
          <p:cNvSpPr/>
          <p:nvPr/>
        </p:nvSpPr>
        <p:spPr>
          <a:xfrm>
            <a:off x="813816" y="8156448"/>
            <a:ext cx="768096" cy="1463040"/>
          </a:xfrm>
          <a:prstGeom prst="rect">
            <a:avLst/>
          </a:prstGeom>
          <a:solidFill>
            <a:srgbClr val="1A1A1A"/>
          </a:solidFill>
          <a:ln w="12700" cap="flat" cmpd="sng">
            <a:solidFill>
              <a:srgbClr val="1A1A1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5"/>
          <p:cNvSpPr/>
          <p:nvPr/>
        </p:nvSpPr>
        <p:spPr>
          <a:xfrm>
            <a:off x="813816" y="8156448"/>
            <a:ext cx="768096" cy="1463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600" b="1">
                <a:solidFill>
                  <a:schemeClr val="accent1"/>
                </a:solidFill>
                <a:latin typeface="Poppins"/>
                <a:ea typeface="Poppins"/>
                <a:cs typeface="Poppins"/>
                <a:sym typeface="Poppins"/>
              </a:rPr>
              <a:t>L4</a:t>
            </a:r>
            <a:endParaRPr sz="2600">
              <a:solidFill>
                <a:schemeClr val="accent1"/>
              </a:solidFill>
              <a:latin typeface="Calibri"/>
              <a:ea typeface="Calibri"/>
              <a:cs typeface="Calibri"/>
              <a:sym typeface="Calibri"/>
            </a:endParaRPr>
          </a:p>
        </p:txBody>
      </p:sp>
      <p:sp>
        <p:nvSpPr>
          <p:cNvPr id="201" name="Google Shape;201;p5"/>
          <p:cNvSpPr/>
          <p:nvPr/>
        </p:nvSpPr>
        <p:spPr>
          <a:xfrm>
            <a:off x="1801368" y="8266176"/>
            <a:ext cx="329184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a:solidFill>
                  <a:srgbClr val="FFFFFF"/>
                </a:solidFill>
                <a:latin typeface="Poppins"/>
                <a:ea typeface="Poppins"/>
                <a:cs typeface="Poppins"/>
                <a:sym typeface="Poppins"/>
              </a:rPr>
              <a:t>Presentation Layer</a:t>
            </a:r>
            <a:endParaRPr sz="1800">
              <a:solidFill>
                <a:schemeClr val="dk1"/>
              </a:solidFill>
              <a:latin typeface="Calibri"/>
              <a:ea typeface="Calibri"/>
              <a:cs typeface="Calibri"/>
              <a:sym typeface="Calibri"/>
            </a:endParaRPr>
          </a:p>
        </p:txBody>
      </p:sp>
      <p:sp>
        <p:nvSpPr>
          <p:cNvPr id="202" name="Google Shape;202;p5"/>
          <p:cNvSpPr/>
          <p:nvPr/>
        </p:nvSpPr>
        <p:spPr>
          <a:xfrm>
            <a:off x="1801368" y="8851392"/>
            <a:ext cx="32918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AAAAAA"/>
                </a:solidFill>
                <a:latin typeface="Poppins"/>
                <a:ea typeface="Poppins"/>
                <a:cs typeface="Poppins"/>
                <a:sym typeface="Poppins"/>
              </a:rPr>
              <a:t>Real-time operational interface</a:t>
            </a:r>
            <a:endParaRPr sz="1500">
              <a:solidFill>
                <a:schemeClr val="dk1"/>
              </a:solidFill>
              <a:latin typeface="Calibri"/>
              <a:ea typeface="Calibri"/>
              <a:cs typeface="Calibri"/>
              <a:sym typeface="Calibri"/>
            </a:endParaRPr>
          </a:p>
        </p:txBody>
      </p:sp>
      <p:sp>
        <p:nvSpPr>
          <p:cNvPr id="203" name="Google Shape;203;p5"/>
          <p:cNvSpPr/>
          <p:nvPr/>
        </p:nvSpPr>
        <p:spPr>
          <a:xfrm>
            <a:off x="4953000" y="8467344"/>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4" name="Google Shape;204;p5"/>
          <p:cNvSpPr/>
          <p:nvPr/>
        </p:nvSpPr>
        <p:spPr>
          <a:xfrm>
            <a:off x="5135880" y="8284464"/>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Next.js dashboard</a:t>
            </a:r>
            <a:endParaRPr sz="1500">
              <a:solidFill>
                <a:schemeClr val="dk1"/>
              </a:solidFill>
              <a:latin typeface="Calibri"/>
              <a:ea typeface="Calibri"/>
              <a:cs typeface="Calibri"/>
              <a:sym typeface="Calibri"/>
            </a:endParaRPr>
          </a:p>
        </p:txBody>
      </p:sp>
      <p:sp>
        <p:nvSpPr>
          <p:cNvPr id="205" name="Google Shape;205;p5"/>
          <p:cNvSpPr/>
          <p:nvPr/>
        </p:nvSpPr>
        <p:spPr>
          <a:xfrm>
            <a:off x="4953000" y="9052560"/>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5"/>
          <p:cNvSpPr/>
          <p:nvPr/>
        </p:nvSpPr>
        <p:spPr>
          <a:xfrm>
            <a:off x="5135880" y="896112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Dependency graph viz</a:t>
            </a:r>
            <a:endParaRPr sz="1500">
              <a:solidFill>
                <a:schemeClr val="dk1"/>
              </a:solidFill>
              <a:latin typeface="Calibri"/>
              <a:ea typeface="Calibri"/>
              <a:cs typeface="Calibri"/>
              <a:sym typeface="Calibri"/>
            </a:endParaRPr>
          </a:p>
        </p:txBody>
      </p:sp>
      <p:sp>
        <p:nvSpPr>
          <p:cNvPr id="207" name="Google Shape;207;p5"/>
          <p:cNvSpPr/>
          <p:nvPr/>
        </p:nvSpPr>
        <p:spPr>
          <a:xfrm>
            <a:off x="7001256" y="8467344"/>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8" name="Google Shape;208;p5"/>
          <p:cNvSpPr/>
          <p:nvPr/>
        </p:nvSpPr>
        <p:spPr>
          <a:xfrm>
            <a:off x="7190232" y="8394192"/>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WebSocket telemetry</a:t>
            </a:r>
            <a:endParaRPr sz="1500">
              <a:solidFill>
                <a:schemeClr val="dk1"/>
              </a:solidFill>
              <a:latin typeface="Calibri"/>
              <a:ea typeface="Calibri"/>
              <a:cs typeface="Calibri"/>
              <a:sym typeface="Calibri"/>
            </a:endParaRPr>
          </a:p>
        </p:txBody>
      </p:sp>
      <p:sp>
        <p:nvSpPr>
          <p:cNvPr id="209" name="Google Shape;209;p5"/>
          <p:cNvSpPr/>
          <p:nvPr/>
        </p:nvSpPr>
        <p:spPr>
          <a:xfrm>
            <a:off x="7001256" y="9052560"/>
            <a:ext cx="109728" cy="109728"/>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5"/>
          <p:cNvSpPr/>
          <p:nvPr/>
        </p:nvSpPr>
        <p:spPr>
          <a:xfrm>
            <a:off x="7181088" y="8961120"/>
            <a:ext cx="1975104"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CCCCCC"/>
                </a:solidFill>
                <a:latin typeface="Poppins"/>
                <a:ea typeface="Poppins"/>
                <a:cs typeface="Poppins"/>
                <a:sym typeface="Poppins"/>
              </a:rPr>
              <a:t>Live incident timeline</a:t>
            </a:r>
            <a:endParaRPr sz="1500">
              <a:solidFill>
                <a:schemeClr val="dk1"/>
              </a:solidFill>
              <a:latin typeface="Calibri"/>
              <a:ea typeface="Calibri"/>
              <a:cs typeface="Calibri"/>
              <a:sym typeface="Calibri"/>
            </a:endParaRPr>
          </a:p>
        </p:txBody>
      </p:sp>
      <p:sp>
        <p:nvSpPr>
          <p:cNvPr id="211" name="Google Shape;211;p5"/>
          <p:cNvSpPr/>
          <p:nvPr/>
        </p:nvSpPr>
        <p:spPr>
          <a:xfrm>
            <a:off x="0" y="9774936"/>
            <a:ext cx="18288000" cy="512064"/>
          </a:xfrm>
          <a:prstGeom prst="rect">
            <a:avLst/>
          </a:prstGeom>
          <a:solidFill>
            <a:srgbClr val="0D0D0D"/>
          </a:solidFill>
          <a:ln w="12700" cap="flat" cmpd="sng">
            <a:solidFill>
              <a:srgbClr val="0D0D0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2" name="Google Shape;212;p5"/>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5"/>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sz="1400">
              <a:solidFill>
                <a:schemeClr val="dk1"/>
              </a:solidFill>
              <a:latin typeface="Calibri"/>
              <a:ea typeface="Calibri"/>
              <a:cs typeface="Calibri"/>
              <a:sym typeface="Calibri"/>
            </a:endParaRPr>
          </a:p>
        </p:txBody>
      </p:sp>
      <p:sp>
        <p:nvSpPr>
          <p:cNvPr id="214" name="Google Shape;214;p5"/>
          <p:cNvSpPr/>
          <p:nvPr/>
        </p:nvSpPr>
        <p:spPr>
          <a:xfrm>
            <a:off x="1645920" y="9774936"/>
            <a:ext cx="1280160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lt1"/>
                </a:solidFill>
                <a:latin typeface="Poppins"/>
                <a:ea typeface="Poppins"/>
                <a:cs typeface="Poppins"/>
                <a:sym typeface="Poppins"/>
              </a:rPr>
              <a:t>SiliconKnights</a:t>
            </a:r>
            <a:endParaRPr sz="1400">
              <a:solidFill>
                <a:schemeClr val="lt1"/>
              </a:solidFill>
              <a:latin typeface="Calibri"/>
              <a:ea typeface="Calibri"/>
              <a:cs typeface="Calibri"/>
              <a:sym typeface="Calibri"/>
            </a:endParaRPr>
          </a:p>
        </p:txBody>
      </p:sp>
      <p:sp>
        <p:nvSpPr>
          <p:cNvPr id="215" name="Google Shape;215;p5"/>
          <p:cNvSpPr/>
          <p:nvPr/>
        </p:nvSpPr>
        <p:spPr>
          <a:xfrm>
            <a:off x="17373600" y="9774936"/>
            <a:ext cx="731520" cy="5120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a:solidFill>
                  <a:schemeClr val="lt1"/>
                </a:solidFill>
                <a:latin typeface="Calibri"/>
                <a:ea typeface="Calibri"/>
                <a:cs typeface="Calibri"/>
                <a:sym typeface="Calibri"/>
              </a:rPr>
              <a:t>5</a:t>
            </a:r>
            <a:endParaRPr/>
          </a:p>
        </p:txBody>
      </p:sp>
      <p:sp>
        <p:nvSpPr>
          <p:cNvPr id="216" name="Google Shape;216;p5"/>
          <p:cNvSpPr/>
          <p:nvPr/>
        </p:nvSpPr>
        <p:spPr>
          <a:xfrm>
            <a:off x="9448800" y="1951024"/>
            <a:ext cx="8741664" cy="1287476"/>
          </a:xfrm>
          <a:prstGeom prst="rect">
            <a:avLst/>
          </a:prstGeom>
          <a:solidFill>
            <a:srgbClr val="FAFAFA"/>
          </a:solid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9601200" y="2003323"/>
            <a:ext cx="7717536"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Why simulate the factory floor?</a:t>
            </a:r>
            <a:endParaRPr sz="1700">
              <a:solidFill>
                <a:schemeClr val="dk1"/>
              </a:solidFill>
              <a:latin typeface="Calibri"/>
              <a:ea typeface="Calibri"/>
              <a:cs typeface="Calibri"/>
              <a:sym typeface="Calibri"/>
            </a:endParaRPr>
          </a:p>
        </p:txBody>
      </p:sp>
      <p:sp>
        <p:nvSpPr>
          <p:cNvPr id="218" name="Google Shape;218;p5"/>
          <p:cNvSpPr/>
          <p:nvPr/>
        </p:nvSpPr>
        <p:spPr>
          <a:xfrm>
            <a:off x="9668256" y="2426512"/>
            <a:ext cx="8412480" cy="73883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Cannot demonstrate an observability tool without an application to observe. Each pod targets a distinct resource bottleneck; making failure patterns identifiable, reproducible, and attributable.</a:t>
            </a:r>
            <a:endParaRPr sz="1600">
              <a:solidFill>
                <a:schemeClr val="dk1"/>
              </a:solidFill>
              <a:latin typeface="Calibri"/>
              <a:ea typeface="Calibri"/>
              <a:cs typeface="Calibri"/>
              <a:sym typeface="Calibri"/>
            </a:endParaRPr>
          </a:p>
        </p:txBody>
      </p:sp>
      <p:sp>
        <p:nvSpPr>
          <p:cNvPr id="219" name="Google Shape;219;p5"/>
          <p:cNvSpPr/>
          <p:nvPr/>
        </p:nvSpPr>
        <p:spPr>
          <a:xfrm>
            <a:off x="9448800" y="3551224"/>
            <a:ext cx="8741664" cy="1287476"/>
          </a:xfrm>
          <a:prstGeom prst="rect">
            <a:avLst/>
          </a:prstGeom>
          <a:solidFill>
            <a:srgbClr val="FAFAFA"/>
          </a:solid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5"/>
          <p:cNvSpPr/>
          <p:nvPr/>
        </p:nvSpPr>
        <p:spPr>
          <a:xfrm>
            <a:off x="9601200" y="3613404"/>
            <a:ext cx="7717536"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Why eBPF over code injection?</a:t>
            </a:r>
            <a:endParaRPr sz="1700">
              <a:solidFill>
                <a:schemeClr val="dk1"/>
              </a:solidFill>
              <a:latin typeface="Calibri"/>
              <a:ea typeface="Calibri"/>
              <a:cs typeface="Calibri"/>
              <a:sym typeface="Calibri"/>
            </a:endParaRPr>
          </a:p>
        </p:txBody>
      </p:sp>
      <p:sp>
        <p:nvSpPr>
          <p:cNvPr id="221" name="Google Shape;221;p5"/>
          <p:cNvSpPr/>
          <p:nvPr/>
        </p:nvSpPr>
        <p:spPr>
          <a:xfrm>
            <a:off x="9668256" y="4026712"/>
            <a:ext cx="8412480" cy="73883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eBPF discovers inter-pod network dependencies at kernel level; without modifying L0 applications, a critical feature for air-gapped and secure industrial setups.</a:t>
            </a:r>
            <a:endParaRPr sz="1600">
              <a:solidFill>
                <a:schemeClr val="dk1"/>
              </a:solidFill>
              <a:latin typeface="Calibri"/>
              <a:ea typeface="Calibri"/>
              <a:cs typeface="Calibri"/>
              <a:sym typeface="Calibri"/>
            </a:endParaRPr>
          </a:p>
        </p:txBody>
      </p:sp>
      <p:sp>
        <p:nvSpPr>
          <p:cNvPr id="222" name="Google Shape;222;p5"/>
          <p:cNvSpPr/>
          <p:nvPr/>
        </p:nvSpPr>
        <p:spPr>
          <a:xfrm>
            <a:off x="9448800" y="5067300"/>
            <a:ext cx="8741664" cy="1287476"/>
          </a:xfrm>
          <a:prstGeom prst="rect">
            <a:avLst/>
          </a:prstGeom>
          <a:solidFill>
            <a:srgbClr val="FAFAFA"/>
          </a:solid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9601200" y="5157216"/>
            <a:ext cx="7717536"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Why a normalization layer?</a:t>
            </a:r>
            <a:endParaRPr sz="1700">
              <a:solidFill>
                <a:schemeClr val="dk1"/>
              </a:solidFill>
              <a:latin typeface="Calibri"/>
              <a:ea typeface="Calibri"/>
              <a:cs typeface="Calibri"/>
              <a:sym typeface="Calibri"/>
            </a:endParaRPr>
          </a:p>
        </p:txBody>
      </p:sp>
      <p:sp>
        <p:nvSpPr>
          <p:cNvPr id="224" name="Google Shape;224;p5"/>
          <p:cNvSpPr/>
          <p:nvPr/>
        </p:nvSpPr>
        <p:spPr>
          <a:xfrm>
            <a:off x="9668256" y="5542788"/>
            <a:ext cx="8412480" cy="73883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Raw Prometheus scrape text fed directly to an LLM will not process. L2 is an architectural requirement; converting noisy distributed telemetry into structured, correlation-ready JSON.</a:t>
            </a:r>
            <a:endParaRPr sz="1600">
              <a:solidFill>
                <a:schemeClr val="dk1"/>
              </a:solidFill>
              <a:latin typeface="Calibri"/>
              <a:ea typeface="Calibri"/>
              <a:cs typeface="Calibri"/>
              <a:sym typeface="Calibri"/>
            </a:endParaRPr>
          </a:p>
        </p:txBody>
      </p:sp>
      <p:sp>
        <p:nvSpPr>
          <p:cNvPr id="225" name="Google Shape;225;p5"/>
          <p:cNvSpPr/>
          <p:nvPr/>
        </p:nvSpPr>
        <p:spPr>
          <a:xfrm>
            <a:off x="9448800" y="6675424"/>
            <a:ext cx="8741664" cy="1287476"/>
          </a:xfrm>
          <a:prstGeom prst="rect">
            <a:avLst/>
          </a:prstGeom>
          <a:solidFill>
            <a:srgbClr val="FAFAFA"/>
          </a:solid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9601200" y="6764200"/>
            <a:ext cx="7717536"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Why local AI agents?</a:t>
            </a:r>
            <a:endParaRPr sz="1700">
              <a:solidFill>
                <a:schemeClr val="dk1"/>
              </a:solidFill>
              <a:latin typeface="Calibri"/>
              <a:ea typeface="Calibri"/>
              <a:cs typeface="Calibri"/>
              <a:sym typeface="Calibri"/>
            </a:endParaRPr>
          </a:p>
        </p:txBody>
      </p:sp>
      <p:sp>
        <p:nvSpPr>
          <p:cNvPr id="227" name="Google Shape;227;p5"/>
          <p:cNvSpPr/>
          <p:nvPr/>
        </p:nvSpPr>
        <p:spPr>
          <a:xfrm>
            <a:off x="9668256" y="7150912"/>
            <a:ext cx="8412480" cy="73883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Splitting inference into specialized agents keeps each focused on one task, dramatically improving accuracy. Local Ollama deployment ensures the air-gap.</a:t>
            </a:r>
            <a:endParaRPr sz="1600">
              <a:solidFill>
                <a:schemeClr val="dk1"/>
              </a:solidFill>
              <a:latin typeface="Calibri"/>
              <a:ea typeface="Calibri"/>
              <a:cs typeface="Calibri"/>
              <a:sym typeface="Calibri"/>
            </a:endParaRPr>
          </a:p>
        </p:txBody>
      </p:sp>
      <p:sp>
        <p:nvSpPr>
          <p:cNvPr id="228" name="Google Shape;228;p5"/>
          <p:cNvSpPr/>
          <p:nvPr/>
        </p:nvSpPr>
        <p:spPr>
          <a:xfrm>
            <a:off x="9448800" y="8275624"/>
            <a:ext cx="8741664" cy="1287476"/>
          </a:xfrm>
          <a:prstGeom prst="rect">
            <a:avLst/>
          </a:prstGeom>
          <a:solidFill>
            <a:srgbClr val="FAFAFA"/>
          </a:solidFill>
          <a:ln w="9525"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9601200" y="8339328"/>
            <a:ext cx="7717536"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Why Go backend + Next.js frontend?</a:t>
            </a:r>
            <a:endParaRPr sz="1700">
              <a:solidFill>
                <a:schemeClr val="dk1"/>
              </a:solidFill>
              <a:latin typeface="Calibri"/>
              <a:ea typeface="Calibri"/>
              <a:cs typeface="Calibri"/>
              <a:sym typeface="Calibri"/>
            </a:endParaRPr>
          </a:p>
        </p:txBody>
      </p:sp>
      <p:sp>
        <p:nvSpPr>
          <p:cNvPr id="230" name="Google Shape;230;p5"/>
          <p:cNvSpPr/>
          <p:nvPr/>
        </p:nvSpPr>
        <p:spPr>
          <a:xfrm>
            <a:off x="9668256" y="8751112"/>
            <a:ext cx="8412480" cy="73883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Handles high-throughput WebSocket connections and REST calls to the AI container with minimal overhead. React Flow renders live dependency graphs; Recharts renders CPU/PVC time-series in real time.</a:t>
            </a:r>
            <a:endParaRPr sz="16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6"/>
          <p:cNvSpPr/>
          <p:nvPr/>
        </p:nvSpPr>
        <p:spPr>
          <a:xfrm>
            <a:off x="694944" y="493776"/>
            <a:ext cx="585216" cy="493776"/>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6"/>
          <p:cNvSpPr/>
          <p:nvPr/>
        </p:nvSpPr>
        <p:spPr>
          <a:xfrm>
            <a:off x="694944" y="493776"/>
            <a:ext cx="585216" cy="4937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06</a:t>
            </a:r>
            <a:endParaRPr sz="1800">
              <a:solidFill>
                <a:schemeClr val="dk1"/>
              </a:solidFill>
              <a:latin typeface="Calibri"/>
              <a:ea typeface="Calibri"/>
              <a:cs typeface="Calibri"/>
              <a:sym typeface="Calibri"/>
            </a:endParaRPr>
          </a:p>
        </p:txBody>
      </p:sp>
      <p:sp>
        <p:nvSpPr>
          <p:cNvPr id="238" name="Google Shape;238;p6"/>
          <p:cNvSpPr/>
          <p:nvPr/>
        </p:nvSpPr>
        <p:spPr>
          <a:xfrm>
            <a:off x="1389888" y="457200"/>
            <a:ext cx="8741664"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4000" b="1">
                <a:solidFill>
                  <a:schemeClr val="dk1"/>
                </a:solidFill>
                <a:latin typeface="Poppins"/>
                <a:ea typeface="Poppins"/>
                <a:cs typeface="Poppins"/>
                <a:sym typeface="Poppins"/>
              </a:rPr>
              <a:t>L0: Industrial Workload Layer</a:t>
            </a:r>
            <a:endParaRPr sz="4000">
              <a:solidFill>
                <a:schemeClr val="dk1"/>
              </a:solidFill>
              <a:latin typeface="Calibri"/>
              <a:ea typeface="Calibri"/>
              <a:cs typeface="Calibri"/>
              <a:sym typeface="Calibri"/>
            </a:endParaRPr>
          </a:p>
        </p:txBody>
      </p:sp>
      <p:sp>
        <p:nvSpPr>
          <p:cNvPr id="239" name="Google Shape;239;p6"/>
          <p:cNvSpPr/>
          <p:nvPr/>
        </p:nvSpPr>
        <p:spPr>
          <a:xfrm>
            <a:off x="1389888" y="1024128"/>
            <a:ext cx="768096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a:solidFill>
                  <a:schemeClr val="dk1"/>
                </a:solidFill>
                <a:latin typeface="Poppins"/>
                <a:ea typeface="Poppins"/>
                <a:cs typeface="Poppins"/>
                <a:sym typeface="Poppins"/>
              </a:rPr>
              <a:t>Industrial Simulation Environment</a:t>
            </a:r>
            <a:endParaRPr sz="1800">
              <a:solidFill>
                <a:schemeClr val="dk1"/>
              </a:solidFill>
              <a:latin typeface="Calibri"/>
              <a:ea typeface="Calibri"/>
              <a:cs typeface="Calibri"/>
              <a:sym typeface="Calibri"/>
            </a:endParaRPr>
          </a:p>
        </p:txBody>
      </p:sp>
      <p:sp>
        <p:nvSpPr>
          <p:cNvPr id="240" name="Google Shape;240;p6"/>
          <p:cNvSpPr/>
          <p:nvPr/>
        </p:nvSpPr>
        <p:spPr>
          <a:xfrm>
            <a:off x="694944" y="1536193"/>
            <a:ext cx="7132320" cy="4023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6"/>
          <p:cNvSpPr/>
          <p:nvPr/>
        </p:nvSpPr>
        <p:spPr>
          <a:xfrm>
            <a:off x="694944" y="1828800"/>
            <a:ext cx="8010144" cy="1280160"/>
          </a:xfrm>
          <a:prstGeom prst="rect">
            <a:avLst/>
          </a:prstGeom>
          <a:solidFill>
            <a:srgbClr val="1C1C1C"/>
          </a:solidFill>
          <a:ln w="9525" cap="flat" cmpd="sng">
            <a:solidFill>
              <a:srgbClr val="28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6"/>
          <p:cNvSpPr/>
          <p:nvPr/>
        </p:nvSpPr>
        <p:spPr>
          <a:xfrm>
            <a:off x="694944" y="1828800"/>
            <a:ext cx="73152" cy="1280160"/>
          </a:xfrm>
          <a:prstGeom prst="rect">
            <a:avLst/>
          </a:prstGeom>
          <a:solidFill>
            <a:srgbClr val="7EC8F0"/>
          </a:solidFill>
          <a:ln w="12700" cap="flat" cmpd="sng">
            <a:solidFill>
              <a:srgbClr val="7EC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6"/>
          <p:cNvSpPr/>
          <p:nvPr/>
        </p:nvSpPr>
        <p:spPr>
          <a:xfrm>
            <a:off x="950976" y="1938528"/>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000" b="1">
                <a:solidFill>
                  <a:srgbClr val="FFFFFF"/>
                </a:solidFill>
                <a:latin typeface="Poppins"/>
                <a:ea typeface="Poppins"/>
                <a:cs typeface="Poppins"/>
                <a:sym typeface="Poppins"/>
              </a:rPr>
              <a:t>MQTT Broker</a:t>
            </a:r>
            <a:endParaRPr sz="2000">
              <a:solidFill>
                <a:schemeClr val="dk1"/>
              </a:solidFill>
              <a:latin typeface="Calibri"/>
              <a:ea typeface="Calibri"/>
              <a:cs typeface="Calibri"/>
              <a:sym typeface="Calibri"/>
            </a:endParaRPr>
          </a:p>
        </p:txBody>
      </p:sp>
      <p:sp>
        <p:nvSpPr>
          <p:cNvPr id="244" name="Google Shape;244;p6"/>
          <p:cNvSpPr/>
          <p:nvPr/>
        </p:nvSpPr>
        <p:spPr>
          <a:xfrm>
            <a:off x="950977" y="2432304"/>
            <a:ext cx="2090318" cy="365760"/>
          </a:xfrm>
          <a:prstGeom prst="rect">
            <a:avLst/>
          </a:prstGeom>
          <a:solidFill>
            <a:srgbClr val="0A3A5C"/>
          </a:solidFill>
          <a:ln w="12700" cap="flat" cmpd="sng">
            <a:solidFill>
              <a:srgbClr val="0A3A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6"/>
          <p:cNvSpPr/>
          <p:nvPr/>
        </p:nvSpPr>
        <p:spPr>
          <a:xfrm>
            <a:off x="950977" y="2432304"/>
            <a:ext cx="209031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7EC8F0"/>
                </a:solidFill>
                <a:latin typeface="Poppins"/>
                <a:ea typeface="Poppins"/>
                <a:cs typeface="Poppins"/>
                <a:sym typeface="Poppins"/>
              </a:rPr>
              <a:t>NETWORK-HEAVY</a:t>
            </a:r>
            <a:endParaRPr sz="1400">
              <a:solidFill>
                <a:schemeClr val="dk1"/>
              </a:solidFill>
              <a:latin typeface="Calibri"/>
              <a:ea typeface="Calibri"/>
              <a:cs typeface="Calibri"/>
              <a:sym typeface="Calibri"/>
            </a:endParaRPr>
          </a:p>
        </p:txBody>
      </p:sp>
      <p:sp>
        <p:nvSpPr>
          <p:cNvPr id="246" name="Google Shape;246;p6"/>
          <p:cNvSpPr/>
          <p:nvPr/>
        </p:nvSpPr>
        <p:spPr>
          <a:xfrm>
            <a:off x="694944" y="3209544"/>
            <a:ext cx="8010144" cy="1280160"/>
          </a:xfrm>
          <a:prstGeom prst="rect">
            <a:avLst/>
          </a:prstGeom>
          <a:solidFill>
            <a:srgbClr val="1C1C1C"/>
          </a:solidFill>
          <a:ln w="9525" cap="flat" cmpd="sng">
            <a:solidFill>
              <a:srgbClr val="28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6"/>
          <p:cNvSpPr/>
          <p:nvPr/>
        </p:nvSpPr>
        <p:spPr>
          <a:xfrm>
            <a:off x="694944" y="3209544"/>
            <a:ext cx="73152" cy="1280160"/>
          </a:xfrm>
          <a:prstGeom prst="rect">
            <a:avLst/>
          </a:prstGeom>
          <a:solidFill>
            <a:srgbClr val="FF6B35"/>
          </a:solidFill>
          <a:ln w="12700" cap="flat" cmpd="sng">
            <a:solidFill>
              <a:srgbClr val="FF6B3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950976" y="3319272"/>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000" b="1">
                <a:solidFill>
                  <a:srgbClr val="FFFFFF"/>
                </a:solidFill>
                <a:latin typeface="Poppins"/>
                <a:ea typeface="Poppins"/>
                <a:cs typeface="Poppins"/>
                <a:sym typeface="Poppins"/>
              </a:rPr>
              <a:t>CPU Anomaly Detector</a:t>
            </a:r>
            <a:endParaRPr sz="2000">
              <a:solidFill>
                <a:schemeClr val="dk1"/>
              </a:solidFill>
              <a:latin typeface="Calibri"/>
              <a:ea typeface="Calibri"/>
              <a:cs typeface="Calibri"/>
              <a:sym typeface="Calibri"/>
            </a:endParaRPr>
          </a:p>
        </p:txBody>
      </p:sp>
      <p:sp>
        <p:nvSpPr>
          <p:cNvPr id="249" name="Google Shape;249;p6"/>
          <p:cNvSpPr/>
          <p:nvPr/>
        </p:nvSpPr>
        <p:spPr>
          <a:xfrm>
            <a:off x="950976" y="3813048"/>
            <a:ext cx="1570940" cy="365760"/>
          </a:xfrm>
          <a:prstGeom prst="rect">
            <a:avLst/>
          </a:prstGeom>
          <a:solidFill>
            <a:srgbClr val="5A1A00"/>
          </a:solidFill>
          <a:ln w="12700" cap="flat" cmpd="sng">
            <a:solidFill>
              <a:srgbClr val="5A1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950976" y="3813048"/>
            <a:ext cx="157094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6B35"/>
                </a:solidFill>
                <a:latin typeface="Poppins"/>
                <a:ea typeface="Poppins"/>
                <a:cs typeface="Poppins"/>
                <a:sym typeface="Poppins"/>
              </a:rPr>
              <a:t>CPU-HEAVY</a:t>
            </a:r>
            <a:endParaRPr sz="1400">
              <a:solidFill>
                <a:schemeClr val="dk1"/>
              </a:solidFill>
              <a:latin typeface="Calibri"/>
              <a:ea typeface="Calibri"/>
              <a:cs typeface="Calibri"/>
              <a:sym typeface="Calibri"/>
            </a:endParaRPr>
          </a:p>
        </p:txBody>
      </p:sp>
      <p:sp>
        <p:nvSpPr>
          <p:cNvPr id="251" name="Google Shape;251;p6"/>
          <p:cNvSpPr/>
          <p:nvPr/>
        </p:nvSpPr>
        <p:spPr>
          <a:xfrm>
            <a:off x="694944" y="4590288"/>
            <a:ext cx="8010144" cy="1280160"/>
          </a:xfrm>
          <a:prstGeom prst="rect">
            <a:avLst/>
          </a:prstGeom>
          <a:solidFill>
            <a:srgbClr val="1C1C1C"/>
          </a:solidFill>
          <a:ln w="9525" cap="flat" cmpd="sng">
            <a:solidFill>
              <a:srgbClr val="28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694944" y="4590288"/>
            <a:ext cx="73152" cy="1280160"/>
          </a:xfrm>
          <a:prstGeom prst="rect">
            <a:avLst/>
          </a:prstGeom>
          <a:solidFill>
            <a:srgbClr val="F0A830"/>
          </a:solidFill>
          <a:ln w="12700" cap="flat" cmpd="sng">
            <a:solidFill>
              <a:srgbClr val="F0A83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6"/>
          <p:cNvSpPr/>
          <p:nvPr/>
        </p:nvSpPr>
        <p:spPr>
          <a:xfrm>
            <a:off x="950976" y="4700016"/>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000" b="1">
                <a:solidFill>
                  <a:srgbClr val="FFFFFF"/>
                </a:solidFill>
                <a:latin typeface="Poppins"/>
                <a:ea typeface="Poppins"/>
                <a:cs typeface="Poppins"/>
                <a:sym typeface="Poppins"/>
              </a:rPr>
              <a:t>TimescaleDB</a:t>
            </a:r>
            <a:endParaRPr sz="2000">
              <a:solidFill>
                <a:schemeClr val="dk1"/>
              </a:solidFill>
              <a:latin typeface="Calibri"/>
              <a:ea typeface="Calibri"/>
              <a:cs typeface="Calibri"/>
              <a:sym typeface="Calibri"/>
            </a:endParaRPr>
          </a:p>
        </p:txBody>
      </p:sp>
      <p:sp>
        <p:nvSpPr>
          <p:cNvPr id="254" name="Google Shape;254;p6"/>
          <p:cNvSpPr/>
          <p:nvPr/>
        </p:nvSpPr>
        <p:spPr>
          <a:xfrm>
            <a:off x="950977" y="5193792"/>
            <a:ext cx="2090318" cy="365760"/>
          </a:xfrm>
          <a:prstGeom prst="rect">
            <a:avLst/>
          </a:prstGeom>
          <a:solidFill>
            <a:srgbClr val="3A1F00"/>
          </a:solidFill>
          <a:ln w="12700" cap="flat" cmpd="sng">
            <a:solidFill>
              <a:srgbClr val="3A1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950977" y="5193792"/>
            <a:ext cx="209031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0A830"/>
                </a:solidFill>
                <a:latin typeface="Poppins"/>
                <a:ea typeface="Poppins"/>
                <a:cs typeface="Poppins"/>
                <a:sym typeface="Poppins"/>
              </a:rPr>
              <a:t>STORAGE-HEAVY</a:t>
            </a:r>
            <a:endParaRPr sz="1400">
              <a:solidFill>
                <a:schemeClr val="dk1"/>
              </a:solidFill>
              <a:latin typeface="Calibri"/>
              <a:ea typeface="Calibri"/>
              <a:cs typeface="Calibri"/>
              <a:sym typeface="Calibri"/>
            </a:endParaRPr>
          </a:p>
        </p:txBody>
      </p:sp>
      <p:sp>
        <p:nvSpPr>
          <p:cNvPr id="256" name="Google Shape;256;p6"/>
          <p:cNvSpPr/>
          <p:nvPr/>
        </p:nvSpPr>
        <p:spPr>
          <a:xfrm>
            <a:off x="694944" y="5971032"/>
            <a:ext cx="8010144" cy="1280160"/>
          </a:xfrm>
          <a:prstGeom prst="rect">
            <a:avLst/>
          </a:prstGeom>
          <a:solidFill>
            <a:srgbClr val="1C1C1C"/>
          </a:solidFill>
          <a:ln w="9525" cap="flat" cmpd="sng">
            <a:solidFill>
              <a:srgbClr val="28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694944" y="5971032"/>
            <a:ext cx="73152" cy="1280160"/>
          </a:xfrm>
          <a:prstGeom prst="rect">
            <a:avLst/>
          </a:prstGeom>
          <a:solidFill>
            <a:srgbClr val="FF4444"/>
          </a:solidFill>
          <a:ln w="12700" cap="flat" cmpd="sng">
            <a:solidFill>
              <a:srgbClr val="F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6"/>
          <p:cNvSpPr/>
          <p:nvPr/>
        </p:nvSpPr>
        <p:spPr>
          <a:xfrm>
            <a:off x="950976" y="6080760"/>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000" b="1">
                <a:solidFill>
                  <a:srgbClr val="FFFFFF"/>
                </a:solidFill>
                <a:latin typeface="Poppins"/>
                <a:ea typeface="Poppins"/>
                <a:cs typeface="Poppins"/>
                <a:sym typeface="Poppins"/>
              </a:rPr>
              <a:t>Critical Control Relay</a:t>
            </a:r>
            <a:endParaRPr sz="2000">
              <a:solidFill>
                <a:schemeClr val="dk1"/>
              </a:solidFill>
              <a:latin typeface="Calibri"/>
              <a:ea typeface="Calibri"/>
              <a:cs typeface="Calibri"/>
              <a:sym typeface="Calibri"/>
            </a:endParaRPr>
          </a:p>
        </p:txBody>
      </p:sp>
      <p:sp>
        <p:nvSpPr>
          <p:cNvPr id="259" name="Google Shape;259;p6"/>
          <p:cNvSpPr/>
          <p:nvPr/>
        </p:nvSpPr>
        <p:spPr>
          <a:xfrm>
            <a:off x="950977" y="6574536"/>
            <a:ext cx="2609698" cy="365760"/>
          </a:xfrm>
          <a:prstGeom prst="rect">
            <a:avLst/>
          </a:prstGeom>
          <a:solidFill>
            <a:srgbClr val="3A0000"/>
          </a:solidFill>
          <a:ln w="12700" cap="flat" cmpd="sng">
            <a:solidFill>
              <a:srgbClr val="3A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950977" y="6574536"/>
            <a:ext cx="260969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4444"/>
                </a:solidFill>
                <a:latin typeface="Poppins"/>
                <a:ea typeface="Poppins"/>
                <a:cs typeface="Poppins"/>
                <a:sym typeface="Poppins"/>
              </a:rPr>
              <a:t>LATENCY-SENSITIVE</a:t>
            </a:r>
            <a:endParaRPr sz="1400">
              <a:solidFill>
                <a:schemeClr val="dk1"/>
              </a:solidFill>
              <a:latin typeface="Calibri"/>
              <a:ea typeface="Calibri"/>
              <a:cs typeface="Calibri"/>
              <a:sym typeface="Calibri"/>
            </a:endParaRPr>
          </a:p>
        </p:txBody>
      </p:sp>
      <p:sp>
        <p:nvSpPr>
          <p:cNvPr id="261" name="Google Shape;261;p6"/>
          <p:cNvSpPr/>
          <p:nvPr/>
        </p:nvSpPr>
        <p:spPr>
          <a:xfrm>
            <a:off x="694944" y="7424928"/>
            <a:ext cx="8010144" cy="2039112"/>
          </a:xfrm>
          <a:prstGeom prst="rect">
            <a:avLst/>
          </a:prstGeom>
          <a:solidFill>
            <a:srgbClr val="0E0E0E"/>
          </a:solidFill>
          <a:ln w="9525" cap="flat" cmpd="sng">
            <a:solidFill>
              <a:srgbClr val="2A2A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694944" y="7424928"/>
            <a:ext cx="85344" cy="2039112"/>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6"/>
          <p:cNvSpPr/>
          <p:nvPr/>
        </p:nvSpPr>
        <p:spPr>
          <a:xfrm>
            <a:off x="950976" y="7498080"/>
            <a:ext cx="4002024"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CC0000"/>
                </a:solidFill>
                <a:latin typeface="Poppins"/>
                <a:ea typeface="Poppins"/>
                <a:cs typeface="Poppins"/>
                <a:sym typeface="Poppins"/>
              </a:rPr>
              <a:t>What this architecture does:</a:t>
            </a:r>
            <a:endParaRPr sz="1700">
              <a:solidFill>
                <a:schemeClr val="dk1"/>
              </a:solidFill>
              <a:latin typeface="Calibri"/>
              <a:ea typeface="Calibri"/>
              <a:cs typeface="Calibri"/>
              <a:sym typeface="Calibri"/>
            </a:endParaRPr>
          </a:p>
        </p:txBody>
      </p:sp>
      <p:sp>
        <p:nvSpPr>
          <p:cNvPr id="264" name="Google Shape;264;p6"/>
          <p:cNvSpPr/>
          <p:nvPr/>
        </p:nvSpPr>
        <p:spPr>
          <a:xfrm>
            <a:off x="950976" y="7955280"/>
            <a:ext cx="1511808" cy="365760"/>
          </a:xfrm>
          <a:prstGeom prst="rect">
            <a:avLst/>
          </a:prstGeom>
          <a:solidFill>
            <a:srgbClr val="3A1200"/>
          </a:solidFill>
          <a:ln w="9525" cap="flat" cmpd="sng">
            <a:solidFill>
              <a:srgbClr val="FF6B3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6"/>
          <p:cNvSpPr/>
          <p:nvPr/>
        </p:nvSpPr>
        <p:spPr>
          <a:xfrm>
            <a:off x="950976" y="7955280"/>
            <a:ext cx="151180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6B35"/>
                </a:solidFill>
                <a:latin typeface="Poppins"/>
                <a:ea typeface="Poppins"/>
                <a:cs typeface="Poppins"/>
                <a:sym typeface="Poppins"/>
              </a:rPr>
              <a:t>burst CPU</a:t>
            </a:r>
            <a:endParaRPr sz="1300">
              <a:solidFill>
                <a:schemeClr val="dk1"/>
              </a:solidFill>
              <a:latin typeface="Calibri"/>
              <a:ea typeface="Calibri"/>
              <a:cs typeface="Calibri"/>
              <a:sym typeface="Calibri"/>
            </a:endParaRPr>
          </a:p>
        </p:txBody>
      </p:sp>
      <p:sp>
        <p:nvSpPr>
          <p:cNvPr id="266" name="Google Shape;266;p6"/>
          <p:cNvSpPr/>
          <p:nvPr/>
        </p:nvSpPr>
        <p:spPr>
          <a:xfrm>
            <a:off x="2468880" y="7955280"/>
            <a:ext cx="1511808" cy="365760"/>
          </a:xfrm>
          <a:prstGeom prst="rect">
            <a:avLst/>
          </a:prstGeom>
          <a:solidFill>
            <a:srgbClr val="3A2000"/>
          </a:solidFill>
          <a:ln w="9525" cap="flat" cmpd="sng">
            <a:solidFill>
              <a:srgbClr val="F0A83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2468880" y="7955280"/>
            <a:ext cx="151180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0A830"/>
                </a:solidFill>
                <a:latin typeface="Poppins"/>
                <a:ea typeface="Poppins"/>
                <a:cs typeface="Poppins"/>
                <a:sym typeface="Poppins"/>
              </a:rPr>
              <a:t>PVC contention</a:t>
            </a:r>
            <a:endParaRPr sz="1300">
              <a:solidFill>
                <a:schemeClr val="dk1"/>
              </a:solidFill>
              <a:latin typeface="Calibri"/>
              <a:ea typeface="Calibri"/>
              <a:cs typeface="Calibri"/>
              <a:sym typeface="Calibri"/>
            </a:endParaRPr>
          </a:p>
        </p:txBody>
      </p:sp>
      <p:sp>
        <p:nvSpPr>
          <p:cNvPr id="268" name="Google Shape;268;p6"/>
          <p:cNvSpPr/>
          <p:nvPr/>
        </p:nvSpPr>
        <p:spPr>
          <a:xfrm>
            <a:off x="3986784" y="7955280"/>
            <a:ext cx="1511808" cy="365760"/>
          </a:xfrm>
          <a:prstGeom prst="rect">
            <a:avLst/>
          </a:prstGeom>
          <a:solidFill>
            <a:srgbClr val="2A1A00"/>
          </a:solidFill>
          <a:ln w="9525" cap="flat" cmpd="sng">
            <a:solidFill>
              <a:srgbClr val="F0A83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3986784" y="7955280"/>
            <a:ext cx="151180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0A830"/>
                </a:solidFill>
                <a:latin typeface="Poppins"/>
                <a:ea typeface="Poppins"/>
                <a:cs typeface="Poppins"/>
                <a:sym typeface="Poppins"/>
              </a:rPr>
              <a:t>storage latency</a:t>
            </a:r>
            <a:endParaRPr sz="1300">
              <a:solidFill>
                <a:schemeClr val="dk1"/>
              </a:solidFill>
              <a:latin typeface="Calibri"/>
              <a:ea typeface="Calibri"/>
              <a:cs typeface="Calibri"/>
              <a:sym typeface="Calibri"/>
            </a:endParaRPr>
          </a:p>
        </p:txBody>
      </p:sp>
      <p:sp>
        <p:nvSpPr>
          <p:cNvPr id="270" name="Google Shape;270;p6"/>
          <p:cNvSpPr/>
          <p:nvPr/>
        </p:nvSpPr>
        <p:spPr>
          <a:xfrm>
            <a:off x="5504688" y="7955280"/>
            <a:ext cx="1511808" cy="365760"/>
          </a:xfrm>
          <a:prstGeom prst="rect">
            <a:avLst/>
          </a:prstGeom>
          <a:solidFill>
            <a:srgbClr val="0A2A3A"/>
          </a:solidFill>
          <a:ln w="9525" cap="flat" cmpd="sng">
            <a:solidFill>
              <a:srgbClr val="7EC8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6"/>
          <p:cNvSpPr/>
          <p:nvPr/>
        </p:nvSpPr>
        <p:spPr>
          <a:xfrm>
            <a:off x="5504688" y="7955280"/>
            <a:ext cx="151180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7EC8F0"/>
                </a:solidFill>
                <a:latin typeface="Poppins"/>
                <a:ea typeface="Poppins"/>
                <a:cs typeface="Poppins"/>
                <a:sym typeface="Poppins"/>
              </a:rPr>
              <a:t>network cascade</a:t>
            </a:r>
            <a:endParaRPr sz="1300">
              <a:solidFill>
                <a:schemeClr val="dk1"/>
              </a:solidFill>
              <a:latin typeface="Calibri"/>
              <a:ea typeface="Calibri"/>
              <a:cs typeface="Calibri"/>
              <a:sym typeface="Calibri"/>
            </a:endParaRPr>
          </a:p>
        </p:txBody>
      </p:sp>
      <p:sp>
        <p:nvSpPr>
          <p:cNvPr id="272" name="Google Shape;272;p6"/>
          <p:cNvSpPr/>
          <p:nvPr/>
        </p:nvSpPr>
        <p:spPr>
          <a:xfrm>
            <a:off x="7022592" y="7955280"/>
            <a:ext cx="1511808" cy="365760"/>
          </a:xfrm>
          <a:prstGeom prst="rect">
            <a:avLst/>
          </a:prstGeom>
          <a:solidFill>
            <a:srgbClr val="3A0000"/>
          </a:solidFill>
          <a:ln w="9525" cap="flat" cmpd="sng">
            <a:solidFill>
              <a:srgbClr val="F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022592" y="7955280"/>
            <a:ext cx="151180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4444"/>
                </a:solidFill>
                <a:latin typeface="Poppins"/>
                <a:ea typeface="Poppins"/>
                <a:cs typeface="Poppins"/>
                <a:sym typeface="Poppins"/>
              </a:rPr>
              <a:t>pod interference</a:t>
            </a:r>
            <a:endParaRPr sz="1300">
              <a:solidFill>
                <a:schemeClr val="dk1"/>
              </a:solidFill>
              <a:latin typeface="Calibri"/>
              <a:ea typeface="Calibri"/>
              <a:cs typeface="Calibri"/>
              <a:sym typeface="Calibri"/>
            </a:endParaRPr>
          </a:p>
        </p:txBody>
      </p:sp>
      <p:sp>
        <p:nvSpPr>
          <p:cNvPr id="274" name="Google Shape;274;p6"/>
          <p:cNvSpPr/>
          <p:nvPr/>
        </p:nvSpPr>
        <p:spPr>
          <a:xfrm>
            <a:off x="950976" y="8750808"/>
            <a:ext cx="764438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000" i="1">
                <a:solidFill>
                  <a:srgbClr val="F2F2F2"/>
                </a:solidFill>
                <a:latin typeface="Poppins"/>
                <a:ea typeface="Poppins"/>
                <a:cs typeface="Poppins"/>
                <a:sym typeface="Poppins"/>
              </a:rPr>
              <a:t>Generates realistic failure conditions for dependency analysis.</a:t>
            </a:r>
            <a:endParaRPr sz="2000">
              <a:solidFill>
                <a:srgbClr val="F2F2F2"/>
              </a:solidFill>
              <a:latin typeface="Calibri"/>
              <a:ea typeface="Calibri"/>
              <a:cs typeface="Calibri"/>
              <a:sym typeface="Calibri"/>
            </a:endParaRPr>
          </a:p>
        </p:txBody>
      </p:sp>
      <p:sp>
        <p:nvSpPr>
          <p:cNvPr id="275" name="Google Shape;275;p6"/>
          <p:cNvSpPr/>
          <p:nvPr/>
        </p:nvSpPr>
        <p:spPr>
          <a:xfrm>
            <a:off x="0" y="9774936"/>
            <a:ext cx="18288000" cy="512064"/>
          </a:xfrm>
          <a:prstGeom prst="rect">
            <a:avLst/>
          </a:prstGeom>
          <a:solidFill>
            <a:srgbClr val="0D0D0D"/>
          </a:solidFill>
          <a:ln w="12700" cap="flat" cmpd="sng">
            <a:solidFill>
              <a:srgbClr val="0D0D0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6"/>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6"/>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sz="1400">
              <a:solidFill>
                <a:schemeClr val="dk1"/>
              </a:solidFill>
              <a:latin typeface="Calibri"/>
              <a:ea typeface="Calibri"/>
              <a:cs typeface="Calibri"/>
              <a:sym typeface="Calibri"/>
            </a:endParaRPr>
          </a:p>
        </p:txBody>
      </p:sp>
      <p:sp>
        <p:nvSpPr>
          <p:cNvPr id="278" name="Google Shape;278;p6"/>
          <p:cNvSpPr/>
          <p:nvPr/>
        </p:nvSpPr>
        <p:spPr>
          <a:xfrm>
            <a:off x="1645920" y="9774936"/>
            <a:ext cx="1280160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lt1"/>
                </a:solidFill>
                <a:latin typeface="Poppins"/>
                <a:ea typeface="Poppins"/>
                <a:cs typeface="Poppins"/>
                <a:sym typeface="Poppins"/>
              </a:rPr>
              <a:t>SiliconKnights</a:t>
            </a:r>
            <a:endParaRPr sz="1400">
              <a:solidFill>
                <a:schemeClr val="lt1"/>
              </a:solidFill>
              <a:latin typeface="Calibri"/>
              <a:ea typeface="Calibri"/>
              <a:cs typeface="Calibri"/>
              <a:sym typeface="Calibri"/>
            </a:endParaRPr>
          </a:p>
        </p:txBody>
      </p:sp>
      <p:sp>
        <p:nvSpPr>
          <p:cNvPr id="279" name="Google Shape;279;p6"/>
          <p:cNvSpPr/>
          <p:nvPr/>
        </p:nvSpPr>
        <p:spPr>
          <a:xfrm>
            <a:off x="17373600" y="9774936"/>
            <a:ext cx="731520" cy="5120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a:solidFill>
                  <a:schemeClr val="lt1"/>
                </a:solidFill>
                <a:latin typeface="Calibri"/>
                <a:ea typeface="Calibri"/>
                <a:cs typeface="Calibri"/>
                <a:sym typeface="Calibri"/>
              </a:rPr>
              <a:t>6</a:t>
            </a:r>
            <a:endParaRPr/>
          </a:p>
        </p:txBody>
      </p:sp>
      <p:sp>
        <p:nvSpPr>
          <p:cNvPr id="280" name="Google Shape;280;p6"/>
          <p:cNvSpPr/>
          <p:nvPr/>
        </p:nvSpPr>
        <p:spPr>
          <a:xfrm>
            <a:off x="4425696" y="2231136"/>
            <a:ext cx="4129548"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i="1">
                <a:solidFill>
                  <a:srgbClr val="7EC8F0"/>
                </a:solidFill>
                <a:latin typeface="Poppins"/>
                <a:ea typeface="Poppins"/>
                <a:cs typeface="Poppins"/>
                <a:sym typeface="Poppins"/>
              </a:rPr>
              <a:t>Chosen to saturate inter-pod network bandwidth — exposes propagation paths to dependent services.</a:t>
            </a:r>
            <a:endParaRPr sz="1600">
              <a:solidFill>
                <a:schemeClr val="dk1"/>
              </a:solidFill>
              <a:latin typeface="Calibri"/>
              <a:ea typeface="Calibri"/>
              <a:cs typeface="Calibri"/>
              <a:sym typeface="Calibri"/>
            </a:endParaRPr>
          </a:p>
        </p:txBody>
      </p:sp>
      <p:sp>
        <p:nvSpPr>
          <p:cNvPr id="281" name="Google Shape;281;p6"/>
          <p:cNvSpPr/>
          <p:nvPr/>
        </p:nvSpPr>
        <p:spPr>
          <a:xfrm>
            <a:off x="4425696" y="3619500"/>
            <a:ext cx="4129548"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i="1">
                <a:solidFill>
                  <a:srgbClr val="FF6B35"/>
                </a:solidFill>
                <a:latin typeface="Poppins"/>
                <a:ea typeface="Poppins"/>
                <a:cs typeface="Poppins"/>
                <a:sym typeface="Poppins"/>
              </a:rPr>
              <a:t>Chosen to spike CPU utilization — triggers resource starvation cascades detectable by L1 agents.</a:t>
            </a:r>
            <a:endParaRPr sz="1600">
              <a:solidFill>
                <a:schemeClr val="dk1"/>
              </a:solidFill>
              <a:latin typeface="Calibri"/>
              <a:ea typeface="Calibri"/>
              <a:cs typeface="Calibri"/>
              <a:sym typeface="Calibri"/>
            </a:endParaRPr>
          </a:p>
        </p:txBody>
      </p:sp>
      <p:sp>
        <p:nvSpPr>
          <p:cNvPr id="282" name="Google Shape;282;p6"/>
          <p:cNvSpPr/>
          <p:nvPr/>
        </p:nvSpPr>
        <p:spPr>
          <a:xfrm>
            <a:off x="4425696" y="5010912"/>
            <a:ext cx="4129548"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i="1">
                <a:solidFill>
                  <a:srgbClr val="F0A830"/>
                </a:solidFill>
                <a:latin typeface="Poppins"/>
                <a:ea typeface="Poppins"/>
                <a:cs typeface="Poppins"/>
                <a:sym typeface="Poppins"/>
              </a:rPr>
              <a:t>Chosen to generate PVC I/O contention:</a:t>
            </a:r>
            <a:endParaRPr/>
          </a:p>
          <a:p>
            <a:pPr marL="0" marR="0" lvl="0" indent="0" algn="l" rtl="0">
              <a:spcBef>
                <a:spcPts val="0"/>
              </a:spcBef>
              <a:spcAft>
                <a:spcPts val="0"/>
              </a:spcAft>
              <a:buNone/>
            </a:pPr>
            <a:r>
              <a:rPr lang="en-US" sz="1600" i="1">
                <a:solidFill>
                  <a:srgbClr val="F0A830"/>
                </a:solidFill>
                <a:latin typeface="Poppins"/>
                <a:ea typeface="Poppins"/>
                <a:cs typeface="Poppins"/>
                <a:sym typeface="Poppins"/>
              </a:rPr>
              <a:t>stresses storage scheduler and exposes latency chains.</a:t>
            </a:r>
            <a:endParaRPr sz="1600">
              <a:solidFill>
                <a:schemeClr val="dk1"/>
              </a:solidFill>
              <a:latin typeface="Calibri"/>
              <a:ea typeface="Calibri"/>
              <a:cs typeface="Calibri"/>
              <a:sym typeface="Calibri"/>
            </a:endParaRPr>
          </a:p>
        </p:txBody>
      </p:sp>
      <p:sp>
        <p:nvSpPr>
          <p:cNvPr id="283" name="Google Shape;283;p6"/>
          <p:cNvSpPr/>
          <p:nvPr/>
        </p:nvSpPr>
        <p:spPr>
          <a:xfrm>
            <a:off x="4425696" y="6400800"/>
            <a:ext cx="4129548"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i="1">
                <a:solidFill>
                  <a:srgbClr val="FF4444"/>
                </a:solidFill>
                <a:latin typeface="Poppins"/>
                <a:ea typeface="Poppins"/>
                <a:cs typeface="Poppins"/>
                <a:sym typeface="Poppins"/>
              </a:rPr>
              <a:t>Chosen as the terminal impact node:</a:t>
            </a:r>
            <a:endParaRPr/>
          </a:p>
          <a:p>
            <a:pPr marL="0" marR="0" lvl="0" indent="0" algn="l" rtl="0">
              <a:spcBef>
                <a:spcPts val="0"/>
              </a:spcBef>
              <a:spcAft>
                <a:spcPts val="0"/>
              </a:spcAft>
              <a:buNone/>
            </a:pPr>
            <a:r>
              <a:rPr lang="en-US" sz="1600" i="1">
                <a:solidFill>
                  <a:srgbClr val="FF4444"/>
                </a:solidFill>
                <a:latin typeface="Poppins"/>
                <a:ea typeface="Poppins"/>
                <a:cs typeface="Poppins"/>
                <a:sym typeface="Poppins"/>
              </a:rPr>
              <a:t>any upstream failure manifests here as actuation delay.</a:t>
            </a:r>
            <a:endParaRPr sz="1600">
              <a:solidFill>
                <a:schemeClr val="dk1"/>
              </a:solidFill>
              <a:latin typeface="Calibri"/>
              <a:ea typeface="Calibri"/>
              <a:cs typeface="Calibri"/>
              <a:sym typeface="Calibri"/>
            </a:endParaRPr>
          </a:p>
        </p:txBody>
      </p:sp>
      <p:grpSp>
        <p:nvGrpSpPr>
          <p:cNvPr id="284" name="Google Shape;284;p6"/>
          <p:cNvGrpSpPr/>
          <p:nvPr/>
        </p:nvGrpSpPr>
        <p:grpSpPr>
          <a:xfrm>
            <a:off x="9048725" y="1982773"/>
            <a:ext cx="9056395" cy="6625814"/>
            <a:chOff x="9048725" y="1982773"/>
            <a:chExt cx="9056395" cy="6625814"/>
          </a:xfrm>
        </p:grpSpPr>
        <p:grpSp>
          <p:nvGrpSpPr>
            <p:cNvPr id="285" name="Google Shape;285;p6"/>
            <p:cNvGrpSpPr/>
            <p:nvPr/>
          </p:nvGrpSpPr>
          <p:grpSpPr>
            <a:xfrm>
              <a:off x="9048725" y="1982773"/>
              <a:ext cx="9056395" cy="6625814"/>
              <a:chOff x="9048725" y="1982773"/>
              <a:chExt cx="9056395" cy="6625814"/>
            </a:xfrm>
          </p:grpSpPr>
          <p:grpSp>
            <p:nvGrpSpPr>
              <p:cNvPr id="286" name="Google Shape;286;p6"/>
              <p:cNvGrpSpPr/>
              <p:nvPr/>
            </p:nvGrpSpPr>
            <p:grpSpPr>
              <a:xfrm>
                <a:off x="9048725" y="1982773"/>
                <a:ext cx="9056395" cy="6625814"/>
                <a:chOff x="9048725" y="1982773"/>
                <a:chExt cx="9056395" cy="6625814"/>
              </a:xfrm>
            </p:grpSpPr>
            <p:pic>
              <p:nvPicPr>
                <p:cNvPr id="287" name="Google Shape;287;p6"/>
                <p:cNvPicPr preferRelativeResize="0"/>
                <p:nvPr/>
              </p:nvPicPr>
              <p:blipFill rotWithShape="1">
                <a:blip r:embed="rId3">
                  <a:alphaModFix/>
                </a:blip>
                <a:srcRect/>
                <a:stretch/>
              </p:blipFill>
              <p:spPr>
                <a:xfrm>
                  <a:off x="9048725" y="2706624"/>
                  <a:ext cx="8894589" cy="4802787"/>
                </a:xfrm>
                <a:prstGeom prst="rect">
                  <a:avLst/>
                </a:prstGeom>
                <a:noFill/>
                <a:ln>
                  <a:noFill/>
                </a:ln>
              </p:spPr>
            </p:pic>
            <p:pic>
              <p:nvPicPr>
                <p:cNvPr id="288" name="Google Shape;288;p6"/>
                <p:cNvPicPr preferRelativeResize="0"/>
                <p:nvPr/>
              </p:nvPicPr>
              <p:blipFill rotWithShape="1">
                <a:blip r:embed="rId4">
                  <a:alphaModFix/>
                </a:blip>
                <a:srcRect l="2028" t="37846" r="93481" b="36291"/>
                <a:stretch/>
              </p:blipFill>
              <p:spPr>
                <a:xfrm>
                  <a:off x="9144000" y="8115300"/>
                  <a:ext cx="762000" cy="352044"/>
                </a:xfrm>
                <a:prstGeom prst="rect">
                  <a:avLst/>
                </a:prstGeom>
                <a:noFill/>
                <a:ln>
                  <a:noFill/>
                </a:ln>
              </p:spPr>
            </p:pic>
            <p:sp>
              <p:nvSpPr>
                <p:cNvPr id="289" name="Google Shape;289;p6"/>
                <p:cNvSpPr/>
                <p:nvPr/>
              </p:nvSpPr>
              <p:spPr>
                <a:xfrm>
                  <a:off x="9948672" y="8153322"/>
                  <a:ext cx="2471928" cy="31402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Strong Dependency</a:t>
                  </a:r>
                  <a:endParaRPr sz="1600">
                    <a:solidFill>
                      <a:schemeClr val="dk1"/>
                    </a:solidFill>
                    <a:latin typeface="Calibri"/>
                    <a:ea typeface="Calibri"/>
                    <a:cs typeface="Calibri"/>
                    <a:sym typeface="Calibri"/>
                  </a:endParaRPr>
                </a:p>
              </p:txBody>
            </p:sp>
            <p:pic>
              <p:nvPicPr>
                <p:cNvPr id="290" name="Google Shape;290;p6"/>
                <p:cNvPicPr preferRelativeResize="0"/>
                <p:nvPr/>
              </p:nvPicPr>
              <p:blipFill rotWithShape="1">
                <a:blip r:embed="rId4">
                  <a:alphaModFix/>
                </a:blip>
                <a:srcRect l="24881" t="34868" r="70235" b="36224"/>
                <a:stretch/>
              </p:blipFill>
              <p:spPr>
                <a:xfrm>
                  <a:off x="12115800" y="8110401"/>
                  <a:ext cx="762000" cy="361842"/>
                </a:xfrm>
                <a:prstGeom prst="rect">
                  <a:avLst/>
                </a:prstGeom>
                <a:noFill/>
                <a:ln>
                  <a:noFill/>
                </a:ln>
              </p:spPr>
            </p:pic>
            <p:sp>
              <p:nvSpPr>
                <p:cNvPr id="291" name="Google Shape;291;p6"/>
                <p:cNvSpPr/>
                <p:nvPr/>
              </p:nvSpPr>
              <p:spPr>
                <a:xfrm>
                  <a:off x="12877800" y="8166479"/>
                  <a:ext cx="1752600" cy="3008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Weak/Indirect</a:t>
                  </a:r>
                  <a:endParaRPr sz="1600">
                    <a:solidFill>
                      <a:schemeClr val="dk1"/>
                    </a:solidFill>
                    <a:latin typeface="Calibri"/>
                    <a:ea typeface="Calibri"/>
                    <a:cs typeface="Calibri"/>
                    <a:sym typeface="Calibri"/>
                  </a:endParaRPr>
                </a:p>
              </p:txBody>
            </p:sp>
            <p:sp>
              <p:nvSpPr>
                <p:cNvPr id="292" name="Google Shape;292;p6"/>
                <p:cNvSpPr/>
                <p:nvPr/>
              </p:nvSpPr>
              <p:spPr>
                <a:xfrm>
                  <a:off x="15087600" y="8166479"/>
                  <a:ext cx="3017520" cy="3008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Node Size: Causal Influence</a:t>
                  </a:r>
                  <a:endParaRPr sz="1600">
                    <a:solidFill>
                      <a:schemeClr val="dk1"/>
                    </a:solidFill>
                    <a:latin typeface="Calibri"/>
                    <a:ea typeface="Calibri"/>
                    <a:cs typeface="Calibri"/>
                    <a:sym typeface="Calibri"/>
                  </a:endParaRPr>
                </a:p>
              </p:txBody>
            </p:sp>
            <p:pic>
              <p:nvPicPr>
                <p:cNvPr id="293" name="Google Shape;293;p6"/>
                <p:cNvPicPr preferRelativeResize="0"/>
                <p:nvPr/>
              </p:nvPicPr>
              <p:blipFill rotWithShape="1">
                <a:blip r:embed="rId4">
                  <a:alphaModFix/>
                </a:blip>
                <a:srcRect l="47755" t="29650" r="50000" b="26519"/>
                <a:stretch/>
              </p:blipFill>
              <p:spPr>
                <a:xfrm>
                  <a:off x="14674417" y="7985760"/>
                  <a:ext cx="397519" cy="622827"/>
                </a:xfrm>
                <a:prstGeom prst="rect">
                  <a:avLst/>
                </a:prstGeom>
                <a:noFill/>
                <a:ln>
                  <a:noFill/>
                </a:ln>
              </p:spPr>
            </p:pic>
            <p:sp>
              <p:nvSpPr>
                <p:cNvPr id="294" name="Google Shape;294;p6"/>
                <p:cNvSpPr/>
                <p:nvPr/>
              </p:nvSpPr>
              <p:spPr>
                <a:xfrm>
                  <a:off x="9144000" y="1982773"/>
                  <a:ext cx="8741664"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400" b="1">
                      <a:solidFill>
                        <a:schemeClr val="dk1"/>
                      </a:solidFill>
                      <a:latin typeface="Poppins"/>
                      <a:ea typeface="Poppins"/>
                      <a:cs typeface="Poppins"/>
                      <a:sym typeface="Poppins"/>
                    </a:rPr>
                    <a:t>Inferred Dependency Graph</a:t>
                  </a:r>
                  <a:endParaRPr sz="2400">
                    <a:solidFill>
                      <a:schemeClr val="dk1"/>
                    </a:solidFill>
                    <a:latin typeface="Calibri"/>
                    <a:ea typeface="Calibri"/>
                    <a:cs typeface="Calibri"/>
                    <a:sym typeface="Calibri"/>
                  </a:endParaRPr>
                </a:p>
              </p:txBody>
            </p:sp>
          </p:grpSp>
          <p:pic>
            <p:nvPicPr>
              <p:cNvPr id="295" name="Google Shape;295;p6"/>
              <p:cNvPicPr preferRelativeResize="0"/>
              <p:nvPr/>
            </p:nvPicPr>
            <p:blipFill rotWithShape="1">
              <a:blip r:embed="rId5">
                <a:alphaModFix/>
              </a:blip>
              <a:srcRect/>
              <a:stretch/>
            </p:blipFill>
            <p:spPr>
              <a:xfrm>
                <a:off x="9433522" y="4519400"/>
                <a:ext cx="777278" cy="308231"/>
              </a:xfrm>
              <a:prstGeom prst="rect">
                <a:avLst/>
              </a:prstGeom>
              <a:noFill/>
              <a:ln>
                <a:noFill/>
              </a:ln>
            </p:spPr>
          </p:pic>
        </p:grpSp>
        <p:sp>
          <p:nvSpPr>
            <p:cNvPr id="296" name="Google Shape;296;p6"/>
            <p:cNvSpPr/>
            <p:nvPr/>
          </p:nvSpPr>
          <p:spPr>
            <a:xfrm>
              <a:off x="9300512" y="4288536"/>
              <a:ext cx="1138888"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CE4B0A"/>
                  </a:solidFill>
                  <a:latin typeface="Poppins"/>
                  <a:ea typeface="Poppins"/>
                  <a:cs typeface="Poppins"/>
                  <a:sym typeface="Poppins"/>
                </a:rPr>
                <a:t>CPU </a:t>
              </a:r>
              <a:endParaRPr/>
            </a:p>
            <a:p>
              <a:pPr marL="0" marR="0" lvl="0" indent="0" algn="ctr" rtl="0">
                <a:spcBef>
                  <a:spcPts val="0"/>
                </a:spcBef>
                <a:spcAft>
                  <a:spcPts val="0"/>
                </a:spcAft>
                <a:buNone/>
              </a:pPr>
              <a:r>
                <a:rPr lang="en-US" sz="1400" b="1">
                  <a:solidFill>
                    <a:srgbClr val="CE4B0A"/>
                  </a:solidFill>
                  <a:latin typeface="Poppins"/>
                  <a:ea typeface="Poppins"/>
                  <a:cs typeface="Poppins"/>
                  <a:sym typeface="Poppins"/>
                </a:rPr>
                <a:t>Anomaly</a:t>
              </a:r>
              <a:endParaRPr sz="1400">
                <a:solidFill>
                  <a:srgbClr val="CE4B0A"/>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7"/>
          <p:cNvSpPr/>
          <p:nvPr/>
        </p:nvSpPr>
        <p:spPr>
          <a:xfrm>
            <a:off x="694944" y="493776"/>
            <a:ext cx="585216" cy="493776"/>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7"/>
          <p:cNvSpPr/>
          <p:nvPr/>
        </p:nvSpPr>
        <p:spPr>
          <a:xfrm>
            <a:off x="694944" y="493776"/>
            <a:ext cx="585216" cy="4937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07</a:t>
            </a:r>
            <a:endParaRPr sz="1800">
              <a:solidFill>
                <a:schemeClr val="dk1"/>
              </a:solidFill>
              <a:latin typeface="Calibri"/>
              <a:ea typeface="Calibri"/>
              <a:cs typeface="Calibri"/>
              <a:sym typeface="Calibri"/>
            </a:endParaRPr>
          </a:p>
        </p:txBody>
      </p:sp>
      <p:sp>
        <p:nvSpPr>
          <p:cNvPr id="304" name="Google Shape;304;p7"/>
          <p:cNvSpPr/>
          <p:nvPr/>
        </p:nvSpPr>
        <p:spPr>
          <a:xfrm>
            <a:off x="1426464" y="457200"/>
            <a:ext cx="1097280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3400" b="1" dirty="0">
                <a:solidFill>
                  <a:srgbClr val="1A1A1A"/>
                </a:solidFill>
                <a:latin typeface="Poppins"/>
                <a:ea typeface="Poppins"/>
                <a:cs typeface="Poppins"/>
                <a:sym typeface="Poppins"/>
              </a:rPr>
              <a:t>L1 &amp; L2: Telemetry Collection &amp; Aggregation Bus</a:t>
            </a:r>
            <a:endParaRPr sz="3400" dirty="0">
              <a:solidFill>
                <a:schemeClr val="dk1"/>
              </a:solidFill>
              <a:latin typeface="Calibri"/>
              <a:ea typeface="Calibri"/>
              <a:cs typeface="Calibri"/>
              <a:sym typeface="Calibri"/>
            </a:endParaRPr>
          </a:p>
        </p:txBody>
      </p:sp>
      <p:sp>
        <p:nvSpPr>
          <p:cNvPr id="305" name="Google Shape;305;p7"/>
          <p:cNvSpPr/>
          <p:nvPr/>
        </p:nvSpPr>
        <p:spPr>
          <a:xfrm>
            <a:off x="1426464" y="1024128"/>
            <a:ext cx="91440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a:solidFill>
                  <a:schemeClr val="dk1"/>
                </a:solidFill>
                <a:latin typeface="Poppins"/>
                <a:ea typeface="Poppins"/>
                <a:cs typeface="Poppins"/>
                <a:sym typeface="Poppins"/>
              </a:rPr>
              <a:t>Telemetry Collection Pipeline</a:t>
            </a:r>
            <a:endParaRPr sz="1800">
              <a:solidFill>
                <a:schemeClr val="dk1"/>
              </a:solidFill>
              <a:latin typeface="Calibri"/>
              <a:ea typeface="Calibri"/>
              <a:cs typeface="Calibri"/>
              <a:sym typeface="Calibri"/>
            </a:endParaRPr>
          </a:p>
        </p:txBody>
      </p:sp>
      <p:sp>
        <p:nvSpPr>
          <p:cNvPr id="306" name="Google Shape;306;p7"/>
          <p:cNvSpPr/>
          <p:nvPr/>
        </p:nvSpPr>
        <p:spPr>
          <a:xfrm>
            <a:off x="694944" y="1536193"/>
            <a:ext cx="16898112" cy="4023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7" name="Google Shape;307;p7"/>
          <p:cNvCxnSpPr/>
          <p:nvPr/>
        </p:nvCxnSpPr>
        <p:spPr>
          <a:xfrm>
            <a:off x="4059936" y="2267712"/>
            <a:ext cx="1097280" cy="0"/>
          </a:xfrm>
          <a:prstGeom prst="straightConnector1">
            <a:avLst/>
          </a:prstGeom>
          <a:noFill/>
          <a:ln w="15225" cap="flat" cmpd="sng">
            <a:solidFill>
              <a:srgbClr val="BBBBBB"/>
            </a:solidFill>
            <a:prstDash val="solid"/>
            <a:round/>
            <a:headEnd type="none" w="sm" len="sm"/>
            <a:tailEnd type="stealth" w="med" len="med"/>
          </a:ln>
        </p:spPr>
      </p:cxnSp>
      <p:sp>
        <p:nvSpPr>
          <p:cNvPr id="308" name="Google Shape;308;p7"/>
          <p:cNvSpPr/>
          <p:nvPr/>
        </p:nvSpPr>
        <p:spPr>
          <a:xfrm>
            <a:off x="4096512" y="1901952"/>
            <a:ext cx="1024128"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i="1">
                <a:solidFill>
                  <a:srgbClr val="777777"/>
                </a:solidFill>
                <a:latin typeface="Poppins"/>
                <a:ea typeface="Poppins"/>
                <a:cs typeface="Poppins"/>
                <a:sym typeface="Poppins"/>
              </a:rPr>
              <a:t>scrape</a:t>
            </a:r>
            <a:endParaRPr sz="1400">
              <a:solidFill>
                <a:schemeClr val="dk1"/>
              </a:solidFill>
              <a:latin typeface="Calibri"/>
              <a:ea typeface="Calibri"/>
              <a:cs typeface="Calibri"/>
              <a:sym typeface="Calibri"/>
            </a:endParaRPr>
          </a:p>
        </p:txBody>
      </p:sp>
      <p:cxnSp>
        <p:nvCxnSpPr>
          <p:cNvPr id="309" name="Google Shape;309;p7"/>
          <p:cNvCxnSpPr/>
          <p:nvPr/>
        </p:nvCxnSpPr>
        <p:spPr>
          <a:xfrm>
            <a:off x="8595360" y="2267712"/>
            <a:ext cx="1097280" cy="0"/>
          </a:xfrm>
          <a:prstGeom prst="straightConnector1">
            <a:avLst/>
          </a:prstGeom>
          <a:noFill/>
          <a:ln w="15225" cap="flat" cmpd="sng">
            <a:solidFill>
              <a:srgbClr val="BBBBBB"/>
            </a:solidFill>
            <a:prstDash val="solid"/>
            <a:round/>
            <a:headEnd type="none" w="sm" len="sm"/>
            <a:tailEnd type="stealth" w="med" len="med"/>
          </a:ln>
        </p:spPr>
      </p:cxnSp>
      <p:sp>
        <p:nvSpPr>
          <p:cNvPr id="310" name="Google Shape;310;p7"/>
          <p:cNvSpPr/>
          <p:nvPr/>
        </p:nvSpPr>
        <p:spPr>
          <a:xfrm>
            <a:off x="8631936" y="1901952"/>
            <a:ext cx="1024128"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i="1">
                <a:solidFill>
                  <a:srgbClr val="777777"/>
                </a:solidFill>
                <a:latin typeface="Poppins"/>
                <a:ea typeface="Poppins"/>
                <a:cs typeface="Poppins"/>
                <a:sym typeface="Poppins"/>
              </a:rPr>
              <a:t>forward</a:t>
            </a:r>
            <a:endParaRPr sz="1400">
              <a:solidFill>
                <a:schemeClr val="dk1"/>
              </a:solidFill>
              <a:latin typeface="Calibri"/>
              <a:ea typeface="Calibri"/>
              <a:cs typeface="Calibri"/>
              <a:sym typeface="Calibri"/>
            </a:endParaRPr>
          </a:p>
        </p:txBody>
      </p:sp>
      <p:cxnSp>
        <p:nvCxnSpPr>
          <p:cNvPr id="311" name="Google Shape;311;p7"/>
          <p:cNvCxnSpPr/>
          <p:nvPr/>
        </p:nvCxnSpPr>
        <p:spPr>
          <a:xfrm>
            <a:off x="13130784" y="2267712"/>
            <a:ext cx="1097280" cy="0"/>
          </a:xfrm>
          <a:prstGeom prst="straightConnector1">
            <a:avLst/>
          </a:prstGeom>
          <a:noFill/>
          <a:ln w="15225" cap="flat" cmpd="sng">
            <a:solidFill>
              <a:srgbClr val="BBBBBB"/>
            </a:solidFill>
            <a:prstDash val="solid"/>
            <a:round/>
            <a:headEnd type="none" w="sm" len="sm"/>
            <a:tailEnd type="stealth" w="med" len="med"/>
          </a:ln>
        </p:spPr>
      </p:cxnSp>
      <p:sp>
        <p:nvSpPr>
          <p:cNvPr id="312" name="Google Shape;312;p7"/>
          <p:cNvSpPr/>
          <p:nvPr/>
        </p:nvSpPr>
        <p:spPr>
          <a:xfrm>
            <a:off x="13167360" y="1901952"/>
            <a:ext cx="1024128"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i="1">
                <a:solidFill>
                  <a:srgbClr val="777777"/>
                </a:solidFill>
                <a:latin typeface="Poppins"/>
                <a:ea typeface="Poppins"/>
                <a:cs typeface="Poppins"/>
                <a:sym typeface="Poppins"/>
              </a:rPr>
              <a:t>normalize</a:t>
            </a:r>
            <a:endParaRPr sz="1400">
              <a:solidFill>
                <a:schemeClr val="dk1"/>
              </a:solidFill>
              <a:latin typeface="Calibri"/>
              <a:ea typeface="Calibri"/>
              <a:cs typeface="Calibri"/>
              <a:sym typeface="Calibri"/>
            </a:endParaRPr>
          </a:p>
        </p:txBody>
      </p:sp>
      <p:sp>
        <p:nvSpPr>
          <p:cNvPr id="313" name="Google Shape;313;p7"/>
          <p:cNvSpPr/>
          <p:nvPr/>
        </p:nvSpPr>
        <p:spPr>
          <a:xfrm>
            <a:off x="768096" y="1865376"/>
            <a:ext cx="3291840" cy="950976"/>
          </a:xfrm>
          <a:prstGeom prst="rect">
            <a:avLst/>
          </a:prstGeom>
          <a:solidFill>
            <a:srgbClr val="E8E8E8"/>
          </a:solidFill>
          <a:ln w="12700"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694944" y="1792224"/>
            <a:ext cx="3291840" cy="950976"/>
          </a:xfrm>
          <a:prstGeom prst="rect">
            <a:avLst/>
          </a:prstGeom>
          <a:solidFill>
            <a:srgbClr val="FFFFFF"/>
          </a:solidFill>
          <a:ln w="15225"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694944" y="1792224"/>
            <a:ext cx="3291840" cy="73152"/>
          </a:xfrm>
          <a:prstGeom prst="rect">
            <a:avLst/>
          </a:prstGeom>
          <a:solidFill>
            <a:srgbClr val="1565A0"/>
          </a:solidFill>
          <a:ln w="1270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7"/>
          <p:cNvSpPr/>
          <p:nvPr/>
        </p:nvSpPr>
        <p:spPr>
          <a:xfrm>
            <a:off x="914400" y="1920240"/>
            <a:ext cx="2926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100" b="1">
                <a:solidFill>
                  <a:srgbClr val="1565A0"/>
                </a:solidFill>
                <a:latin typeface="Poppins"/>
                <a:ea typeface="Poppins"/>
                <a:cs typeface="Poppins"/>
                <a:sym typeface="Poppins"/>
              </a:rPr>
              <a:t>Prometheus</a:t>
            </a:r>
            <a:endParaRPr sz="2100">
              <a:solidFill>
                <a:schemeClr val="dk1"/>
              </a:solidFill>
              <a:latin typeface="Calibri"/>
              <a:ea typeface="Calibri"/>
              <a:cs typeface="Calibri"/>
              <a:sym typeface="Calibri"/>
            </a:endParaRPr>
          </a:p>
        </p:txBody>
      </p:sp>
      <p:sp>
        <p:nvSpPr>
          <p:cNvPr id="317" name="Google Shape;317;p7"/>
          <p:cNvSpPr/>
          <p:nvPr/>
        </p:nvSpPr>
        <p:spPr>
          <a:xfrm>
            <a:off x="914400" y="2340864"/>
            <a:ext cx="29260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rgbClr val="777777"/>
                </a:solidFill>
                <a:latin typeface="Poppins"/>
                <a:ea typeface="Poppins"/>
                <a:cs typeface="Poppins"/>
                <a:sym typeface="Poppins"/>
              </a:rPr>
              <a:t>Resource metrics</a:t>
            </a:r>
            <a:endParaRPr sz="1600">
              <a:solidFill>
                <a:schemeClr val="dk1"/>
              </a:solidFill>
              <a:latin typeface="Calibri"/>
              <a:ea typeface="Calibri"/>
              <a:cs typeface="Calibri"/>
              <a:sym typeface="Calibri"/>
            </a:endParaRPr>
          </a:p>
        </p:txBody>
      </p:sp>
      <p:sp>
        <p:nvSpPr>
          <p:cNvPr id="318" name="Google Shape;318;p7"/>
          <p:cNvSpPr/>
          <p:nvPr/>
        </p:nvSpPr>
        <p:spPr>
          <a:xfrm>
            <a:off x="5303520" y="1865376"/>
            <a:ext cx="3291840" cy="950976"/>
          </a:xfrm>
          <a:prstGeom prst="rect">
            <a:avLst/>
          </a:prstGeom>
          <a:solidFill>
            <a:srgbClr val="E8E8E8"/>
          </a:solidFill>
          <a:ln w="12700"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5230368" y="1792224"/>
            <a:ext cx="3291840" cy="950976"/>
          </a:xfrm>
          <a:prstGeom prst="rect">
            <a:avLst/>
          </a:prstGeom>
          <a:solidFill>
            <a:srgbClr val="FFFFFF"/>
          </a:solidFill>
          <a:ln w="15225" cap="flat" cmpd="sng">
            <a:solidFill>
              <a:srgbClr val="7B3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5230368" y="1792224"/>
            <a:ext cx="3291840" cy="73152"/>
          </a:xfrm>
          <a:prstGeom prst="rect">
            <a:avLst/>
          </a:prstGeom>
          <a:solidFill>
            <a:srgbClr val="7B3F00"/>
          </a:solidFill>
          <a:ln w="12700" cap="flat" cmpd="sng">
            <a:solidFill>
              <a:srgbClr val="7B3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7"/>
          <p:cNvSpPr/>
          <p:nvPr/>
        </p:nvSpPr>
        <p:spPr>
          <a:xfrm>
            <a:off x="5449824" y="1920240"/>
            <a:ext cx="2926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100" b="1">
                <a:solidFill>
                  <a:srgbClr val="7B3F00"/>
                </a:solidFill>
                <a:latin typeface="Poppins"/>
                <a:ea typeface="Poppins"/>
                <a:cs typeface="Poppins"/>
                <a:sym typeface="Poppins"/>
              </a:rPr>
              <a:t>Loki + Promtail</a:t>
            </a:r>
            <a:endParaRPr sz="2100">
              <a:solidFill>
                <a:schemeClr val="dk1"/>
              </a:solidFill>
              <a:latin typeface="Calibri"/>
              <a:ea typeface="Calibri"/>
              <a:cs typeface="Calibri"/>
              <a:sym typeface="Calibri"/>
            </a:endParaRPr>
          </a:p>
        </p:txBody>
      </p:sp>
      <p:sp>
        <p:nvSpPr>
          <p:cNvPr id="322" name="Google Shape;322;p7"/>
          <p:cNvSpPr/>
          <p:nvPr/>
        </p:nvSpPr>
        <p:spPr>
          <a:xfrm>
            <a:off x="5449824" y="2340864"/>
            <a:ext cx="29260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rgbClr val="777777"/>
                </a:solidFill>
                <a:latin typeface="Poppins"/>
                <a:ea typeface="Poppins"/>
                <a:cs typeface="Poppins"/>
                <a:sym typeface="Poppins"/>
              </a:rPr>
              <a:t>Log aggregation</a:t>
            </a:r>
            <a:endParaRPr sz="1600">
              <a:solidFill>
                <a:schemeClr val="dk1"/>
              </a:solidFill>
              <a:latin typeface="Calibri"/>
              <a:ea typeface="Calibri"/>
              <a:cs typeface="Calibri"/>
              <a:sym typeface="Calibri"/>
            </a:endParaRPr>
          </a:p>
        </p:txBody>
      </p:sp>
      <p:sp>
        <p:nvSpPr>
          <p:cNvPr id="323" name="Google Shape;323;p7"/>
          <p:cNvSpPr/>
          <p:nvPr/>
        </p:nvSpPr>
        <p:spPr>
          <a:xfrm>
            <a:off x="9838944" y="1865376"/>
            <a:ext cx="3291840" cy="950976"/>
          </a:xfrm>
          <a:prstGeom prst="rect">
            <a:avLst/>
          </a:prstGeom>
          <a:solidFill>
            <a:srgbClr val="E8E8E8"/>
          </a:solidFill>
          <a:ln w="12700"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a:off x="9765792" y="1792224"/>
            <a:ext cx="3291840" cy="950976"/>
          </a:xfrm>
          <a:prstGeom prst="rect">
            <a:avLst/>
          </a:prstGeom>
          <a:solidFill>
            <a:srgbClr val="FFFFFF"/>
          </a:solidFill>
          <a:ln w="15225"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a:off x="9765792" y="1792224"/>
            <a:ext cx="3291840" cy="73152"/>
          </a:xfrm>
          <a:prstGeom prst="rect">
            <a:avLst/>
          </a:prstGeom>
          <a:solidFill>
            <a:srgbClr val="1A6B3C"/>
          </a:solidFill>
          <a:ln w="1270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a:off x="9985248" y="1920240"/>
            <a:ext cx="2926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100" b="1">
                <a:solidFill>
                  <a:srgbClr val="1A6B3C"/>
                </a:solidFill>
                <a:latin typeface="Poppins"/>
                <a:ea typeface="Poppins"/>
                <a:cs typeface="Poppins"/>
                <a:sym typeface="Poppins"/>
              </a:rPr>
              <a:t>eBPF Tracing</a:t>
            </a:r>
            <a:endParaRPr sz="2100">
              <a:solidFill>
                <a:schemeClr val="dk1"/>
              </a:solidFill>
              <a:latin typeface="Calibri"/>
              <a:ea typeface="Calibri"/>
              <a:cs typeface="Calibri"/>
              <a:sym typeface="Calibri"/>
            </a:endParaRPr>
          </a:p>
        </p:txBody>
      </p:sp>
      <p:sp>
        <p:nvSpPr>
          <p:cNvPr id="327" name="Google Shape;327;p7"/>
          <p:cNvSpPr/>
          <p:nvPr/>
        </p:nvSpPr>
        <p:spPr>
          <a:xfrm>
            <a:off x="9985248" y="2340864"/>
            <a:ext cx="29260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rgbClr val="777777"/>
                </a:solidFill>
                <a:latin typeface="Poppins"/>
                <a:ea typeface="Poppins"/>
                <a:cs typeface="Poppins"/>
                <a:sym typeface="Poppins"/>
              </a:rPr>
              <a:t>Kernel-level netvis</a:t>
            </a:r>
            <a:endParaRPr sz="1600">
              <a:solidFill>
                <a:schemeClr val="dk1"/>
              </a:solidFill>
              <a:latin typeface="Calibri"/>
              <a:ea typeface="Calibri"/>
              <a:cs typeface="Calibri"/>
              <a:sym typeface="Calibri"/>
            </a:endParaRPr>
          </a:p>
        </p:txBody>
      </p:sp>
      <p:sp>
        <p:nvSpPr>
          <p:cNvPr id="328" name="Google Shape;328;p7"/>
          <p:cNvSpPr/>
          <p:nvPr/>
        </p:nvSpPr>
        <p:spPr>
          <a:xfrm>
            <a:off x="14374368" y="1865376"/>
            <a:ext cx="3291840" cy="950976"/>
          </a:xfrm>
          <a:prstGeom prst="rect">
            <a:avLst/>
          </a:prstGeom>
          <a:solidFill>
            <a:srgbClr val="E8E8E8"/>
          </a:solidFill>
          <a:ln w="12700" cap="flat" cmpd="sng">
            <a:solidFill>
              <a:srgbClr val="E8E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14301216" y="1792224"/>
            <a:ext cx="3291840" cy="950976"/>
          </a:xfrm>
          <a:prstGeom prst="rect">
            <a:avLst/>
          </a:prstGeom>
          <a:solidFill>
            <a:srgbClr val="FFFFFF"/>
          </a:solidFill>
          <a:ln w="1522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14301216" y="1792224"/>
            <a:ext cx="3291840" cy="73152"/>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7"/>
          <p:cNvSpPr/>
          <p:nvPr/>
        </p:nvSpPr>
        <p:spPr>
          <a:xfrm>
            <a:off x="14520672" y="1920240"/>
            <a:ext cx="2926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100" b="1">
                <a:solidFill>
                  <a:srgbClr val="CC0000"/>
                </a:solidFill>
                <a:latin typeface="Poppins"/>
                <a:ea typeface="Poppins"/>
                <a:cs typeface="Poppins"/>
                <a:sym typeface="Poppins"/>
              </a:rPr>
              <a:t>Aggregation Engine</a:t>
            </a:r>
            <a:endParaRPr sz="2100">
              <a:solidFill>
                <a:schemeClr val="dk1"/>
              </a:solidFill>
              <a:latin typeface="Calibri"/>
              <a:ea typeface="Calibri"/>
              <a:cs typeface="Calibri"/>
              <a:sym typeface="Calibri"/>
            </a:endParaRPr>
          </a:p>
        </p:txBody>
      </p:sp>
      <p:sp>
        <p:nvSpPr>
          <p:cNvPr id="332" name="Google Shape;332;p7"/>
          <p:cNvSpPr/>
          <p:nvPr/>
        </p:nvSpPr>
        <p:spPr>
          <a:xfrm>
            <a:off x="14520672" y="2340864"/>
            <a:ext cx="292608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a:solidFill>
                  <a:srgbClr val="777777"/>
                </a:solidFill>
                <a:latin typeface="Poppins"/>
                <a:ea typeface="Poppins"/>
                <a:cs typeface="Poppins"/>
                <a:sym typeface="Poppins"/>
              </a:rPr>
              <a:t>Normalization layer</a:t>
            </a:r>
            <a:endParaRPr sz="1600">
              <a:solidFill>
                <a:schemeClr val="dk1"/>
              </a:solidFill>
              <a:latin typeface="Calibri"/>
              <a:ea typeface="Calibri"/>
              <a:cs typeface="Calibri"/>
              <a:sym typeface="Calibri"/>
            </a:endParaRPr>
          </a:p>
        </p:txBody>
      </p:sp>
      <p:cxnSp>
        <p:nvCxnSpPr>
          <p:cNvPr id="333" name="Google Shape;333;p7"/>
          <p:cNvCxnSpPr/>
          <p:nvPr/>
        </p:nvCxnSpPr>
        <p:spPr>
          <a:xfrm>
            <a:off x="2340864" y="2743200"/>
            <a:ext cx="0" cy="329184"/>
          </a:xfrm>
          <a:prstGeom prst="straightConnector1">
            <a:avLst/>
          </a:prstGeom>
          <a:noFill/>
          <a:ln w="10150" cap="flat" cmpd="sng">
            <a:solidFill>
              <a:srgbClr val="1565A0"/>
            </a:solidFill>
            <a:prstDash val="dot"/>
            <a:round/>
            <a:headEnd type="none" w="sm" len="sm"/>
            <a:tailEnd type="none" w="sm" len="sm"/>
          </a:ln>
        </p:spPr>
      </p:cxnSp>
      <p:sp>
        <p:nvSpPr>
          <p:cNvPr id="334" name="Google Shape;334;p7"/>
          <p:cNvSpPr/>
          <p:nvPr/>
        </p:nvSpPr>
        <p:spPr>
          <a:xfrm>
            <a:off x="694944" y="3072384"/>
            <a:ext cx="3291840" cy="4535424"/>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7"/>
          <p:cNvSpPr/>
          <p:nvPr/>
        </p:nvSpPr>
        <p:spPr>
          <a:xfrm>
            <a:off x="694945" y="3072384"/>
            <a:ext cx="69494" cy="4535424"/>
          </a:xfrm>
          <a:prstGeom prst="rect">
            <a:avLst/>
          </a:prstGeom>
          <a:solidFill>
            <a:srgbClr val="1565A0"/>
          </a:solidFill>
          <a:ln w="1270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7"/>
          <p:cNvSpPr/>
          <p:nvPr/>
        </p:nvSpPr>
        <p:spPr>
          <a:xfrm>
            <a:off x="877824" y="3438144"/>
            <a:ext cx="146304" cy="146304"/>
          </a:xfrm>
          <a:prstGeom prst="ellipse">
            <a:avLst/>
          </a:prstGeom>
          <a:solidFill>
            <a:srgbClr val="1565A0"/>
          </a:solidFill>
          <a:ln w="1270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1133856" y="3291840"/>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CPU utilization</a:t>
            </a:r>
            <a:endParaRPr sz="1700">
              <a:solidFill>
                <a:schemeClr val="dk1"/>
              </a:solidFill>
              <a:latin typeface="Calibri"/>
              <a:ea typeface="Calibri"/>
              <a:cs typeface="Calibri"/>
              <a:sym typeface="Calibri"/>
            </a:endParaRPr>
          </a:p>
        </p:txBody>
      </p:sp>
      <p:sp>
        <p:nvSpPr>
          <p:cNvPr id="338" name="Google Shape;338;p7"/>
          <p:cNvSpPr/>
          <p:nvPr/>
        </p:nvSpPr>
        <p:spPr>
          <a:xfrm>
            <a:off x="1133856" y="3730752"/>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per-pod &amp; node</a:t>
            </a:r>
            <a:endParaRPr sz="1500">
              <a:solidFill>
                <a:schemeClr val="dk1"/>
              </a:solidFill>
              <a:latin typeface="Calibri"/>
              <a:ea typeface="Calibri"/>
              <a:cs typeface="Calibri"/>
              <a:sym typeface="Calibri"/>
            </a:endParaRPr>
          </a:p>
        </p:txBody>
      </p:sp>
      <p:sp>
        <p:nvSpPr>
          <p:cNvPr id="339" name="Google Shape;339;p7"/>
          <p:cNvSpPr/>
          <p:nvPr/>
        </p:nvSpPr>
        <p:spPr>
          <a:xfrm>
            <a:off x="877824" y="4462272"/>
            <a:ext cx="146304" cy="146304"/>
          </a:xfrm>
          <a:prstGeom prst="ellipse">
            <a:avLst/>
          </a:prstGeom>
          <a:solidFill>
            <a:srgbClr val="1565A0"/>
          </a:solidFill>
          <a:ln w="1270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7"/>
          <p:cNvSpPr/>
          <p:nvPr/>
        </p:nvSpPr>
        <p:spPr>
          <a:xfrm>
            <a:off x="1133856" y="4315968"/>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Memory pressure</a:t>
            </a:r>
            <a:endParaRPr sz="1700">
              <a:solidFill>
                <a:schemeClr val="dk1"/>
              </a:solidFill>
              <a:latin typeface="Calibri"/>
              <a:ea typeface="Calibri"/>
              <a:cs typeface="Calibri"/>
              <a:sym typeface="Calibri"/>
            </a:endParaRPr>
          </a:p>
        </p:txBody>
      </p:sp>
      <p:sp>
        <p:nvSpPr>
          <p:cNvPr id="341" name="Google Shape;341;p7"/>
          <p:cNvSpPr/>
          <p:nvPr/>
        </p:nvSpPr>
        <p:spPr>
          <a:xfrm>
            <a:off x="1133856" y="4754880"/>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RSS + working set</a:t>
            </a:r>
            <a:endParaRPr sz="1500">
              <a:solidFill>
                <a:schemeClr val="dk1"/>
              </a:solidFill>
              <a:latin typeface="Calibri"/>
              <a:ea typeface="Calibri"/>
              <a:cs typeface="Calibri"/>
              <a:sym typeface="Calibri"/>
            </a:endParaRPr>
          </a:p>
        </p:txBody>
      </p:sp>
      <p:sp>
        <p:nvSpPr>
          <p:cNvPr id="342" name="Google Shape;342;p7"/>
          <p:cNvSpPr/>
          <p:nvPr/>
        </p:nvSpPr>
        <p:spPr>
          <a:xfrm>
            <a:off x="877824" y="5486400"/>
            <a:ext cx="146304" cy="146304"/>
          </a:xfrm>
          <a:prstGeom prst="ellipse">
            <a:avLst/>
          </a:prstGeom>
          <a:solidFill>
            <a:srgbClr val="1565A0"/>
          </a:solidFill>
          <a:ln w="1270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1133856" y="5340096"/>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PVC usage</a:t>
            </a:r>
            <a:endParaRPr sz="1700">
              <a:solidFill>
                <a:schemeClr val="dk1"/>
              </a:solidFill>
              <a:latin typeface="Calibri"/>
              <a:ea typeface="Calibri"/>
              <a:cs typeface="Calibri"/>
              <a:sym typeface="Calibri"/>
            </a:endParaRPr>
          </a:p>
        </p:txBody>
      </p:sp>
      <p:sp>
        <p:nvSpPr>
          <p:cNvPr id="344" name="Google Shape;344;p7"/>
          <p:cNvSpPr/>
          <p:nvPr/>
        </p:nvSpPr>
        <p:spPr>
          <a:xfrm>
            <a:off x="1133856" y="5779008"/>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capacity + I/O</a:t>
            </a:r>
            <a:endParaRPr sz="1500">
              <a:solidFill>
                <a:schemeClr val="dk1"/>
              </a:solidFill>
              <a:latin typeface="Calibri"/>
              <a:ea typeface="Calibri"/>
              <a:cs typeface="Calibri"/>
              <a:sym typeface="Calibri"/>
            </a:endParaRPr>
          </a:p>
        </p:txBody>
      </p:sp>
      <p:sp>
        <p:nvSpPr>
          <p:cNvPr id="345" name="Google Shape;345;p7"/>
          <p:cNvSpPr/>
          <p:nvPr/>
        </p:nvSpPr>
        <p:spPr>
          <a:xfrm>
            <a:off x="877824" y="6510528"/>
            <a:ext cx="146304" cy="146304"/>
          </a:xfrm>
          <a:prstGeom prst="ellipse">
            <a:avLst/>
          </a:prstGeom>
          <a:solidFill>
            <a:srgbClr val="1565A0"/>
          </a:solidFill>
          <a:ln w="1270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1133856" y="6364224"/>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Node utilization</a:t>
            </a:r>
            <a:endParaRPr sz="1700">
              <a:solidFill>
                <a:schemeClr val="dk1"/>
              </a:solidFill>
              <a:latin typeface="Calibri"/>
              <a:ea typeface="Calibri"/>
              <a:cs typeface="Calibri"/>
              <a:sym typeface="Calibri"/>
            </a:endParaRPr>
          </a:p>
        </p:txBody>
      </p:sp>
      <p:sp>
        <p:nvSpPr>
          <p:cNvPr id="347" name="Google Shape;347;p7"/>
          <p:cNvSpPr/>
          <p:nvPr/>
        </p:nvSpPr>
        <p:spPr>
          <a:xfrm>
            <a:off x="1133856" y="6803136"/>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allocatable vs used</a:t>
            </a:r>
            <a:endParaRPr sz="1500">
              <a:solidFill>
                <a:schemeClr val="dk1"/>
              </a:solidFill>
              <a:latin typeface="Calibri"/>
              <a:ea typeface="Calibri"/>
              <a:cs typeface="Calibri"/>
              <a:sym typeface="Calibri"/>
            </a:endParaRPr>
          </a:p>
        </p:txBody>
      </p:sp>
      <p:sp>
        <p:nvSpPr>
          <p:cNvPr id="348" name="Google Shape;348;p7"/>
          <p:cNvSpPr/>
          <p:nvPr/>
        </p:nvSpPr>
        <p:spPr>
          <a:xfrm>
            <a:off x="694944" y="7132320"/>
            <a:ext cx="3291840" cy="475488"/>
          </a:xfrm>
          <a:prstGeom prst="rect">
            <a:avLst/>
          </a:prstGeom>
          <a:solidFill>
            <a:srgbClr val="E8E8E8"/>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7"/>
          <p:cNvSpPr/>
          <p:nvPr/>
        </p:nvSpPr>
        <p:spPr>
          <a:xfrm>
            <a:off x="694943" y="7138416"/>
            <a:ext cx="3291841"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i="1">
                <a:solidFill>
                  <a:schemeClr val="dk1"/>
                </a:solidFill>
                <a:latin typeface="Poppins"/>
                <a:ea typeface="Poppins"/>
                <a:cs typeface="Poppins"/>
                <a:sym typeface="Poppins"/>
              </a:rPr>
              <a:t>Scrape interval of 15s; meaning no I/O storms</a:t>
            </a:r>
            <a:endParaRPr sz="1200">
              <a:solidFill>
                <a:schemeClr val="dk1"/>
              </a:solidFill>
              <a:latin typeface="Calibri"/>
              <a:ea typeface="Calibri"/>
              <a:cs typeface="Calibri"/>
              <a:sym typeface="Calibri"/>
            </a:endParaRPr>
          </a:p>
        </p:txBody>
      </p:sp>
      <p:cxnSp>
        <p:nvCxnSpPr>
          <p:cNvPr id="350" name="Google Shape;350;p7"/>
          <p:cNvCxnSpPr/>
          <p:nvPr/>
        </p:nvCxnSpPr>
        <p:spPr>
          <a:xfrm>
            <a:off x="6876288" y="2743200"/>
            <a:ext cx="0" cy="329184"/>
          </a:xfrm>
          <a:prstGeom prst="straightConnector1">
            <a:avLst/>
          </a:prstGeom>
          <a:noFill/>
          <a:ln w="10150" cap="flat" cmpd="sng">
            <a:solidFill>
              <a:srgbClr val="7B3F00"/>
            </a:solidFill>
            <a:prstDash val="dot"/>
            <a:round/>
            <a:headEnd type="none" w="sm" len="sm"/>
            <a:tailEnd type="none" w="sm" len="sm"/>
          </a:ln>
        </p:spPr>
      </p:cxnSp>
      <p:sp>
        <p:nvSpPr>
          <p:cNvPr id="351" name="Google Shape;351;p7"/>
          <p:cNvSpPr/>
          <p:nvPr/>
        </p:nvSpPr>
        <p:spPr>
          <a:xfrm>
            <a:off x="5230368" y="3072384"/>
            <a:ext cx="3291840" cy="4535424"/>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5230369" y="3072384"/>
            <a:ext cx="69494" cy="4535424"/>
          </a:xfrm>
          <a:prstGeom prst="rect">
            <a:avLst/>
          </a:prstGeom>
          <a:solidFill>
            <a:srgbClr val="7B3F00"/>
          </a:solidFill>
          <a:ln w="12700" cap="flat" cmpd="sng">
            <a:solidFill>
              <a:srgbClr val="7B3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7"/>
          <p:cNvSpPr/>
          <p:nvPr/>
        </p:nvSpPr>
        <p:spPr>
          <a:xfrm>
            <a:off x="5413248" y="3438144"/>
            <a:ext cx="146304" cy="146304"/>
          </a:xfrm>
          <a:prstGeom prst="ellipse">
            <a:avLst/>
          </a:prstGeom>
          <a:solidFill>
            <a:srgbClr val="7B3F00"/>
          </a:solidFill>
          <a:ln w="12700" cap="flat" cmpd="sng">
            <a:solidFill>
              <a:srgbClr val="7B3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7"/>
          <p:cNvSpPr/>
          <p:nvPr/>
        </p:nvSpPr>
        <p:spPr>
          <a:xfrm>
            <a:off x="5669280" y="3291840"/>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Container logs</a:t>
            </a:r>
            <a:endParaRPr sz="1700">
              <a:solidFill>
                <a:schemeClr val="dk1"/>
              </a:solidFill>
              <a:latin typeface="Calibri"/>
              <a:ea typeface="Calibri"/>
              <a:cs typeface="Calibri"/>
              <a:sym typeface="Calibri"/>
            </a:endParaRPr>
          </a:p>
        </p:txBody>
      </p:sp>
      <p:sp>
        <p:nvSpPr>
          <p:cNvPr id="355" name="Google Shape;355;p7"/>
          <p:cNvSpPr/>
          <p:nvPr/>
        </p:nvSpPr>
        <p:spPr>
          <a:xfrm>
            <a:off x="5669280" y="3730752"/>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DaemonSet via Promtail</a:t>
            </a:r>
            <a:endParaRPr sz="1500">
              <a:solidFill>
                <a:schemeClr val="dk1"/>
              </a:solidFill>
              <a:latin typeface="Calibri"/>
              <a:ea typeface="Calibri"/>
              <a:cs typeface="Calibri"/>
              <a:sym typeface="Calibri"/>
            </a:endParaRPr>
          </a:p>
        </p:txBody>
      </p:sp>
      <p:sp>
        <p:nvSpPr>
          <p:cNvPr id="356" name="Google Shape;356;p7"/>
          <p:cNvSpPr/>
          <p:nvPr/>
        </p:nvSpPr>
        <p:spPr>
          <a:xfrm>
            <a:off x="5413248" y="4462272"/>
            <a:ext cx="146304" cy="146304"/>
          </a:xfrm>
          <a:prstGeom prst="ellipse">
            <a:avLst/>
          </a:prstGeom>
          <a:solidFill>
            <a:srgbClr val="7B3F00"/>
          </a:solidFill>
          <a:ln w="12700" cap="flat" cmpd="sng">
            <a:solidFill>
              <a:srgbClr val="7B3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5669280" y="4315968"/>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Error extraction</a:t>
            </a:r>
            <a:endParaRPr sz="1700">
              <a:solidFill>
                <a:schemeClr val="dk1"/>
              </a:solidFill>
              <a:latin typeface="Calibri"/>
              <a:ea typeface="Calibri"/>
              <a:cs typeface="Calibri"/>
              <a:sym typeface="Calibri"/>
            </a:endParaRPr>
          </a:p>
        </p:txBody>
      </p:sp>
      <p:sp>
        <p:nvSpPr>
          <p:cNvPr id="358" name="Google Shape;358;p7"/>
          <p:cNvSpPr/>
          <p:nvPr/>
        </p:nvSpPr>
        <p:spPr>
          <a:xfrm>
            <a:off x="5669280" y="4754880"/>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regex + level filters</a:t>
            </a:r>
            <a:endParaRPr sz="1500">
              <a:solidFill>
                <a:schemeClr val="dk1"/>
              </a:solidFill>
              <a:latin typeface="Calibri"/>
              <a:ea typeface="Calibri"/>
              <a:cs typeface="Calibri"/>
              <a:sym typeface="Calibri"/>
            </a:endParaRPr>
          </a:p>
        </p:txBody>
      </p:sp>
      <p:sp>
        <p:nvSpPr>
          <p:cNvPr id="359" name="Google Shape;359;p7"/>
          <p:cNvSpPr/>
          <p:nvPr/>
        </p:nvSpPr>
        <p:spPr>
          <a:xfrm>
            <a:off x="5413248" y="5486400"/>
            <a:ext cx="146304" cy="146304"/>
          </a:xfrm>
          <a:prstGeom prst="ellipse">
            <a:avLst/>
          </a:prstGeom>
          <a:solidFill>
            <a:srgbClr val="7B3F00"/>
          </a:solidFill>
          <a:ln w="12700" cap="flat" cmpd="sng">
            <a:solidFill>
              <a:srgbClr val="7B3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669280" y="5340096"/>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Log aggregation</a:t>
            </a:r>
            <a:endParaRPr sz="1700">
              <a:solidFill>
                <a:schemeClr val="dk1"/>
              </a:solidFill>
              <a:latin typeface="Calibri"/>
              <a:ea typeface="Calibri"/>
              <a:cs typeface="Calibri"/>
              <a:sym typeface="Calibri"/>
            </a:endParaRPr>
          </a:p>
        </p:txBody>
      </p:sp>
      <p:sp>
        <p:nvSpPr>
          <p:cNvPr id="361" name="Google Shape;361;p7"/>
          <p:cNvSpPr/>
          <p:nvPr/>
        </p:nvSpPr>
        <p:spPr>
          <a:xfrm>
            <a:off x="5669280" y="5779008"/>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per-namespace streams</a:t>
            </a:r>
            <a:endParaRPr sz="1500">
              <a:solidFill>
                <a:schemeClr val="dk1"/>
              </a:solidFill>
              <a:latin typeface="Calibri"/>
              <a:ea typeface="Calibri"/>
              <a:cs typeface="Calibri"/>
              <a:sym typeface="Calibri"/>
            </a:endParaRPr>
          </a:p>
        </p:txBody>
      </p:sp>
      <p:sp>
        <p:nvSpPr>
          <p:cNvPr id="362" name="Google Shape;362;p7"/>
          <p:cNvSpPr/>
          <p:nvPr/>
        </p:nvSpPr>
        <p:spPr>
          <a:xfrm>
            <a:off x="5413248" y="6510528"/>
            <a:ext cx="146304" cy="146304"/>
          </a:xfrm>
          <a:prstGeom prst="ellipse">
            <a:avLst/>
          </a:prstGeom>
          <a:solidFill>
            <a:srgbClr val="7B3F00"/>
          </a:solidFill>
          <a:ln w="12700" cap="flat" cmpd="sng">
            <a:solidFill>
              <a:srgbClr val="7B3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7"/>
          <p:cNvSpPr/>
          <p:nvPr/>
        </p:nvSpPr>
        <p:spPr>
          <a:xfrm>
            <a:off x="5669280" y="6364224"/>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Anomaly signals</a:t>
            </a:r>
            <a:endParaRPr sz="1700">
              <a:solidFill>
                <a:schemeClr val="dk1"/>
              </a:solidFill>
              <a:latin typeface="Calibri"/>
              <a:ea typeface="Calibri"/>
              <a:cs typeface="Calibri"/>
              <a:sym typeface="Calibri"/>
            </a:endParaRPr>
          </a:p>
        </p:txBody>
      </p:sp>
      <p:sp>
        <p:nvSpPr>
          <p:cNvPr id="364" name="Google Shape;364;p7"/>
          <p:cNvSpPr/>
          <p:nvPr/>
        </p:nvSpPr>
        <p:spPr>
          <a:xfrm>
            <a:off x="5669280" y="6803136"/>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crash / OOM / timeout</a:t>
            </a:r>
            <a:endParaRPr sz="1500">
              <a:solidFill>
                <a:schemeClr val="dk1"/>
              </a:solidFill>
              <a:latin typeface="Calibri"/>
              <a:ea typeface="Calibri"/>
              <a:cs typeface="Calibri"/>
              <a:sym typeface="Calibri"/>
            </a:endParaRPr>
          </a:p>
        </p:txBody>
      </p:sp>
      <p:sp>
        <p:nvSpPr>
          <p:cNvPr id="365" name="Google Shape;365;p7"/>
          <p:cNvSpPr/>
          <p:nvPr/>
        </p:nvSpPr>
        <p:spPr>
          <a:xfrm>
            <a:off x="5230368" y="7132320"/>
            <a:ext cx="3291840" cy="475488"/>
          </a:xfrm>
          <a:prstGeom prst="rect">
            <a:avLst/>
          </a:prstGeom>
          <a:solidFill>
            <a:srgbClr val="E8E8E8"/>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7"/>
          <p:cNvSpPr/>
          <p:nvPr/>
        </p:nvSpPr>
        <p:spPr>
          <a:xfrm>
            <a:off x="5230367" y="7132320"/>
            <a:ext cx="3291840"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i="1">
                <a:solidFill>
                  <a:schemeClr val="dk1"/>
                </a:solidFill>
                <a:latin typeface="Poppins"/>
                <a:ea typeface="Poppins"/>
                <a:cs typeface="Poppins"/>
                <a:sym typeface="Poppins"/>
              </a:rPr>
              <a:t>Push-based log shipping</a:t>
            </a:r>
            <a:endParaRPr sz="1200">
              <a:solidFill>
                <a:schemeClr val="dk1"/>
              </a:solidFill>
              <a:latin typeface="Calibri"/>
              <a:ea typeface="Calibri"/>
              <a:cs typeface="Calibri"/>
              <a:sym typeface="Calibri"/>
            </a:endParaRPr>
          </a:p>
        </p:txBody>
      </p:sp>
      <p:cxnSp>
        <p:nvCxnSpPr>
          <p:cNvPr id="367" name="Google Shape;367;p7"/>
          <p:cNvCxnSpPr/>
          <p:nvPr/>
        </p:nvCxnSpPr>
        <p:spPr>
          <a:xfrm>
            <a:off x="11411712" y="2743200"/>
            <a:ext cx="0" cy="329184"/>
          </a:xfrm>
          <a:prstGeom prst="straightConnector1">
            <a:avLst/>
          </a:prstGeom>
          <a:noFill/>
          <a:ln w="10150" cap="flat" cmpd="sng">
            <a:solidFill>
              <a:srgbClr val="1A6B3C"/>
            </a:solidFill>
            <a:prstDash val="dot"/>
            <a:round/>
            <a:headEnd type="none" w="sm" len="sm"/>
            <a:tailEnd type="none" w="sm" len="sm"/>
          </a:ln>
        </p:spPr>
      </p:cxnSp>
      <p:sp>
        <p:nvSpPr>
          <p:cNvPr id="368" name="Google Shape;368;p7"/>
          <p:cNvSpPr/>
          <p:nvPr/>
        </p:nvSpPr>
        <p:spPr>
          <a:xfrm>
            <a:off x="9765792" y="3072384"/>
            <a:ext cx="3291840" cy="4535424"/>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7"/>
          <p:cNvSpPr/>
          <p:nvPr/>
        </p:nvSpPr>
        <p:spPr>
          <a:xfrm>
            <a:off x="9765793" y="3072384"/>
            <a:ext cx="69494" cy="4535424"/>
          </a:xfrm>
          <a:prstGeom prst="rect">
            <a:avLst/>
          </a:prstGeom>
          <a:solidFill>
            <a:srgbClr val="1A6B3C"/>
          </a:solidFill>
          <a:ln w="1270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7"/>
          <p:cNvSpPr/>
          <p:nvPr/>
        </p:nvSpPr>
        <p:spPr>
          <a:xfrm>
            <a:off x="9948672" y="3438144"/>
            <a:ext cx="146304" cy="146304"/>
          </a:xfrm>
          <a:prstGeom prst="ellipse">
            <a:avLst/>
          </a:prstGeom>
          <a:solidFill>
            <a:srgbClr val="1A6B3C"/>
          </a:solidFill>
          <a:ln w="1270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7"/>
          <p:cNvSpPr/>
          <p:nvPr/>
        </p:nvSpPr>
        <p:spPr>
          <a:xfrm>
            <a:off x="10204704" y="3291840"/>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Inter-pod comms</a:t>
            </a:r>
            <a:endParaRPr sz="1700">
              <a:solidFill>
                <a:schemeClr val="dk1"/>
              </a:solidFill>
              <a:latin typeface="Calibri"/>
              <a:ea typeface="Calibri"/>
              <a:cs typeface="Calibri"/>
              <a:sym typeface="Calibri"/>
            </a:endParaRPr>
          </a:p>
        </p:txBody>
      </p:sp>
      <p:sp>
        <p:nvSpPr>
          <p:cNvPr id="372" name="Google Shape;372;p7"/>
          <p:cNvSpPr/>
          <p:nvPr/>
        </p:nvSpPr>
        <p:spPr>
          <a:xfrm>
            <a:off x="10204704" y="3730752"/>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kernel-level capture</a:t>
            </a:r>
            <a:endParaRPr sz="1500">
              <a:solidFill>
                <a:schemeClr val="dk1"/>
              </a:solidFill>
              <a:latin typeface="Calibri"/>
              <a:ea typeface="Calibri"/>
              <a:cs typeface="Calibri"/>
              <a:sym typeface="Calibri"/>
            </a:endParaRPr>
          </a:p>
        </p:txBody>
      </p:sp>
      <p:sp>
        <p:nvSpPr>
          <p:cNvPr id="373" name="Google Shape;373;p7"/>
          <p:cNvSpPr/>
          <p:nvPr/>
        </p:nvSpPr>
        <p:spPr>
          <a:xfrm>
            <a:off x="9948672" y="4462272"/>
            <a:ext cx="146304" cy="146304"/>
          </a:xfrm>
          <a:prstGeom prst="ellipse">
            <a:avLst/>
          </a:prstGeom>
          <a:solidFill>
            <a:srgbClr val="1A6B3C"/>
          </a:solidFill>
          <a:ln w="1270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7"/>
          <p:cNvSpPr/>
          <p:nvPr/>
        </p:nvSpPr>
        <p:spPr>
          <a:xfrm>
            <a:off x="10204704" y="4315968"/>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Packet behavior</a:t>
            </a:r>
            <a:endParaRPr sz="1700">
              <a:solidFill>
                <a:schemeClr val="dk1"/>
              </a:solidFill>
              <a:latin typeface="Calibri"/>
              <a:ea typeface="Calibri"/>
              <a:cs typeface="Calibri"/>
              <a:sym typeface="Calibri"/>
            </a:endParaRPr>
          </a:p>
        </p:txBody>
      </p:sp>
      <p:sp>
        <p:nvSpPr>
          <p:cNvPr id="375" name="Google Shape;375;p7"/>
          <p:cNvSpPr/>
          <p:nvPr/>
        </p:nvSpPr>
        <p:spPr>
          <a:xfrm>
            <a:off x="10204704" y="4754880"/>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retransmit + drop rate</a:t>
            </a:r>
            <a:endParaRPr sz="1500">
              <a:solidFill>
                <a:schemeClr val="dk1"/>
              </a:solidFill>
              <a:latin typeface="Calibri"/>
              <a:ea typeface="Calibri"/>
              <a:cs typeface="Calibri"/>
              <a:sym typeface="Calibri"/>
            </a:endParaRPr>
          </a:p>
        </p:txBody>
      </p:sp>
      <p:sp>
        <p:nvSpPr>
          <p:cNvPr id="376" name="Google Shape;376;p7"/>
          <p:cNvSpPr/>
          <p:nvPr/>
        </p:nvSpPr>
        <p:spPr>
          <a:xfrm>
            <a:off x="9948672" y="5486400"/>
            <a:ext cx="146304" cy="146304"/>
          </a:xfrm>
          <a:prstGeom prst="ellipse">
            <a:avLst/>
          </a:prstGeom>
          <a:solidFill>
            <a:srgbClr val="1A6B3C"/>
          </a:solidFill>
          <a:ln w="1270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7"/>
          <p:cNvSpPr/>
          <p:nvPr/>
        </p:nvSpPr>
        <p:spPr>
          <a:xfrm>
            <a:off x="10204704" y="5340096"/>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Dependency discovery</a:t>
            </a:r>
            <a:endParaRPr sz="1700">
              <a:solidFill>
                <a:schemeClr val="dk1"/>
              </a:solidFill>
              <a:latin typeface="Calibri"/>
              <a:ea typeface="Calibri"/>
              <a:cs typeface="Calibri"/>
              <a:sym typeface="Calibri"/>
            </a:endParaRPr>
          </a:p>
        </p:txBody>
      </p:sp>
      <p:sp>
        <p:nvSpPr>
          <p:cNvPr id="378" name="Google Shape;378;p7"/>
          <p:cNvSpPr/>
          <p:nvPr/>
        </p:nvSpPr>
        <p:spPr>
          <a:xfrm>
            <a:off x="10204704" y="5779008"/>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who talks to whom</a:t>
            </a:r>
            <a:endParaRPr sz="1500">
              <a:solidFill>
                <a:schemeClr val="dk1"/>
              </a:solidFill>
              <a:latin typeface="Calibri"/>
              <a:ea typeface="Calibri"/>
              <a:cs typeface="Calibri"/>
              <a:sym typeface="Calibri"/>
            </a:endParaRPr>
          </a:p>
        </p:txBody>
      </p:sp>
      <p:sp>
        <p:nvSpPr>
          <p:cNvPr id="379" name="Google Shape;379;p7"/>
          <p:cNvSpPr/>
          <p:nvPr/>
        </p:nvSpPr>
        <p:spPr>
          <a:xfrm>
            <a:off x="9948672" y="6510528"/>
            <a:ext cx="146304" cy="146304"/>
          </a:xfrm>
          <a:prstGeom prst="ellipse">
            <a:avLst/>
          </a:prstGeom>
          <a:solidFill>
            <a:srgbClr val="1A6B3C"/>
          </a:solidFill>
          <a:ln w="1270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7"/>
          <p:cNvSpPr/>
          <p:nvPr/>
        </p:nvSpPr>
        <p:spPr>
          <a:xfrm>
            <a:off x="10204704" y="6364224"/>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Traffic propagation</a:t>
            </a:r>
            <a:endParaRPr sz="1700">
              <a:solidFill>
                <a:schemeClr val="dk1"/>
              </a:solidFill>
              <a:latin typeface="Calibri"/>
              <a:ea typeface="Calibri"/>
              <a:cs typeface="Calibri"/>
              <a:sym typeface="Calibri"/>
            </a:endParaRPr>
          </a:p>
        </p:txBody>
      </p:sp>
      <p:sp>
        <p:nvSpPr>
          <p:cNvPr id="381" name="Google Shape;381;p7"/>
          <p:cNvSpPr/>
          <p:nvPr/>
        </p:nvSpPr>
        <p:spPr>
          <a:xfrm>
            <a:off x="10204704" y="6803136"/>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blast radius tracing</a:t>
            </a:r>
            <a:endParaRPr sz="1500">
              <a:solidFill>
                <a:schemeClr val="dk1"/>
              </a:solidFill>
              <a:latin typeface="Calibri"/>
              <a:ea typeface="Calibri"/>
              <a:cs typeface="Calibri"/>
              <a:sym typeface="Calibri"/>
            </a:endParaRPr>
          </a:p>
        </p:txBody>
      </p:sp>
      <p:sp>
        <p:nvSpPr>
          <p:cNvPr id="382" name="Google Shape;382;p7"/>
          <p:cNvSpPr/>
          <p:nvPr/>
        </p:nvSpPr>
        <p:spPr>
          <a:xfrm>
            <a:off x="9765792" y="7132320"/>
            <a:ext cx="3291840" cy="475488"/>
          </a:xfrm>
          <a:prstGeom prst="rect">
            <a:avLst/>
          </a:prstGeom>
          <a:solidFill>
            <a:srgbClr val="E8E8E8"/>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7"/>
          <p:cNvSpPr/>
          <p:nvPr/>
        </p:nvSpPr>
        <p:spPr>
          <a:xfrm>
            <a:off x="9765791" y="7132320"/>
            <a:ext cx="3291841"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i="1">
                <a:solidFill>
                  <a:schemeClr val="dk1"/>
                </a:solidFill>
                <a:latin typeface="Poppins"/>
                <a:ea typeface="Poppins"/>
                <a:cs typeface="Poppins"/>
                <a:sym typeface="Poppins"/>
              </a:rPr>
              <a:t>No code changes to L0 pods; required for air-gapped industrial environments.</a:t>
            </a:r>
            <a:endParaRPr/>
          </a:p>
        </p:txBody>
      </p:sp>
      <p:cxnSp>
        <p:nvCxnSpPr>
          <p:cNvPr id="384" name="Google Shape;384;p7"/>
          <p:cNvCxnSpPr/>
          <p:nvPr/>
        </p:nvCxnSpPr>
        <p:spPr>
          <a:xfrm>
            <a:off x="15947136" y="2743200"/>
            <a:ext cx="0" cy="329184"/>
          </a:xfrm>
          <a:prstGeom prst="straightConnector1">
            <a:avLst/>
          </a:prstGeom>
          <a:noFill/>
          <a:ln w="10150" cap="flat" cmpd="sng">
            <a:solidFill>
              <a:srgbClr val="CC0000"/>
            </a:solidFill>
            <a:prstDash val="dot"/>
            <a:round/>
            <a:headEnd type="none" w="sm" len="sm"/>
            <a:tailEnd type="none" w="sm" len="sm"/>
          </a:ln>
        </p:spPr>
      </p:cxnSp>
      <p:sp>
        <p:nvSpPr>
          <p:cNvPr id="385" name="Google Shape;385;p7"/>
          <p:cNvSpPr/>
          <p:nvPr/>
        </p:nvSpPr>
        <p:spPr>
          <a:xfrm>
            <a:off x="14301216" y="3072384"/>
            <a:ext cx="3291840" cy="4535424"/>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7"/>
          <p:cNvSpPr/>
          <p:nvPr/>
        </p:nvSpPr>
        <p:spPr>
          <a:xfrm>
            <a:off x="14301217" y="3072384"/>
            <a:ext cx="69494" cy="453542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7"/>
          <p:cNvSpPr/>
          <p:nvPr/>
        </p:nvSpPr>
        <p:spPr>
          <a:xfrm>
            <a:off x="14484096" y="3438144"/>
            <a:ext cx="146304" cy="146304"/>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7"/>
          <p:cNvSpPr/>
          <p:nvPr/>
        </p:nvSpPr>
        <p:spPr>
          <a:xfrm>
            <a:off x="14740128" y="3291840"/>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5s polling intervals</a:t>
            </a:r>
            <a:endParaRPr sz="1700">
              <a:solidFill>
                <a:schemeClr val="dk1"/>
              </a:solidFill>
              <a:latin typeface="Calibri"/>
              <a:ea typeface="Calibri"/>
              <a:cs typeface="Calibri"/>
              <a:sym typeface="Calibri"/>
            </a:endParaRPr>
          </a:p>
        </p:txBody>
      </p:sp>
      <p:sp>
        <p:nvSpPr>
          <p:cNvPr id="389" name="Google Shape;389;p7"/>
          <p:cNvSpPr/>
          <p:nvPr/>
        </p:nvSpPr>
        <p:spPr>
          <a:xfrm>
            <a:off x="14740128" y="3730752"/>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Prometheus + Loki</a:t>
            </a:r>
            <a:endParaRPr sz="1500">
              <a:solidFill>
                <a:schemeClr val="dk1"/>
              </a:solidFill>
              <a:latin typeface="Calibri"/>
              <a:ea typeface="Calibri"/>
              <a:cs typeface="Calibri"/>
              <a:sym typeface="Calibri"/>
            </a:endParaRPr>
          </a:p>
        </p:txBody>
      </p:sp>
      <p:sp>
        <p:nvSpPr>
          <p:cNvPr id="390" name="Google Shape;390;p7"/>
          <p:cNvSpPr/>
          <p:nvPr/>
        </p:nvSpPr>
        <p:spPr>
          <a:xfrm>
            <a:off x="14484096" y="4462272"/>
            <a:ext cx="146304" cy="146304"/>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7"/>
          <p:cNvSpPr/>
          <p:nvPr/>
        </p:nvSpPr>
        <p:spPr>
          <a:xfrm>
            <a:off x="14740128" y="4315968"/>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Threshold detection</a:t>
            </a:r>
            <a:endParaRPr sz="1700">
              <a:solidFill>
                <a:schemeClr val="dk1"/>
              </a:solidFill>
              <a:latin typeface="Calibri"/>
              <a:ea typeface="Calibri"/>
              <a:cs typeface="Calibri"/>
              <a:sym typeface="Calibri"/>
            </a:endParaRPr>
          </a:p>
        </p:txBody>
      </p:sp>
      <p:sp>
        <p:nvSpPr>
          <p:cNvPr id="392" name="Google Shape;392;p7"/>
          <p:cNvSpPr/>
          <p:nvPr/>
        </p:nvSpPr>
        <p:spPr>
          <a:xfrm>
            <a:off x="14740128" y="4754880"/>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CPU &gt;80%, PVC &gt;90%</a:t>
            </a:r>
            <a:endParaRPr sz="1500">
              <a:solidFill>
                <a:schemeClr val="dk1"/>
              </a:solidFill>
              <a:latin typeface="Calibri"/>
              <a:ea typeface="Calibri"/>
              <a:cs typeface="Calibri"/>
              <a:sym typeface="Calibri"/>
            </a:endParaRPr>
          </a:p>
        </p:txBody>
      </p:sp>
      <p:sp>
        <p:nvSpPr>
          <p:cNvPr id="393" name="Google Shape;393;p7"/>
          <p:cNvSpPr/>
          <p:nvPr/>
        </p:nvSpPr>
        <p:spPr>
          <a:xfrm>
            <a:off x="14484096" y="5486400"/>
            <a:ext cx="146304" cy="146304"/>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7"/>
          <p:cNvSpPr/>
          <p:nvPr/>
        </p:nvSpPr>
        <p:spPr>
          <a:xfrm>
            <a:off x="14740128" y="5340096"/>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Event abstraction</a:t>
            </a:r>
            <a:endParaRPr sz="1700">
              <a:solidFill>
                <a:schemeClr val="dk1"/>
              </a:solidFill>
              <a:latin typeface="Calibri"/>
              <a:ea typeface="Calibri"/>
              <a:cs typeface="Calibri"/>
              <a:sym typeface="Calibri"/>
            </a:endParaRPr>
          </a:p>
        </p:txBody>
      </p:sp>
      <p:sp>
        <p:nvSpPr>
          <p:cNvPr id="395" name="Google Shape;395;p7"/>
          <p:cNvSpPr/>
          <p:nvPr/>
        </p:nvSpPr>
        <p:spPr>
          <a:xfrm>
            <a:off x="14740128" y="5779008"/>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structured JSON output</a:t>
            </a:r>
            <a:endParaRPr sz="1500">
              <a:solidFill>
                <a:schemeClr val="dk1"/>
              </a:solidFill>
              <a:latin typeface="Calibri"/>
              <a:ea typeface="Calibri"/>
              <a:cs typeface="Calibri"/>
              <a:sym typeface="Calibri"/>
            </a:endParaRPr>
          </a:p>
        </p:txBody>
      </p:sp>
      <p:sp>
        <p:nvSpPr>
          <p:cNvPr id="396" name="Google Shape;396;p7"/>
          <p:cNvSpPr/>
          <p:nvPr/>
        </p:nvSpPr>
        <p:spPr>
          <a:xfrm>
            <a:off x="14484096" y="6510528"/>
            <a:ext cx="146304" cy="146304"/>
          </a:xfrm>
          <a:prstGeom prst="ellipse">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7"/>
          <p:cNvSpPr/>
          <p:nvPr/>
        </p:nvSpPr>
        <p:spPr>
          <a:xfrm>
            <a:off x="14740128" y="6364224"/>
            <a:ext cx="274320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Correlation-ready</a:t>
            </a:r>
            <a:endParaRPr sz="1700">
              <a:solidFill>
                <a:schemeClr val="dk1"/>
              </a:solidFill>
              <a:latin typeface="Calibri"/>
              <a:ea typeface="Calibri"/>
              <a:cs typeface="Calibri"/>
              <a:sym typeface="Calibri"/>
            </a:endParaRPr>
          </a:p>
        </p:txBody>
      </p:sp>
      <p:sp>
        <p:nvSpPr>
          <p:cNvPr id="398" name="Google Shape;398;p7"/>
          <p:cNvSpPr/>
          <p:nvPr/>
        </p:nvSpPr>
        <p:spPr>
          <a:xfrm>
            <a:off x="14740128" y="6803136"/>
            <a:ext cx="274320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a:solidFill>
                  <a:srgbClr val="777777"/>
                </a:solidFill>
                <a:latin typeface="Poppins"/>
                <a:ea typeface="Poppins"/>
                <a:cs typeface="Poppins"/>
                <a:sym typeface="Poppins"/>
              </a:rPr>
              <a:t>normalized schema</a:t>
            </a:r>
            <a:endParaRPr sz="1500">
              <a:solidFill>
                <a:schemeClr val="dk1"/>
              </a:solidFill>
              <a:latin typeface="Calibri"/>
              <a:ea typeface="Calibri"/>
              <a:cs typeface="Calibri"/>
              <a:sym typeface="Calibri"/>
            </a:endParaRPr>
          </a:p>
        </p:txBody>
      </p:sp>
      <p:sp>
        <p:nvSpPr>
          <p:cNvPr id="399" name="Google Shape;399;p7"/>
          <p:cNvSpPr/>
          <p:nvPr/>
        </p:nvSpPr>
        <p:spPr>
          <a:xfrm>
            <a:off x="14301216" y="7132320"/>
            <a:ext cx="3291840" cy="475488"/>
          </a:xfrm>
          <a:prstGeom prst="rect">
            <a:avLst/>
          </a:prstGeom>
          <a:solidFill>
            <a:srgbClr val="E8E8E8"/>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7"/>
          <p:cNvSpPr/>
          <p:nvPr/>
        </p:nvSpPr>
        <p:spPr>
          <a:xfrm>
            <a:off x="14301215" y="7132320"/>
            <a:ext cx="3291839"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200" i="1">
                <a:solidFill>
                  <a:schemeClr val="dk1"/>
                </a:solidFill>
                <a:latin typeface="Poppins"/>
                <a:ea typeface="Poppins"/>
                <a:cs typeface="Poppins"/>
                <a:sym typeface="Poppins"/>
              </a:rPr>
              <a:t>Go container, in-cluster. Outputs schema-stable JSON every 5s.</a:t>
            </a:r>
            <a:endParaRPr/>
          </a:p>
        </p:txBody>
      </p:sp>
      <p:sp>
        <p:nvSpPr>
          <p:cNvPr id="401" name="Google Shape;401;p7"/>
          <p:cNvSpPr/>
          <p:nvPr/>
        </p:nvSpPr>
        <p:spPr>
          <a:xfrm>
            <a:off x="694944" y="7790688"/>
            <a:ext cx="16898112" cy="1947672"/>
          </a:xfrm>
          <a:prstGeom prst="rect">
            <a:avLst/>
          </a:prstGeom>
          <a:solidFill>
            <a:srgbClr val="FFF0F0"/>
          </a:solidFill>
          <a:ln w="9525" cap="flat" cmpd="sng">
            <a:solidFill>
              <a:srgbClr val="F0C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7"/>
          <p:cNvSpPr/>
          <p:nvPr/>
        </p:nvSpPr>
        <p:spPr>
          <a:xfrm>
            <a:off x="694944" y="7790688"/>
            <a:ext cx="73152" cy="1947672"/>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7"/>
          <p:cNvSpPr/>
          <p:nvPr/>
        </p:nvSpPr>
        <p:spPr>
          <a:xfrm>
            <a:off x="950976" y="7901940"/>
            <a:ext cx="43891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a:solidFill>
                  <a:srgbClr val="CC0000"/>
                </a:solidFill>
                <a:latin typeface="Poppins"/>
                <a:ea typeface="Poppins"/>
                <a:cs typeface="Poppins"/>
                <a:sym typeface="Poppins"/>
              </a:rPr>
              <a:t>Why normalization matters</a:t>
            </a:r>
            <a:endParaRPr sz="1800">
              <a:solidFill>
                <a:schemeClr val="dk1"/>
              </a:solidFill>
              <a:latin typeface="Calibri"/>
              <a:ea typeface="Calibri"/>
              <a:cs typeface="Calibri"/>
              <a:sym typeface="Calibri"/>
            </a:endParaRPr>
          </a:p>
        </p:txBody>
      </p:sp>
      <p:sp>
        <p:nvSpPr>
          <p:cNvPr id="404" name="Google Shape;404;p7"/>
          <p:cNvSpPr/>
          <p:nvPr/>
        </p:nvSpPr>
        <p:spPr>
          <a:xfrm>
            <a:off x="0" y="9774936"/>
            <a:ext cx="18288000" cy="512064"/>
          </a:xfrm>
          <a:prstGeom prst="rect">
            <a:avLst/>
          </a:prstGeom>
          <a:solidFill>
            <a:srgbClr val="0D0D0D"/>
          </a:solidFill>
          <a:ln w="12700" cap="flat" cmpd="sng">
            <a:solidFill>
              <a:srgbClr val="0D0D0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5" name="Google Shape;405;p7"/>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6" name="Google Shape;406;p7"/>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sz="1400">
              <a:solidFill>
                <a:schemeClr val="dk1"/>
              </a:solidFill>
              <a:latin typeface="Calibri"/>
              <a:ea typeface="Calibri"/>
              <a:cs typeface="Calibri"/>
              <a:sym typeface="Calibri"/>
            </a:endParaRPr>
          </a:p>
        </p:txBody>
      </p:sp>
      <p:sp>
        <p:nvSpPr>
          <p:cNvPr id="407" name="Google Shape;407;p7"/>
          <p:cNvSpPr/>
          <p:nvPr/>
        </p:nvSpPr>
        <p:spPr>
          <a:xfrm>
            <a:off x="1645920" y="9774936"/>
            <a:ext cx="1280160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lt1"/>
                </a:solidFill>
                <a:latin typeface="Poppins"/>
                <a:ea typeface="Poppins"/>
                <a:cs typeface="Poppins"/>
                <a:sym typeface="Poppins"/>
              </a:rPr>
              <a:t>SiliconKnights</a:t>
            </a:r>
            <a:endParaRPr sz="1400">
              <a:solidFill>
                <a:schemeClr val="lt1"/>
              </a:solidFill>
              <a:latin typeface="Calibri"/>
              <a:ea typeface="Calibri"/>
              <a:cs typeface="Calibri"/>
              <a:sym typeface="Calibri"/>
            </a:endParaRPr>
          </a:p>
        </p:txBody>
      </p:sp>
      <p:sp>
        <p:nvSpPr>
          <p:cNvPr id="408" name="Google Shape;408;p7"/>
          <p:cNvSpPr/>
          <p:nvPr/>
        </p:nvSpPr>
        <p:spPr>
          <a:xfrm>
            <a:off x="17373600" y="9774936"/>
            <a:ext cx="731400" cy="512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a:solidFill>
                  <a:schemeClr val="lt1"/>
                </a:solidFill>
                <a:latin typeface="Calibri"/>
                <a:ea typeface="Calibri"/>
                <a:cs typeface="Calibri"/>
                <a:sym typeface="Calibri"/>
              </a:rPr>
              <a:t>7</a:t>
            </a:r>
            <a:endParaRPr/>
          </a:p>
        </p:txBody>
      </p:sp>
      <p:sp>
        <p:nvSpPr>
          <p:cNvPr id="409" name="Google Shape;409;p7"/>
          <p:cNvSpPr/>
          <p:nvPr/>
        </p:nvSpPr>
        <p:spPr>
          <a:xfrm>
            <a:off x="950976" y="8170164"/>
            <a:ext cx="1645920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b="1">
                <a:solidFill>
                  <a:srgbClr val="1A1A1A"/>
                </a:solidFill>
                <a:latin typeface="Poppins"/>
                <a:ea typeface="Poppins"/>
                <a:cs typeface="Poppins"/>
                <a:sym typeface="Poppins"/>
              </a:rPr>
              <a:t>Raw Prometheus scrape text fed directly to an LLM will hallucinate or crash — L2 normalization is a hard architectural requirement, not an optimization.</a:t>
            </a:r>
            <a:endParaRPr sz="1600">
              <a:solidFill>
                <a:schemeClr val="dk1"/>
              </a:solidFill>
              <a:latin typeface="Calibri"/>
              <a:ea typeface="Calibri"/>
              <a:cs typeface="Calibri"/>
              <a:sym typeface="Calibri"/>
            </a:endParaRPr>
          </a:p>
        </p:txBody>
      </p:sp>
      <p:sp>
        <p:nvSpPr>
          <p:cNvPr id="410" name="Google Shape;410;p7"/>
          <p:cNvSpPr/>
          <p:nvPr/>
        </p:nvSpPr>
        <p:spPr>
          <a:xfrm>
            <a:off x="950976" y="8572500"/>
            <a:ext cx="16459200" cy="10698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rgbClr val="3A3A3A"/>
                </a:solidFill>
                <a:latin typeface="Poppins"/>
                <a:ea typeface="Poppins"/>
                <a:cs typeface="Poppins"/>
                <a:sym typeface="Poppins"/>
              </a:rPr>
              <a:t>The aggregation engine polls Prometheus and Loki every 5 seconds, applies threshold rules (CPU &gt;80%, PVC &gt;90%), and emits clean JSON events. This structured output is what makes downstream AI correlation reliable.</a:t>
            </a:r>
            <a:endParaRPr sz="1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8"/>
          <p:cNvSpPr/>
          <p:nvPr/>
        </p:nvSpPr>
        <p:spPr>
          <a:xfrm>
            <a:off x="694944" y="493776"/>
            <a:ext cx="585216" cy="493776"/>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694944" y="493776"/>
            <a:ext cx="585216" cy="4937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08</a:t>
            </a:r>
            <a:endParaRPr sz="1800">
              <a:solidFill>
                <a:schemeClr val="dk1"/>
              </a:solidFill>
              <a:latin typeface="Calibri"/>
              <a:ea typeface="Calibri"/>
              <a:cs typeface="Calibri"/>
              <a:sym typeface="Calibri"/>
            </a:endParaRPr>
          </a:p>
        </p:txBody>
      </p:sp>
      <p:sp>
        <p:nvSpPr>
          <p:cNvPr id="418" name="Google Shape;418;p8"/>
          <p:cNvSpPr/>
          <p:nvPr/>
        </p:nvSpPr>
        <p:spPr>
          <a:xfrm>
            <a:off x="1426464" y="457200"/>
            <a:ext cx="1188720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3400" b="1">
                <a:solidFill>
                  <a:srgbClr val="1A1A1A"/>
                </a:solidFill>
                <a:latin typeface="Poppins"/>
                <a:ea typeface="Poppins"/>
                <a:cs typeface="Poppins"/>
                <a:sym typeface="Poppins"/>
              </a:rPr>
              <a:t>L3: Correlation &amp; Dependency Engine</a:t>
            </a:r>
            <a:endParaRPr sz="3400">
              <a:solidFill>
                <a:schemeClr val="dk1"/>
              </a:solidFill>
              <a:latin typeface="Calibri"/>
              <a:ea typeface="Calibri"/>
              <a:cs typeface="Calibri"/>
              <a:sym typeface="Calibri"/>
            </a:endParaRPr>
          </a:p>
        </p:txBody>
      </p:sp>
      <p:sp>
        <p:nvSpPr>
          <p:cNvPr id="419" name="Google Shape;419;p8"/>
          <p:cNvSpPr/>
          <p:nvPr/>
        </p:nvSpPr>
        <p:spPr>
          <a:xfrm>
            <a:off x="1426464" y="1042416"/>
            <a:ext cx="128016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a:solidFill>
                  <a:schemeClr val="dk1"/>
                </a:solidFill>
                <a:latin typeface="Poppins"/>
                <a:ea typeface="Poppins"/>
                <a:cs typeface="Poppins"/>
                <a:sym typeface="Poppins"/>
              </a:rPr>
              <a:t>Resource analysis over an established dependency topology</a:t>
            </a:r>
            <a:endParaRPr sz="1800">
              <a:solidFill>
                <a:schemeClr val="dk1"/>
              </a:solidFill>
              <a:latin typeface="Calibri"/>
              <a:ea typeface="Calibri"/>
              <a:cs typeface="Calibri"/>
              <a:sym typeface="Calibri"/>
            </a:endParaRPr>
          </a:p>
        </p:txBody>
      </p:sp>
      <p:sp>
        <p:nvSpPr>
          <p:cNvPr id="420" name="Google Shape;420;p8"/>
          <p:cNvSpPr/>
          <p:nvPr/>
        </p:nvSpPr>
        <p:spPr>
          <a:xfrm>
            <a:off x="694944" y="1536193"/>
            <a:ext cx="16898112" cy="4023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1" name="Google Shape;421;p8" descr="/home/claude/btop.png"/>
          <p:cNvPicPr preferRelativeResize="0"/>
          <p:nvPr/>
        </p:nvPicPr>
        <p:blipFill rotWithShape="1">
          <a:blip r:embed="rId3">
            <a:alphaModFix/>
          </a:blip>
          <a:srcRect/>
          <a:stretch/>
        </p:blipFill>
        <p:spPr>
          <a:xfrm>
            <a:off x="693779" y="1756666"/>
            <a:ext cx="5341262" cy="3920234"/>
          </a:xfrm>
          <a:prstGeom prst="rect">
            <a:avLst/>
          </a:prstGeom>
          <a:noFill/>
          <a:ln>
            <a:noFill/>
          </a:ln>
        </p:spPr>
      </p:pic>
      <p:sp>
        <p:nvSpPr>
          <p:cNvPr id="422" name="Google Shape;422;p8"/>
          <p:cNvSpPr/>
          <p:nvPr/>
        </p:nvSpPr>
        <p:spPr>
          <a:xfrm>
            <a:off x="670156" y="5690312"/>
            <a:ext cx="5413248"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i="1">
                <a:solidFill>
                  <a:schemeClr val="dk1"/>
                </a:solidFill>
                <a:latin typeface="Poppins"/>
                <a:ea typeface="Poppins"/>
                <a:cs typeface="Poppins"/>
                <a:sym typeface="Poppins"/>
              </a:rPr>
              <a:t>Live telemetry — Prometheus + kube-state-metrics, 5s intervals</a:t>
            </a:r>
            <a:endParaRPr sz="1300">
              <a:solidFill>
                <a:schemeClr val="dk1"/>
              </a:solidFill>
              <a:latin typeface="Calibri"/>
              <a:ea typeface="Calibri"/>
              <a:cs typeface="Calibri"/>
              <a:sym typeface="Calibri"/>
            </a:endParaRPr>
          </a:p>
        </p:txBody>
      </p:sp>
      <p:grpSp>
        <p:nvGrpSpPr>
          <p:cNvPr id="423" name="Google Shape;423;p8"/>
          <p:cNvGrpSpPr/>
          <p:nvPr/>
        </p:nvGrpSpPr>
        <p:grpSpPr>
          <a:xfrm>
            <a:off x="693318" y="6108801"/>
            <a:ext cx="5332781" cy="3589020"/>
            <a:chOff x="694944" y="5911596"/>
            <a:chExt cx="5413248" cy="3790188"/>
          </a:xfrm>
        </p:grpSpPr>
        <p:sp>
          <p:nvSpPr>
            <p:cNvPr id="424" name="Google Shape;424;p8"/>
            <p:cNvSpPr/>
            <p:nvPr/>
          </p:nvSpPr>
          <p:spPr>
            <a:xfrm>
              <a:off x="694944" y="5911596"/>
              <a:ext cx="5413248" cy="3790188"/>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694944" y="5911597"/>
              <a:ext cx="5413248" cy="6949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877824" y="5984748"/>
              <a:ext cx="29260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a:solidFill>
                    <a:srgbClr val="1A1A1A"/>
                  </a:solidFill>
                  <a:latin typeface="Poppins"/>
                  <a:ea typeface="Poppins"/>
                  <a:cs typeface="Poppins"/>
                  <a:sym typeface="Poppins"/>
                </a:rPr>
                <a:t>Signal Matrix</a:t>
              </a:r>
              <a:endParaRPr sz="1800">
                <a:solidFill>
                  <a:schemeClr val="dk1"/>
                </a:solidFill>
                <a:latin typeface="Calibri"/>
                <a:ea typeface="Calibri"/>
                <a:cs typeface="Calibri"/>
                <a:sym typeface="Calibri"/>
              </a:endParaRPr>
            </a:p>
          </p:txBody>
        </p:sp>
        <p:sp>
          <p:nvSpPr>
            <p:cNvPr id="427" name="Google Shape;427;p8"/>
            <p:cNvSpPr/>
            <p:nvPr/>
          </p:nvSpPr>
          <p:spPr>
            <a:xfrm>
              <a:off x="877824" y="6313932"/>
              <a:ext cx="513892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Peak intensity per pod per dimension</a:t>
              </a:r>
              <a:endParaRPr sz="1400">
                <a:solidFill>
                  <a:schemeClr val="dk1"/>
                </a:solidFill>
                <a:latin typeface="Calibri"/>
                <a:ea typeface="Calibri"/>
                <a:cs typeface="Calibri"/>
                <a:sym typeface="Calibri"/>
              </a:endParaRPr>
            </a:p>
          </p:txBody>
        </p:sp>
        <p:sp>
          <p:nvSpPr>
            <p:cNvPr id="428" name="Google Shape;428;p8"/>
            <p:cNvSpPr/>
            <p:nvPr/>
          </p:nvSpPr>
          <p:spPr>
            <a:xfrm>
              <a:off x="1609344" y="6606540"/>
              <a:ext cx="84124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b="1">
                  <a:solidFill>
                    <a:srgbClr val="777777"/>
                  </a:solidFill>
                  <a:latin typeface="Poppins"/>
                  <a:ea typeface="Poppins"/>
                  <a:cs typeface="Poppins"/>
                  <a:sym typeface="Poppins"/>
                </a:rPr>
                <a:t>CPU</a:t>
              </a:r>
              <a:endParaRPr sz="1300">
                <a:solidFill>
                  <a:schemeClr val="dk1"/>
                </a:solidFill>
                <a:latin typeface="Calibri"/>
                <a:ea typeface="Calibri"/>
                <a:cs typeface="Calibri"/>
                <a:sym typeface="Calibri"/>
              </a:endParaRPr>
            </a:p>
          </p:txBody>
        </p:sp>
        <p:sp>
          <p:nvSpPr>
            <p:cNvPr id="429" name="Google Shape;429;p8"/>
            <p:cNvSpPr/>
            <p:nvPr/>
          </p:nvSpPr>
          <p:spPr>
            <a:xfrm>
              <a:off x="2487168" y="6606540"/>
              <a:ext cx="84124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b="1">
                  <a:solidFill>
                    <a:srgbClr val="777777"/>
                  </a:solidFill>
                  <a:latin typeface="Poppins"/>
                  <a:ea typeface="Poppins"/>
                  <a:cs typeface="Poppins"/>
                  <a:sym typeface="Poppins"/>
                </a:rPr>
                <a:t>MEM</a:t>
              </a:r>
              <a:endParaRPr sz="1300">
                <a:solidFill>
                  <a:schemeClr val="dk1"/>
                </a:solidFill>
                <a:latin typeface="Calibri"/>
                <a:ea typeface="Calibri"/>
                <a:cs typeface="Calibri"/>
                <a:sym typeface="Calibri"/>
              </a:endParaRPr>
            </a:p>
          </p:txBody>
        </p:sp>
        <p:sp>
          <p:nvSpPr>
            <p:cNvPr id="430" name="Google Shape;430;p8"/>
            <p:cNvSpPr/>
            <p:nvPr/>
          </p:nvSpPr>
          <p:spPr>
            <a:xfrm>
              <a:off x="3364992" y="6606540"/>
              <a:ext cx="84124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b="1">
                  <a:solidFill>
                    <a:srgbClr val="777777"/>
                  </a:solidFill>
                  <a:latin typeface="Poppins"/>
                  <a:ea typeface="Poppins"/>
                  <a:cs typeface="Poppins"/>
                  <a:sym typeface="Poppins"/>
                </a:rPr>
                <a:t>NET</a:t>
              </a:r>
              <a:endParaRPr sz="1300">
                <a:solidFill>
                  <a:schemeClr val="dk1"/>
                </a:solidFill>
                <a:latin typeface="Calibri"/>
                <a:ea typeface="Calibri"/>
                <a:cs typeface="Calibri"/>
                <a:sym typeface="Calibri"/>
              </a:endParaRPr>
            </a:p>
          </p:txBody>
        </p:sp>
        <p:sp>
          <p:nvSpPr>
            <p:cNvPr id="431" name="Google Shape;431;p8"/>
            <p:cNvSpPr/>
            <p:nvPr/>
          </p:nvSpPr>
          <p:spPr>
            <a:xfrm>
              <a:off x="4242816" y="6606540"/>
              <a:ext cx="84124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b="1">
                  <a:solidFill>
                    <a:srgbClr val="777777"/>
                  </a:solidFill>
                  <a:latin typeface="Poppins"/>
                  <a:ea typeface="Poppins"/>
                  <a:cs typeface="Poppins"/>
                  <a:sym typeface="Poppins"/>
                </a:rPr>
                <a:t>PVC</a:t>
              </a:r>
              <a:endParaRPr sz="1300">
                <a:solidFill>
                  <a:schemeClr val="dk1"/>
                </a:solidFill>
                <a:latin typeface="Calibri"/>
                <a:ea typeface="Calibri"/>
                <a:cs typeface="Calibri"/>
                <a:sym typeface="Calibri"/>
              </a:endParaRPr>
            </a:p>
          </p:txBody>
        </p:sp>
        <p:sp>
          <p:nvSpPr>
            <p:cNvPr id="432" name="Google Shape;432;p8"/>
            <p:cNvSpPr/>
            <p:nvPr/>
          </p:nvSpPr>
          <p:spPr>
            <a:xfrm>
              <a:off x="5120640" y="6606540"/>
              <a:ext cx="841248"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b="1">
                  <a:solidFill>
                    <a:srgbClr val="777777"/>
                  </a:solidFill>
                  <a:latin typeface="Poppins"/>
                  <a:ea typeface="Poppins"/>
                  <a:cs typeface="Poppins"/>
                  <a:sym typeface="Poppins"/>
                </a:rPr>
                <a:t>I/O</a:t>
              </a:r>
              <a:endParaRPr sz="1300">
                <a:solidFill>
                  <a:schemeClr val="dk1"/>
                </a:solidFill>
                <a:latin typeface="Calibri"/>
                <a:ea typeface="Calibri"/>
                <a:cs typeface="Calibri"/>
                <a:sym typeface="Calibri"/>
              </a:endParaRPr>
            </a:p>
          </p:txBody>
        </p:sp>
        <p:sp>
          <p:nvSpPr>
            <p:cNvPr id="433" name="Google Shape;433;p8"/>
            <p:cNvSpPr/>
            <p:nvPr/>
          </p:nvSpPr>
          <p:spPr>
            <a:xfrm>
              <a:off x="731520" y="6935725"/>
              <a:ext cx="841248" cy="58178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sz="1400" b="1">
                  <a:solidFill>
                    <a:srgbClr val="3A3A3A"/>
                  </a:solidFill>
                  <a:latin typeface="Poppins"/>
                  <a:ea typeface="Poppins"/>
                  <a:cs typeface="Poppins"/>
                  <a:sym typeface="Poppins"/>
                </a:rPr>
                <a:t>MQTT</a:t>
              </a:r>
              <a:endParaRPr sz="1400">
                <a:solidFill>
                  <a:schemeClr val="dk1"/>
                </a:solidFill>
                <a:latin typeface="Calibri"/>
                <a:ea typeface="Calibri"/>
                <a:cs typeface="Calibri"/>
                <a:sym typeface="Calibri"/>
              </a:endParaRPr>
            </a:p>
          </p:txBody>
        </p:sp>
        <p:sp>
          <p:nvSpPr>
            <p:cNvPr id="434" name="Google Shape;434;p8"/>
            <p:cNvSpPr/>
            <p:nvPr/>
          </p:nvSpPr>
          <p:spPr>
            <a:xfrm>
              <a:off x="1609344" y="6935725"/>
              <a:ext cx="841248" cy="581786"/>
            </a:xfrm>
            <a:prstGeom prst="rect">
              <a:avLst/>
            </a:prstGeom>
            <a:solidFill>
              <a:srgbClr val="FECDCD"/>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8"/>
            <p:cNvSpPr/>
            <p:nvPr/>
          </p:nvSpPr>
          <p:spPr>
            <a:xfrm>
              <a:off x="1609344" y="693572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48%</a:t>
              </a:r>
              <a:endParaRPr sz="1300">
                <a:solidFill>
                  <a:schemeClr val="dk1"/>
                </a:solidFill>
                <a:latin typeface="Calibri"/>
                <a:ea typeface="Calibri"/>
                <a:cs typeface="Calibri"/>
                <a:sym typeface="Calibri"/>
              </a:endParaRPr>
            </a:p>
          </p:txBody>
        </p:sp>
        <p:sp>
          <p:nvSpPr>
            <p:cNvPr id="436" name="Google Shape;436;p8"/>
            <p:cNvSpPr/>
            <p:nvPr/>
          </p:nvSpPr>
          <p:spPr>
            <a:xfrm>
              <a:off x="2487168" y="6935725"/>
              <a:ext cx="841248" cy="581786"/>
            </a:xfrm>
            <a:prstGeom prst="rect">
              <a:avLst/>
            </a:prstGeom>
            <a:solidFill>
              <a:srgbClr val="F9D4D4"/>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2487168" y="693572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36%</a:t>
              </a:r>
              <a:endParaRPr sz="1300">
                <a:solidFill>
                  <a:schemeClr val="dk1"/>
                </a:solidFill>
                <a:latin typeface="Calibri"/>
                <a:ea typeface="Calibri"/>
                <a:cs typeface="Calibri"/>
                <a:sym typeface="Calibri"/>
              </a:endParaRPr>
            </a:p>
          </p:txBody>
        </p:sp>
        <p:sp>
          <p:nvSpPr>
            <p:cNvPr id="438" name="Google Shape;438;p8"/>
            <p:cNvSpPr/>
            <p:nvPr/>
          </p:nvSpPr>
          <p:spPr>
            <a:xfrm>
              <a:off x="3364992" y="6935725"/>
              <a:ext cx="841248" cy="581786"/>
            </a:xfrm>
            <a:prstGeom prst="rect">
              <a:avLst/>
            </a:prstGeom>
            <a:solidFill>
              <a:srgbClr val="D4212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8"/>
            <p:cNvSpPr/>
            <p:nvPr/>
          </p:nvSpPr>
          <p:spPr>
            <a:xfrm>
              <a:off x="3364992" y="693572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FFFF"/>
                  </a:solidFill>
                  <a:latin typeface="Poppins"/>
                  <a:ea typeface="Poppins"/>
                  <a:cs typeface="Poppins"/>
                  <a:sym typeface="Poppins"/>
                </a:rPr>
                <a:t>92%</a:t>
              </a:r>
              <a:endParaRPr sz="1300">
                <a:solidFill>
                  <a:schemeClr val="dk1"/>
                </a:solidFill>
                <a:latin typeface="Calibri"/>
                <a:ea typeface="Calibri"/>
                <a:cs typeface="Calibri"/>
                <a:sym typeface="Calibri"/>
              </a:endParaRPr>
            </a:p>
          </p:txBody>
        </p:sp>
        <p:sp>
          <p:nvSpPr>
            <p:cNvPr id="440" name="Google Shape;440;p8"/>
            <p:cNvSpPr/>
            <p:nvPr/>
          </p:nvSpPr>
          <p:spPr>
            <a:xfrm>
              <a:off x="4242816" y="6935725"/>
              <a:ext cx="841248" cy="581786"/>
            </a:xfrm>
            <a:prstGeom prst="rect">
              <a:avLst/>
            </a:prstGeom>
            <a:solidFill>
              <a:srgbClr val="EBE4E4"/>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8"/>
            <p:cNvSpPr/>
            <p:nvPr/>
          </p:nvSpPr>
          <p:spPr>
            <a:xfrm>
              <a:off x="4242816" y="693572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7%</a:t>
              </a:r>
              <a:endParaRPr sz="1300">
                <a:solidFill>
                  <a:schemeClr val="dk1"/>
                </a:solidFill>
                <a:latin typeface="Calibri"/>
                <a:ea typeface="Calibri"/>
                <a:cs typeface="Calibri"/>
                <a:sym typeface="Calibri"/>
              </a:endParaRPr>
            </a:p>
          </p:txBody>
        </p:sp>
        <p:sp>
          <p:nvSpPr>
            <p:cNvPr id="442" name="Google Shape;442;p8"/>
            <p:cNvSpPr/>
            <p:nvPr/>
          </p:nvSpPr>
          <p:spPr>
            <a:xfrm>
              <a:off x="5120640" y="6935725"/>
              <a:ext cx="841248" cy="581786"/>
            </a:xfrm>
            <a:prstGeom prst="rect">
              <a:avLst/>
            </a:prstGeom>
            <a:solidFill>
              <a:srgbClr val="F1DDDD"/>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8"/>
            <p:cNvSpPr/>
            <p:nvPr/>
          </p:nvSpPr>
          <p:spPr>
            <a:xfrm>
              <a:off x="5120640" y="693572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19%</a:t>
              </a:r>
              <a:endParaRPr sz="1300">
                <a:solidFill>
                  <a:schemeClr val="dk1"/>
                </a:solidFill>
                <a:latin typeface="Calibri"/>
                <a:ea typeface="Calibri"/>
                <a:cs typeface="Calibri"/>
                <a:sym typeface="Calibri"/>
              </a:endParaRPr>
            </a:p>
          </p:txBody>
        </p:sp>
        <p:sp>
          <p:nvSpPr>
            <p:cNvPr id="444" name="Google Shape;444;p8"/>
            <p:cNvSpPr/>
            <p:nvPr/>
          </p:nvSpPr>
          <p:spPr>
            <a:xfrm>
              <a:off x="731520" y="7554089"/>
              <a:ext cx="841248" cy="58178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sz="1400" b="1">
                  <a:solidFill>
                    <a:srgbClr val="3A3A3A"/>
                  </a:solidFill>
                  <a:latin typeface="Poppins"/>
                  <a:ea typeface="Poppins"/>
                  <a:cs typeface="Poppins"/>
                  <a:sym typeface="Poppins"/>
                </a:rPr>
                <a:t>CPUAD</a:t>
              </a:r>
              <a:endParaRPr sz="1400">
                <a:solidFill>
                  <a:schemeClr val="dk1"/>
                </a:solidFill>
                <a:latin typeface="Calibri"/>
                <a:ea typeface="Calibri"/>
                <a:cs typeface="Calibri"/>
                <a:sym typeface="Calibri"/>
              </a:endParaRPr>
            </a:p>
          </p:txBody>
        </p:sp>
        <p:sp>
          <p:nvSpPr>
            <p:cNvPr id="445" name="Google Shape;445;p8"/>
            <p:cNvSpPr/>
            <p:nvPr/>
          </p:nvSpPr>
          <p:spPr>
            <a:xfrm>
              <a:off x="1609344" y="7554089"/>
              <a:ext cx="841248" cy="581786"/>
            </a:xfrm>
            <a:prstGeom prst="rect">
              <a:avLst/>
            </a:prstGeom>
            <a:solidFill>
              <a:srgbClr val="D52525"/>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8"/>
            <p:cNvSpPr/>
            <p:nvPr/>
          </p:nvSpPr>
          <p:spPr>
            <a:xfrm>
              <a:off x="1609344" y="7554089"/>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FFFF"/>
                  </a:solidFill>
                  <a:latin typeface="Poppins"/>
                  <a:ea typeface="Poppins"/>
                  <a:cs typeface="Poppins"/>
                  <a:sym typeface="Poppins"/>
                </a:rPr>
                <a:t>91%</a:t>
              </a:r>
              <a:endParaRPr sz="1300">
                <a:solidFill>
                  <a:schemeClr val="dk1"/>
                </a:solidFill>
                <a:latin typeface="Calibri"/>
                <a:ea typeface="Calibri"/>
                <a:cs typeface="Calibri"/>
                <a:sym typeface="Calibri"/>
              </a:endParaRPr>
            </a:p>
          </p:txBody>
        </p:sp>
        <p:sp>
          <p:nvSpPr>
            <p:cNvPr id="447" name="Google Shape;447;p8"/>
            <p:cNvSpPr/>
            <p:nvPr/>
          </p:nvSpPr>
          <p:spPr>
            <a:xfrm>
              <a:off x="2487168" y="7554089"/>
              <a:ext cx="841248" cy="581786"/>
            </a:xfrm>
            <a:prstGeom prst="rect">
              <a:avLst/>
            </a:prstGeom>
            <a:solidFill>
              <a:srgbClr val="DF4E4E"/>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8"/>
            <p:cNvSpPr/>
            <p:nvPr/>
          </p:nvSpPr>
          <p:spPr>
            <a:xfrm>
              <a:off x="2487168" y="7554089"/>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FFFF"/>
                  </a:solidFill>
                  <a:latin typeface="Poppins"/>
                  <a:ea typeface="Poppins"/>
                  <a:cs typeface="Poppins"/>
                  <a:sym typeface="Poppins"/>
                </a:rPr>
                <a:t>81%</a:t>
              </a:r>
              <a:endParaRPr sz="1300">
                <a:solidFill>
                  <a:schemeClr val="dk1"/>
                </a:solidFill>
                <a:latin typeface="Calibri"/>
                <a:ea typeface="Calibri"/>
                <a:cs typeface="Calibri"/>
                <a:sym typeface="Calibri"/>
              </a:endParaRPr>
            </a:p>
          </p:txBody>
        </p:sp>
        <p:sp>
          <p:nvSpPr>
            <p:cNvPr id="449" name="Google Shape;449;p8"/>
            <p:cNvSpPr/>
            <p:nvPr/>
          </p:nvSpPr>
          <p:spPr>
            <a:xfrm>
              <a:off x="3364992" y="7554089"/>
              <a:ext cx="841248" cy="581786"/>
            </a:xfrm>
            <a:prstGeom prst="rect">
              <a:avLst/>
            </a:prstGeom>
            <a:solidFill>
              <a:srgbClr val="EDE2E2"/>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8"/>
            <p:cNvSpPr/>
            <p:nvPr/>
          </p:nvSpPr>
          <p:spPr>
            <a:xfrm>
              <a:off x="3364992" y="7554089"/>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10%</a:t>
              </a:r>
              <a:endParaRPr sz="1300">
                <a:solidFill>
                  <a:schemeClr val="dk1"/>
                </a:solidFill>
                <a:latin typeface="Calibri"/>
                <a:ea typeface="Calibri"/>
                <a:cs typeface="Calibri"/>
                <a:sym typeface="Calibri"/>
              </a:endParaRPr>
            </a:p>
          </p:txBody>
        </p:sp>
        <p:sp>
          <p:nvSpPr>
            <p:cNvPr id="451" name="Google Shape;451;p8"/>
            <p:cNvSpPr/>
            <p:nvPr/>
          </p:nvSpPr>
          <p:spPr>
            <a:xfrm>
              <a:off x="4242816" y="7554089"/>
              <a:ext cx="841248" cy="581786"/>
            </a:xfrm>
            <a:prstGeom prst="rect">
              <a:avLst/>
            </a:prstGeom>
            <a:solidFill>
              <a:srgbClr val="F1DDDD"/>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8"/>
            <p:cNvSpPr/>
            <p:nvPr/>
          </p:nvSpPr>
          <p:spPr>
            <a:xfrm>
              <a:off x="4242816" y="7554089"/>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19%</a:t>
              </a:r>
              <a:endParaRPr sz="1300">
                <a:solidFill>
                  <a:schemeClr val="dk1"/>
                </a:solidFill>
                <a:latin typeface="Calibri"/>
                <a:ea typeface="Calibri"/>
                <a:cs typeface="Calibri"/>
                <a:sym typeface="Calibri"/>
              </a:endParaRPr>
            </a:p>
          </p:txBody>
        </p:sp>
        <p:sp>
          <p:nvSpPr>
            <p:cNvPr id="453" name="Google Shape;453;p8"/>
            <p:cNvSpPr/>
            <p:nvPr/>
          </p:nvSpPr>
          <p:spPr>
            <a:xfrm>
              <a:off x="5120640" y="7554089"/>
              <a:ext cx="841248" cy="581786"/>
            </a:xfrm>
            <a:prstGeom prst="rect">
              <a:avLst/>
            </a:prstGeom>
            <a:solidFill>
              <a:srgbClr val="F4D9D9"/>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8"/>
            <p:cNvSpPr/>
            <p:nvPr/>
          </p:nvSpPr>
          <p:spPr>
            <a:xfrm>
              <a:off x="5120640" y="7554089"/>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27%</a:t>
              </a:r>
              <a:endParaRPr sz="1300">
                <a:solidFill>
                  <a:schemeClr val="dk1"/>
                </a:solidFill>
                <a:latin typeface="Calibri"/>
                <a:ea typeface="Calibri"/>
                <a:cs typeface="Calibri"/>
                <a:sym typeface="Calibri"/>
              </a:endParaRPr>
            </a:p>
          </p:txBody>
        </p:sp>
        <p:sp>
          <p:nvSpPr>
            <p:cNvPr id="455" name="Google Shape;455;p8"/>
            <p:cNvSpPr/>
            <p:nvPr/>
          </p:nvSpPr>
          <p:spPr>
            <a:xfrm>
              <a:off x="731520" y="8172451"/>
              <a:ext cx="841248" cy="58178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sz="1400" b="1">
                  <a:solidFill>
                    <a:srgbClr val="3A3A3A"/>
                  </a:solidFill>
                  <a:latin typeface="Poppins"/>
                  <a:ea typeface="Poppins"/>
                  <a:cs typeface="Poppins"/>
                  <a:sym typeface="Poppins"/>
                </a:rPr>
                <a:t>TSDB</a:t>
              </a:r>
              <a:endParaRPr sz="1400">
                <a:solidFill>
                  <a:schemeClr val="dk1"/>
                </a:solidFill>
                <a:latin typeface="Calibri"/>
                <a:ea typeface="Calibri"/>
                <a:cs typeface="Calibri"/>
                <a:sym typeface="Calibri"/>
              </a:endParaRPr>
            </a:p>
          </p:txBody>
        </p:sp>
        <p:sp>
          <p:nvSpPr>
            <p:cNvPr id="456" name="Google Shape;456;p8"/>
            <p:cNvSpPr/>
            <p:nvPr/>
          </p:nvSpPr>
          <p:spPr>
            <a:xfrm>
              <a:off x="1609344" y="8172451"/>
              <a:ext cx="841248" cy="581786"/>
            </a:xfrm>
            <a:prstGeom prst="rect">
              <a:avLst/>
            </a:prstGeom>
            <a:solidFill>
              <a:srgbClr val="F5D8D8"/>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8"/>
            <p:cNvSpPr/>
            <p:nvPr/>
          </p:nvSpPr>
          <p:spPr>
            <a:xfrm>
              <a:off x="1609344" y="8172451"/>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28%</a:t>
              </a:r>
              <a:endParaRPr sz="1300">
                <a:solidFill>
                  <a:schemeClr val="dk1"/>
                </a:solidFill>
                <a:latin typeface="Calibri"/>
                <a:ea typeface="Calibri"/>
                <a:cs typeface="Calibri"/>
                <a:sym typeface="Calibri"/>
              </a:endParaRPr>
            </a:p>
          </p:txBody>
        </p:sp>
        <p:sp>
          <p:nvSpPr>
            <p:cNvPr id="458" name="Google Shape;458;p8"/>
            <p:cNvSpPr/>
            <p:nvPr/>
          </p:nvSpPr>
          <p:spPr>
            <a:xfrm>
              <a:off x="2487168" y="8172451"/>
              <a:ext cx="841248" cy="581786"/>
            </a:xfrm>
            <a:prstGeom prst="rect">
              <a:avLst/>
            </a:prstGeom>
            <a:solidFill>
              <a:srgbClr val="EB7A7A"/>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8"/>
            <p:cNvSpPr/>
            <p:nvPr/>
          </p:nvSpPr>
          <p:spPr>
            <a:xfrm>
              <a:off x="2487168" y="8172451"/>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FFFF"/>
                  </a:solidFill>
                  <a:latin typeface="Poppins"/>
                  <a:ea typeface="Poppins"/>
                  <a:cs typeface="Poppins"/>
                  <a:sym typeface="Poppins"/>
                </a:rPr>
                <a:t>70%</a:t>
              </a:r>
              <a:endParaRPr sz="1300">
                <a:solidFill>
                  <a:schemeClr val="dk1"/>
                </a:solidFill>
                <a:latin typeface="Calibri"/>
                <a:ea typeface="Calibri"/>
                <a:cs typeface="Calibri"/>
                <a:sym typeface="Calibri"/>
              </a:endParaRPr>
            </a:p>
          </p:txBody>
        </p:sp>
        <p:sp>
          <p:nvSpPr>
            <p:cNvPr id="460" name="Google Shape;460;p8"/>
            <p:cNvSpPr/>
            <p:nvPr/>
          </p:nvSpPr>
          <p:spPr>
            <a:xfrm>
              <a:off x="3364992" y="8172451"/>
              <a:ext cx="841248" cy="581786"/>
            </a:xfrm>
            <a:prstGeom prst="rect">
              <a:avLst/>
            </a:prstGeom>
            <a:solidFill>
              <a:srgbClr val="EEE0E0"/>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8"/>
            <p:cNvSpPr/>
            <p:nvPr/>
          </p:nvSpPr>
          <p:spPr>
            <a:xfrm>
              <a:off x="3364992" y="8172451"/>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14%</a:t>
              </a:r>
              <a:endParaRPr sz="1300">
                <a:solidFill>
                  <a:schemeClr val="dk1"/>
                </a:solidFill>
                <a:latin typeface="Calibri"/>
                <a:ea typeface="Calibri"/>
                <a:cs typeface="Calibri"/>
                <a:sym typeface="Calibri"/>
              </a:endParaRPr>
            </a:p>
          </p:txBody>
        </p:sp>
        <p:sp>
          <p:nvSpPr>
            <p:cNvPr id="462" name="Google Shape;462;p8"/>
            <p:cNvSpPr/>
            <p:nvPr/>
          </p:nvSpPr>
          <p:spPr>
            <a:xfrm>
              <a:off x="4242816" y="8172451"/>
              <a:ext cx="841248" cy="581786"/>
            </a:xfrm>
            <a:prstGeom prst="rect">
              <a:avLst/>
            </a:prstGeom>
            <a:solidFill>
              <a:srgbClr val="D52525"/>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8"/>
            <p:cNvSpPr/>
            <p:nvPr/>
          </p:nvSpPr>
          <p:spPr>
            <a:xfrm>
              <a:off x="4242816" y="8172451"/>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FFFF"/>
                  </a:solidFill>
                  <a:latin typeface="Poppins"/>
                  <a:ea typeface="Poppins"/>
                  <a:cs typeface="Poppins"/>
                  <a:sym typeface="Poppins"/>
                </a:rPr>
                <a:t>91%</a:t>
              </a:r>
              <a:endParaRPr sz="1300">
                <a:solidFill>
                  <a:schemeClr val="dk1"/>
                </a:solidFill>
                <a:latin typeface="Calibri"/>
                <a:ea typeface="Calibri"/>
                <a:cs typeface="Calibri"/>
                <a:sym typeface="Calibri"/>
              </a:endParaRPr>
            </a:p>
          </p:txBody>
        </p:sp>
        <p:sp>
          <p:nvSpPr>
            <p:cNvPr id="464" name="Google Shape;464;p8"/>
            <p:cNvSpPr/>
            <p:nvPr/>
          </p:nvSpPr>
          <p:spPr>
            <a:xfrm>
              <a:off x="5120640" y="8172451"/>
              <a:ext cx="841248" cy="581786"/>
            </a:xfrm>
            <a:prstGeom prst="rect">
              <a:avLst/>
            </a:prstGeom>
            <a:solidFill>
              <a:srgbClr val="D62929"/>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8"/>
            <p:cNvSpPr/>
            <p:nvPr/>
          </p:nvSpPr>
          <p:spPr>
            <a:xfrm>
              <a:off x="5120640" y="8172451"/>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FFFF"/>
                  </a:solidFill>
                  <a:latin typeface="Poppins"/>
                  <a:ea typeface="Poppins"/>
                  <a:cs typeface="Poppins"/>
                  <a:sym typeface="Poppins"/>
                </a:rPr>
                <a:t>90%</a:t>
              </a:r>
              <a:endParaRPr sz="1300">
                <a:solidFill>
                  <a:schemeClr val="dk1"/>
                </a:solidFill>
                <a:latin typeface="Calibri"/>
                <a:ea typeface="Calibri"/>
                <a:cs typeface="Calibri"/>
                <a:sym typeface="Calibri"/>
              </a:endParaRPr>
            </a:p>
          </p:txBody>
        </p:sp>
        <p:sp>
          <p:nvSpPr>
            <p:cNvPr id="466" name="Google Shape;466;p8"/>
            <p:cNvSpPr/>
            <p:nvPr/>
          </p:nvSpPr>
          <p:spPr>
            <a:xfrm>
              <a:off x="731520" y="8790815"/>
              <a:ext cx="841248" cy="58178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sz="1400" b="1">
                  <a:solidFill>
                    <a:srgbClr val="3A3A3A"/>
                  </a:solidFill>
                  <a:latin typeface="Poppins"/>
                  <a:ea typeface="Poppins"/>
                  <a:cs typeface="Poppins"/>
                  <a:sym typeface="Poppins"/>
                </a:rPr>
                <a:t>CCR</a:t>
              </a:r>
              <a:endParaRPr sz="1400">
                <a:solidFill>
                  <a:schemeClr val="dk1"/>
                </a:solidFill>
                <a:latin typeface="Calibri"/>
                <a:ea typeface="Calibri"/>
                <a:cs typeface="Calibri"/>
                <a:sym typeface="Calibri"/>
              </a:endParaRPr>
            </a:p>
          </p:txBody>
        </p:sp>
        <p:sp>
          <p:nvSpPr>
            <p:cNvPr id="467" name="Google Shape;467;p8"/>
            <p:cNvSpPr/>
            <p:nvPr/>
          </p:nvSpPr>
          <p:spPr>
            <a:xfrm>
              <a:off x="1609344" y="8790815"/>
              <a:ext cx="841248" cy="581786"/>
            </a:xfrm>
            <a:prstGeom prst="rect">
              <a:avLst/>
            </a:prstGeom>
            <a:solidFill>
              <a:srgbClr val="F7ABAB"/>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8"/>
            <p:cNvSpPr/>
            <p:nvPr/>
          </p:nvSpPr>
          <p:spPr>
            <a:xfrm>
              <a:off x="1609344" y="879081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58%</a:t>
              </a:r>
              <a:endParaRPr sz="1300">
                <a:solidFill>
                  <a:schemeClr val="dk1"/>
                </a:solidFill>
                <a:latin typeface="Calibri"/>
                <a:ea typeface="Calibri"/>
                <a:cs typeface="Calibri"/>
                <a:sym typeface="Calibri"/>
              </a:endParaRPr>
            </a:p>
          </p:txBody>
        </p:sp>
        <p:sp>
          <p:nvSpPr>
            <p:cNvPr id="469" name="Google Shape;469;p8"/>
            <p:cNvSpPr/>
            <p:nvPr/>
          </p:nvSpPr>
          <p:spPr>
            <a:xfrm>
              <a:off x="2487168" y="8790815"/>
              <a:ext cx="841248" cy="581786"/>
            </a:xfrm>
            <a:prstGeom prst="rect">
              <a:avLst/>
            </a:prstGeom>
            <a:solidFill>
              <a:srgbClr val="FEC8C8"/>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8"/>
            <p:cNvSpPr/>
            <p:nvPr/>
          </p:nvSpPr>
          <p:spPr>
            <a:xfrm>
              <a:off x="2487168" y="879081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51%</a:t>
              </a:r>
              <a:endParaRPr sz="1300">
                <a:solidFill>
                  <a:schemeClr val="dk1"/>
                </a:solidFill>
                <a:latin typeface="Calibri"/>
                <a:ea typeface="Calibri"/>
                <a:cs typeface="Calibri"/>
                <a:sym typeface="Calibri"/>
              </a:endParaRPr>
            </a:p>
          </p:txBody>
        </p:sp>
        <p:sp>
          <p:nvSpPr>
            <p:cNvPr id="471" name="Google Shape;471;p8"/>
            <p:cNvSpPr/>
            <p:nvPr/>
          </p:nvSpPr>
          <p:spPr>
            <a:xfrm>
              <a:off x="3364992" y="8790815"/>
              <a:ext cx="841248" cy="581786"/>
            </a:xfrm>
            <a:prstGeom prst="rect">
              <a:avLst/>
            </a:prstGeom>
            <a:solidFill>
              <a:srgbClr val="F8AFAF"/>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8"/>
            <p:cNvSpPr/>
            <p:nvPr/>
          </p:nvSpPr>
          <p:spPr>
            <a:xfrm>
              <a:off x="3364992" y="879081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57%</a:t>
              </a:r>
              <a:endParaRPr sz="1300">
                <a:solidFill>
                  <a:schemeClr val="dk1"/>
                </a:solidFill>
                <a:latin typeface="Calibri"/>
                <a:ea typeface="Calibri"/>
                <a:cs typeface="Calibri"/>
                <a:sym typeface="Calibri"/>
              </a:endParaRPr>
            </a:p>
          </p:txBody>
        </p:sp>
        <p:sp>
          <p:nvSpPr>
            <p:cNvPr id="473" name="Google Shape;473;p8"/>
            <p:cNvSpPr/>
            <p:nvPr/>
          </p:nvSpPr>
          <p:spPr>
            <a:xfrm>
              <a:off x="4242816" y="8790815"/>
              <a:ext cx="841248" cy="581786"/>
            </a:xfrm>
            <a:prstGeom prst="rect">
              <a:avLst/>
            </a:prstGeom>
            <a:solidFill>
              <a:srgbClr val="E97272"/>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8"/>
            <p:cNvSpPr/>
            <p:nvPr/>
          </p:nvSpPr>
          <p:spPr>
            <a:xfrm>
              <a:off x="4242816" y="879081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FFFFFF"/>
                  </a:solidFill>
                  <a:latin typeface="Poppins"/>
                  <a:ea typeface="Poppins"/>
                  <a:cs typeface="Poppins"/>
                  <a:sym typeface="Poppins"/>
                </a:rPr>
                <a:t>72%</a:t>
              </a:r>
              <a:endParaRPr sz="1300">
                <a:solidFill>
                  <a:schemeClr val="dk1"/>
                </a:solidFill>
                <a:latin typeface="Calibri"/>
                <a:ea typeface="Calibri"/>
                <a:cs typeface="Calibri"/>
                <a:sym typeface="Calibri"/>
              </a:endParaRPr>
            </a:p>
          </p:txBody>
        </p:sp>
        <p:sp>
          <p:nvSpPr>
            <p:cNvPr id="475" name="Google Shape;475;p8"/>
            <p:cNvSpPr/>
            <p:nvPr/>
          </p:nvSpPr>
          <p:spPr>
            <a:xfrm>
              <a:off x="5120640" y="8790815"/>
              <a:ext cx="841248" cy="581786"/>
            </a:xfrm>
            <a:prstGeom prst="rect">
              <a:avLst/>
            </a:prstGeom>
            <a:solidFill>
              <a:srgbClr val="FECDCD"/>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8"/>
            <p:cNvSpPr/>
            <p:nvPr/>
          </p:nvSpPr>
          <p:spPr>
            <a:xfrm>
              <a:off x="5120640" y="8790815"/>
              <a:ext cx="841248" cy="58178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300">
                  <a:solidFill>
                    <a:srgbClr val="555555"/>
                  </a:solidFill>
                  <a:latin typeface="Poppins"/>
                  <a:ea typeface="Poppins"/>
                  <a:cs typeface="Poppins"/>
                  <a:sym typeface="Poppins"/>
                </a:rPr>
                <a:t>48%</a:t>
              </a:r>
              <a:endParaRPr sz="1300">
                <a:solidFill>
                  <a:schemeClr val="dk1"/>
                </a:solidFill>
                <a:latin typeface="Calibri"/>
                <a:ea typeface="Calibri"/>
                <a:cs typeface="Calibri"/>
                <a:sym typeface="Calibri"/>
              </a:endParaRPr>
            </a:p>
          </p:txBody>
        </p:sp>
      </p:grpSp>
      <p:sp>
        <p:nvSpPr>
          <p:cNvPr id="477" name="Google Shape;477;p8"/>
          <p:cNvSpPr/>
          <p:nvPr/>
        </p:nvSpPr>
        <p:spPr>
          <a:xfrm>
            <a:off x="6437376" y="1755648"/>
            <a:ext cx="5413248" cy="7946136"/>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8"/>
          <p:cNvSpPr/>
          <p:nvPr/>
        </p:nvSpPr>
        <p:spPr>
          <a:xfrm>
            <a:off x="6437376" y="1755649"/>
            <a:ext cx="5413248" cy="69494"/>
          </a:xfrm>
          <a:prstGeom prst="rect">
            <a:avLst/>
          </a:prstGeom>
          <a:solidFill>
            <a:srgbClr val="1565A0"/>
          </a:solidFill>
          <a:ln w="1270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8"/>
          <p:cNvSpPr/>
          <p:nvPr/>
        </p:nvSpPr>
        <p:spPr>
          <a:xfrm>
            <a:off x="6620256" y="1790700"/>
            <a:ext cx="5138928"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a:solidFill>
                  <a:srgbClr val="1A1A1A"/>
                </a:solidFill>
                <a:latin typeface="Poppins"/>
                <a:ea typeface="Poppins"/>
                <a:cs typeface="Poppins"/>
                <a:sym typeface="Poppins"/>
              </a:rPr>
              <a:t>Time-Lag Correlation</a:t>
            </a:r>
            <a:endParaRPr sz="1800">
              <a:solidFill>
                <a:schemeClr val="dk1"/>
              </a:solidFill>
              <a:latin typeface="Calibri"/>
              <a:ea typeface="Calibri"/>
              <a:cs typeface="Calibri"/>
              <a:sym typeface="Calibri"/>
            </a:endParaRPr>
          </a:p>
        </p:txBody>
      </p:sp>
      <p:sp>
        <p:nvSpPr>
          <p:cNvPr id="480" name="Google Shape;480;p8"/>
          <p:cNvSpPr/>
          <p:nvPr/>
        </p:nvSpPr>
        <p:spPr>
          <a:xfrm>
            <a:off x="6620256" y="2194560"/>
            <a:ext cx="513892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Pairwise r-value across lag windows — established topology edges</a:t>
            </a:r>
            <a:endParaRPr sz="1400">
              <a:solidFill>
                <a:schemeClr val="dk1"/>
              </a:solidFill>
              <a:latin typeface="Calibri"/>
              <a:ea typeface="Calibri"/>
              <a:cs typeface="Calibri"/>
              <a:sym typeface="Calibri"/>
            </a:endParaRPr>
          </a:p>
        </p:txBody>
      </p:sp>
      <p:graphicFrame>
        <p:nvGraphicFramePr>
          <p:cNvPr id="481" name="Google Shape;481;p8"/>
          <p:cNvGraphicFramePr/>
          <p:nvPr/>
        </p:nvGraphicFramePr>
        <p:xfrm>
          <a:off x="6437376" y="2560320"/>
          <a:ext cx="5413248" cy="6629400"/>
        </p:xfrm>
        <a:graphic>
          <a:graphicData uri="http://schemas.openxmlformats.org/drawingml/2006/chart">
            <c:chart xmlns:c="http://schemas.openxmlformats.org/drawingml/2006/chart" xmlns:r="http://schemas.openxmlformats.org/officeDocument/2006/relationships" r:id="rId4"/>
          </a:graphicData>
        </a:graphic>
      </p:graphicFrame>
      <p:sp>
        <p:nvSpPr>
          <p:cNvPr id="482" name="Google Shape;482;p8"/>
          <p:cNvSpPr/>
          <p:nvPr/>
        </p:nvSpPr>
        <p:spPr>
          <a:xfrm>
            <a:off x="9217152" y="3145536"/>
            <a:ext cx="2414016" cy="694944"/>
          </a:xfrm>
          <a:prstGeom prst="rect">
            <a:avLst/>
          </a:prstGeom>
          <a:solidFill>
            <a:srgbClr val="FFF0F0"/>
          </a:solidFill>
          <a:ln w="952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8"/>
          <p:cNvSpPr/>
          <p:nvPr/>
        </p:nvSpPr>
        <p:spPr>
          <a:xfrm>
            <a:off x="9345168" y="3200400"/>
            <a:ext cx="215798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CC0000"/>
                </a:solidFill>
                <a:latin typeface="Poppins"/>
                <a:ea typeface="Poppins"/>
                <a:cs typeface="Poppins"/>
                <a:sym typeface="Poppins"/>
              </a:rPr>
              <a:t>Peak at 30s</a:t>
            </a:r>
            <a:endParaRPr sz="1500">
              <a:solidFill>
                <a:schemeClr val="dk1"/>
              </a:solidFill>
              <a:latin typeface="Calibri"/>
              <a:ea typeface="Calibri"/>
              <a:cs typeface="Calibri"/>
              <a:sym typeface="Calibri"/>
            </a:endParaRPr>
          </a:p>
        </p:txBody>
      </p:sp>
      <p:sp>
        <p:nvSpPr>
          <p:cNvPr id="484" name="Google Shape;484;p8"/>
          <p:cNvSpPr/>
          <p:nvPr/>
        </p:nvSpPr>
        <p:spPr>
          <a:xfrm>
            <a:off x="9345168" y="3511296"/>
            <a:ext cx="215798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rgbClr val="3A3A3A"/>
                </a:solidFill>
                <a:latin typeface="Poppins"/>
                <a:ea typeface="Poppins"/>
                <a:cs typeface="Poppins"/>
                <a:sym typeface="Poppins"/>
              </a:rPr>
              <a:t>probable dependency</a:t>
            </a:r>
            <a:endParaRPr sz="1400">
              <a:solidFill>
                <a:schemeClr val="dk1"/>
              </a:solidFill>
              <a:latin typeface="Calibri"/>
              <a:ea typeface="Calibri"/>
              <a:cs typeface="Calibri"/>
              <a:sym typeface="Calibri"/>
            </a:endParaRPr>
          </a:p>
        </p:txBody>
      </p:sp>
      <p:sp>
        <p:nvSpPr>
          <p:cNvPr id="485" name="Google Shape;485;p8"/>
          <p:cNvSpPr/>
          <p:nvPr/>
        </p:nvSpPr>
        <p:spPr>
          <a:xfrm>
            <a:off x="6620256" y="9336024"/>
            <a:ext cx="513892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rgbClr val="777777"/>
                </a:solidFill>
                <a:latin typeface="Poppins"/>
                <a:ea typeface="Poppins"/>
                <a:cs typeface="Poppins"/>
                <a:sym typeface="Poppins"/>
              </a:rPr>
              <a:t>Delayed peak = propagation lag</a:t>
            </a:r>
            <a:endParaRPr sz="1400">
              <a:solidFill>
                <a:schemeClr val="dk1"/>
              </a:solidFill>
              <a:latin typeface="Calibri"/>
              <a:ea typeface="Calibri"/>
              <a:cs typeface="Calibri"/>
              <a:sym typeface="Calibri"/>
            </a:endParaRPr>
          </a:p>
        </p:txBody>
      </p:sp>
      <p:sp>
        <p:nvSpPr>
          <p:cNvPr id="486" name="Google Shape;486;p8"/>
          <p:cNvSpPr/>
          <p:nvPr/>
        </p:nvSpPr>
        <p:spPr>
          <a:xfrm>
            <a:off x="12179808" y="1755648"/>
            <a:ext cx="5413248" cy="3881628"/>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8"/>
          <p:cNvSpPr/>
          <p:nvPr/>
        </p:nvSpPr>
        <p:spPr>
          <a:xfrm>
            <a:off x="12179808" y="1755649"/>
            <a:ext cx="5413248" cy="69494"/>
          </a:xfrm>
          <a:prstGeom prst="rect">
            <a:avLst/>
          </a:prstGeom>
          <a:solidFill>
            <a:srgbClr val="7A5C00"/>
          </a:solidFill>
          <a:ln w="12700" cap="flat" cmpd="sng">
            <a:solidFill>
              <a:srgbClr val="7A5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8"/>
          <p:cNvSpPr/>
          <p:nvPr/>
        </p:nvSpPr>
        <p:spPr>
          <a:xfrm>
            <a:off x="12362688" y="1828800"/>
            <a:ext cx="5138928"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Signal Ingestion &amp; Correlation Calc</a:t>
            </a:r>
            <a:endParaRPr sz="1700">
              <a:solidFill>
                <a:schemeClr val="dk1"/>
              </a:solidFill>
              <a:latin typeface="Calibri"/>
              <a:ea typeface="Calibri"/>
              <a:cs typeface="Calibri"/>
              <a:sym typeface="Calibri"/>
            </a:endParaRPr>
          </a:p>
        </p:txBody>
      </p:sp>
      <p:sp>
        <p:nvSpPr>
          <p:cNvPr id="489" name="Google Shape;489;p8"/>
          <p:cNvSpPr/>
          <p:nvPr/>
        </p:nvSpPr>
        <p:spPr>
          <a:xfrm>
            <a:off x="12362688" y="2377440"/>
            <a:ext cx="402336" cy="402336"/>
          </a:xfrm>
          <a:prstGeom prst="rect">
            <a:avLst/>
          </a:prstGeom>
          <a:solidFill>
            <a:srgbClr val="7A5C00"/>
          </a:solidFill>
          <a:ln w="12700" cap="flat" cmpd="sng">
            <a:solidFill>
              <a:srgbClr val="7A5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8"/>
          <p:cNvSpPr/>
          <p:nvPr/>
        </p:nvSpPr>
        <p:spPr>
          <a:xfrm>
            <a:off x="12362688" y="237744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01</a:t>
            </a:r>
            <a:endParaRPr sz="1400">
              <a:solidFill>
                <a:schemeClr val="dk1"/>
              </a:solidFill>
              <a:latin typeface="Calibri"/>
              <a:ea typeface="Calibri"/>
              <a:cs typeface="Calibri"/>
              <a:sym typeface="Calibri"/>
            </a:endParaRPr>
          </a:p>
        </p:txBody>
      </p:sp>
      <p:sp>
        <p:nvSpPr>
          <p:cNvPr id="491" name="Google Shape;491;p8"/>
          <p:cNvSpPr/>
          <p:nvPr/>
        </p:nvSpPr>
        <p:spPr>
          <a:xfrm>
            <a:off x="12874752" y="2359152"/>
            <a:ext cx="45354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Pull normalized JSON</a:t>
            </a:r>
            <a:endParaRPr sz="1500">
              <a:solidFill>
                <a:schemeClr val="dk1"/>
              </a:solidFill>
              <a:latin typeface="Calibri"/>
              <a:ea typeface="Calibri"/>
              <a:cs typeface="Calibri"/>
              <a:sym typeface="Calibri"/>
            </a:endParaRPr>
          </a:p>
        </p:txBody>
      </p:sp>
      <p:sp>
        <p:nvSpPr>
          <p:cNvPr id="492" name="Google Shape;492;p8"/>
          <p:cNvSpPr/>
          <p:nvPr/>
        </p:nvSpPr>
        <p:spPr>
          <a:xfrm>
            <a:off x="12874752" y="2670048"/>
            <a:ext cx="4535424" cy="339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Aggregation engine emits 5s event bundles — CPU, MEM, NET, PVC, I/O per pod.</a:t>
            </a:r>
            <a:endParaRPr sz="1400">
              <a:solidFill>
                <a:schemeClr val="dk1"/>
              </a:solidFill>
              <a:latin typeface="Calibri"/>
              <a:ea typeface="Calibri"/>
              <a:cs typeface="Calibri"/>
              <a:sym typeface="Calibri"/>
            </a:endParaRPr>
          </a:p>
        </p:txBody>
      </p:sp>
      <p:sp>
        <p:nvSpPr>
          <p:cNvPr id="493" name="Google Shape;493;p8"/>
          <p:cNvSpPr/>
          <p:nvPr/>
        </p:nvSpPr>
        <p:spPr>
          <a:xfrm>
            <a:off x="12362688" y="3192400"/>
            <a:ext cx="402336" cy="402336"/>
          </a:xfrm>
          <a:prstGeom prst="rect">
            <a:avLst/>
          </a:prstGeom>
          <a:solidFill>
            <a:srgbClr val="7A5C00"/>
          </a:solidFill>
          <a:ln w="12700" cap="flat" cmpd="sng">
            <a:solidFill>
              <a:srgbClr val="7A5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8"/>
          <p:cNvSpPr/>
          <p:nvPr/>
        </p:nvSpPr>
        <p:spPr>
          <a:xfrm>
            <a:off x="12362688" y="319240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02</a:t>
            </a:r>
            <a:endParaRPr sz="1400">
              <a:solidFill>
                <a:schemeClr val="dk1"/>
              </a:solidFill>
              <a:latin typeface="Calibri"/>
              <a:ea typeface="Calibri"/>
              <a:cs typeface="Calibri"/>
              <a:sym typeface="Calibri"/>
            </a:endParaRPr>
          </a:p>
        </p:txBody>
      </p:sp>
      <p:sp>
        <p:nvSpPr>
          <p:cNvPr id="495" name="Google Shape;495;p8"/>
          <p:cNvSpPr/>
          <p:nvPr/>
        </p:nvSpPr>
        <p:spPr>
          <a:xfrm>
            <a:off x="12874752" y="3174112"/>
            <a:ext cx="45354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Construct signal vectors</a:t>
            </a:r>
            <a:endParaRPr sz="1500">
              <a:solidFill>
                <a:schemeClr val="dk1"/>
              </a:solidFill>
              <a:latin typeface="Calibri"/>
              <a:ea typeface="Calibri"/>
              <a:cs typeface="Calibri"/>
              <a:sym typeface="Calibri"/>
            </a:endParaRPr>
          </a:p>
        </p:txBody>
      </p:sp>
      <p:sp>
        <p:nvSpPr>
          <p:cNvPr id="496" name="Google Shape;496;p8"/>
          <p:cNvSpPr/>
          <p:nvPr/>
        </p:nvSpPr>
        <p:spPr>
          <a:xfrm>
            <a:off x="12874752" y="3485008"/>
            <a:ext cx="4535424" cy="339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Each pod becomes a time-series matrix. Missing samples interpolated linearly.</a:t>
            </a:r>
            <a:endParaRPr sz="1400">
              <a:solidFill>
                <a:schemeClr val="dk1"/>
              </a:solidFill>
              <a:latin typeface="Calibri"/>
              <a:ea typeface="Calibri"/>
              <a:cs typeface="Calibri"/>
              <a:sym typeface="Calibri"/>
            </a:endParaRPr>
          </a:p>
        </p:txBody>
      </p:sp>
      <p:sp>
        <p:nvSpPr>
          <p:cNvPr id="497" name="Google Shape;497;p8"/>
          <p:cNvSpPr/>
          <p:nvPr/>
        </p:nvSpPr>
        <p:spPr>
          <a:xfrm>
            <a:off x="12362688" y="4007358"/>
            <a:ext cx="402336" cy="402336"/>
          </a:xfrm>
          <a:prstGeom prst="rect">
            <a:avLst/>
          </a:prstGeom>
          <a:solidFill>
            <a:srgbClr val="7A5C00"/>
          </a:solidFill>
          <a:ln w="12700" cap="flat" cmpd="sng">
            <a:solidFill>
              <a:srgbClr val="7A5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8"/>
          <p:cNvSpPr/>
          <p:nvPr/>
        </p:nvSpPr>
        <p:spPr>
          <a:xfrm>
            <a:off x="12362688" y="400735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03</a:t>
            </a:r>
            <a:endParaRPr sz="1400">
              <a:solidFill>
                <a:schemeClr val="dk1"/>
              </a:solidFill>
              <a:latin typeface="Calibri"/>
              <a:ea typeface="Calibri"/>
              <a:cs typeface="Calibri"/>
              <a:sym typeface="Calibri"/>
            </a:endParaRPr>
          </a:p>
        </p:txBody>
      </p:sp>
      <p:sp>
        <p:nvSpPr>
          <p:cNvPr id="499" name="Google Shape;499;p8"/>
          <p:cNvSpPr/>
          <p:nvPr/>
        </p:nvSpPr>
        <p:spPr>
          <a:xfrm>
            <a:off x="12874752" y="3989070"/>
            <a:ext cx="45354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Pairwise lag correlation</a:t>
            </a:r>
            <a:endParaRPr sz="1500">
              <a:solidFill>
                <a:schemeClr val="dk1"/>
              </a:solidFill>
              <a:latin typeface="Calibri"/>
              <a:ea typeface="Calibri"/>
              <a:cs typeface="Calibri"/>
              <a:sym typeface="Calibri"/>
            </a:endParaRPr>
          </a:p>
        </p:txBody>
      </p:sp>
      <p:sp>
        <p:nvSpPr>
          <p:cNvPr id="500" name="Google Shape;500;p8"/>
          <p:cNvSpPr/>
          <p:nvPr/>
        </p:nvSpPr>
        <p:spPr>
          <a:xfrm>
            <a:off x="12874752" y="4299966"/>
            <a:ext cx="4535424" cy="339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Pearson r computed across all pod pairs at lag windows 0s, 15s, 30s, 60s, 120s.</a:t>
            </a:r>
            <a:endParaRPr sz="1400">
              <a:solidFill>
                <a:schemeClr val="dk1"/>
              </a:solidFill>
              <a:latin typeface="Calibri"/>
              <a:ea typeface="Calibri"/>
              <a:cs typeface="Calibri"/>
              <a:sym typeface="Calibri"/>
            </a:endParaRPr>
          </a:p>
        </p:txBody>
      </p:sp>
      <p:sp>
        <p:nvSpPr>
          <p:cNvPr id="501" name="Google Shape;501;p8"/>
          <p:cNvSpPr/>
          <p:nvPr/>
        </p:nvSpPr>
        <p:spPr>
          <a:xfrm>
            <a:off x="12362688" y="4822318"/>
            <a:ext cx="402336" cy="402336"/>
          </a:xfrm>
          <a:prstGeom prst="rect">
            <a:avLst/>
          </a:prstGeom>
          <a:solidFill>
            <a:srgbClr val="7A5C00"/>
          </a:solidFill>
          <a:ln w="12700" cap="flat" cmpd="sng">
            <a:solidFill>
              <a:srgbClr val="7A5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8"/>
          <p:cNvSpPr/>
          <p:nvPr/>
        </p:nvSpPr>
        <p:spPr>
          <a:xfrm>
            <a:off x="12362688" y="482231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04</a:t>
            </a:r>
            <a:endParaRPr sz="1400">
              <a:solidFill>
                <a:schemeClr val="dk1"/>
              </a:solidFill>
              <a:latin typeface="Calibri"/>
              <a:ea typeface="Calibri"/>
              <a:cs typeface="Calibri"/>
              <a:sym typeface="Calibri"/>
            </a:endParaRPr>
          </a:p>
        </p:txBody>
      </p:sp>
      <p:sp>
        <p:nvSpPr>
          <p:cNvPr id="503" name="Google Shape;503;p8"/>
          <p:cNvSpPr/>
          <p:nvPr/>
        </p:nvSpPr>
        <p:spPr>
          <a:xfrm>
            <a:off x="12874752" y="4804028"/>
            <a:ext cx="45354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Weight assignment</a:t>
            </a:r>
            <a:endParaRPr sz="1500">
              <a:solidFill>
                <a:schemeClr val="dk1"/>
              </a:solidFill>
              <a:latin typeface="Calibri"/>
              <a:ea typeface="Calibri"/>
              <a:cs typeface="Calibri"/>
              <a:sym typeface="Calibri"/>
            </a:endParaRPr>
          </a:p>
        </p:txBody>
      </p:sp>
      <p:sp>
        <p:nvSpPr>
          <p:cNvPr id="504" name="Google Shape;504;p8"/>
          <p:cNvSpPr/>
          <p:nvPr/>
        </p:nvSpPr>
        <p:spPr>
          <a:xfrm>
            <a:off x="12874752" y="5114926"/>
            <a:ext cx="4535424" cy="339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Peak r-value and its lag written as edge weight onto the known eBPF topology.</a:t>
            </a:r>
            <a:endParaRPr sz="1400">
              <a:solidFill>
                <a:schemeClr val="dk1"/>
              </a:solidFill>
              <a:latin typeface="Calibri"/>
              <a:ea typeface="Calibri"/>
              <a:cs typeface="Calibri"/>
              <a:sym typeface="Calibri"/>
            </a:endParaRPr>
          </a:p>
        </p:txBody>
      </p:sp>
      <p:sp>
        <p:nvSpPr>
          <p:cNvPr id="505" name="Google Shape;505;p8"/>
          <p:cNvSpPr/>
          <p:nvPr/>
        </p:nvSpPr>
        <p:spPr>
          <a:xfrm>
            <a:off x="12179808" y="5820156"/>
            <a:ext cx="5413248" cy="3881628"/>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8"/>
          <p:cNvSpPr/>
          <p:nvPr/>
        </p:nvSpPr>
        <p:spPr>
          <a:xfrm>
            <a:off x="12179808" y="5820157"/>
            <a:ext cx="5413248" cy="6949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8"/>
          <p:cNvSpPr/>
          <p:nvPr/>
        </p:nvSpPr>
        <p:spPr>
          <a:xfrm>
            <a:off x="12362688" y="5846064"/>
            <a:ext cx="5138928"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Root Cause Ranking + NLP Suggestion</a:t>
            </a:r>
            <a:endParaRPr sz="1700">
              <a:solidFill>
                <a:schemeClr val="dk1"/>
              </a:solidFill>
              <a:latin typeface="Calibri"/>
              <a:ea typeface="Calibri"/>
              <a:cs typeface="Calibri"/>
              <a:sym typeface="Calibri"/>
            </a:endParaRPr>
          </a:p>
        </p:txBody>
      </p:sp>
      <p:sp>
        <p:nvSpPr>
          <p:cNvPr id="508" name="Google Shape;508;p8"/>
          <p:cNvSpPr/>
          <p:nvPr/>
        </p:nvSpPr>
        <p:spPr>
          <a:xfrm>
            <a:off x="12362688" y="6341364"/>
            <a:ext cx="402336" cy="402336"/>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8"/>
          <p:cNvSpPr/>
          <p:nvPr/>
        </p:nvSpPr>
        <p:spPr>
          <a:xfrm>
            <a:off x="12362688" y="6341364"/>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05</a:t>
            </a:r>
            <a:endParaRPr sz="1400">
              <a:solidFill>
                <a:schemeClr val="dk1"/>
              </a:solidFill>
              <a:latin typeface="Calibri"/>
              <a:ea typeface="Calibri"/>
              <a:cs typeface="Calibri"/>
              <a:sym typeface="Calibri"/>
            </a:endParaRPr>
          </a:p>
        </p:txBody>
      </p:sp>
      <p:sp>
        <p:nvSpPr>
          <p:cNvPr id="510" name="Google Shape;510;p8"/>
          <p:cNvSpPr/>
          <p:nvPr/>
        </p:nvSpPr>
        <p:spPr>
          <a:xfrm>
            <a:off x="12874752" y="6211062"/>
            <a:ext cx="45354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Score upstream nodes</a:t>
            </a:r>
            <a:endParaRPr sz="1500">
              <a:solidFill>
                <a:schemeClr val="dk1"/>
              </a:solidFill>
              <a:latin typeface="Calibri"/>
              <a:ea typeface="Calibri"/>
              <a:cs typeface="Calibri"/>
              <a:sym typeface="Calibri"/>
            </a:endParaRPr>
          </a:p>
        </p:txBody>
      </p:sp>
      <p:sp>
        <p:nvSpPr>
          <p:cNvPr id="511" name="Google Shape;511;p8"/>
          <p:cNvSpPr/>
          <p:nvPr/>
        </p:nvSpPr>
        <p:spPr>
          <a:xfrm>
            <a:off x="12911328" y="6464808"/>
            <a:ext cx="4535424" cy="2697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Nodes with highest outbound r-values and shortest lag windows ranked as probable root causes.</a:t>
            </a:r>
            <a:endParaRPr sz="1400">
              <a:solidFill>
                <a:schemeClr val="dk1"/>
              </a:solidFill>
              <a:latin typeface="Calibri"/>
              <a:ea typeface="Calibri"/>
              <a:cs typeface="Calibri"/>
              <a:sym typeface="Calibri"/>
            </a:endParaRPr>
          </a:p>
        </p:txBody>
      </p:sp>
      <p:sp>
        <p:nvSpPr>
          <p:cNvPr id="512" name="Google Shape;512;p8"/>
          <p:cNvSpPr/>
          <p:nvPr/>
        </p:nvSpPr>
        <p:spPr>
          <a:xfrm>
            <a:off x="12362688" y="7149008"/>
            <a:ext cx="402336" cy="402336"/>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8"/>
          <p:cNvSpPr/>
          <p:nvPr/>
        </p:nvSpPr>
        <p:spPr>
          <a:xfrm>
            <a:off x="12362688" y="714900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06</a:t>
            </a:r>
            <a:endParaRPr sz="1400">
              <a:solidFill>
                <a:schemeClr val="dk1"/>
              </a:solidFill>
              <a:latin typeface="Calibri"/>
              <a:ea typeface="Calibri"/>
              <a:cs typeface="Calibri"/>
              <a:sym typeface="Calibri"/>
            </a:endParaRPr>
          </a:p>
        </p:txBody>
      </p:sp>
      <p:sp>
        <p:nvSpPr>
          <p:cNvPr id="514" name="Google Shape;514;p8"/>
          <p:cNvSpPr/>
          <p:nvPr/>
        </p:nvSpPr>
        <p:spPr>
          <a:xfrm>
            <a:off x="12874752" y="7024878"/>
            <a:ext cx="45354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Blast radius mapping</a:t>
            </a:r>
            <a:endParaRPr sz="1500">
              <a:solidFill>
                <a:schemeClr val="dk1"/>
              </a:solidFill>
              <a:latin typeface="Calibri"/>
              <a:ea typeface="Calibri"/>
              <a:cs typeface="Calibri"/>
              <a:sym typeface="Calibri"/>
            </a:endParaRPr>
          </a:p>
        </p:txBody>
      </p:sp>
      <p:sp>
        <p:nvSpPr>
          <p:cNvPr id="515" name="Google Shape;515;p8"/>
          <p:cNvSpPr/>
          <p:nvPr/>
        </p:nvSpPr>
        <p:spPr>
          <a:xfrm>
            <a:off x="12874752" y="7297445"/>
            <a:ext cx="4718304" cy="2697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Propagation chain traced via weighted edges:</a:t>
            </a:r>
            <a:endParaRPr/>
          </a:p>
          <a:p>
            <a:pPr marL="0" marR="0" lvl="0" indent="0" algn="l" rtl="0">
              <a:spcBef>
                <a:spcPts val="0"/>
              </a:spcBef>
              <a:spcAft>
                <a:spcPts val="0"/>
              </a:spcAft>
              <a:buNone/>
            </a:pPr>
            <a:r>
              <a:rPr lang="en-US" sz="1400">
                <a:solidFill>
                  <a:srgbClr val="777777"/>
                </a:solidFill>
                <a:latin typeface="Poppins"/>
                <a:ea typeface="Poppins"/>
                <a:cs typeface="Poppins"/>
                <a:sym typeface="Poppins"/>
              </a:rPr>
              <a:t>identifying indirect and hidden downstream effects.</a:t>
            </a:r>
            <a:endParaRPr sz="1400">
              <a:solidFill>
                <a:schemeClr val="dk1"/>
              </a:solidFill>
              <a:latin typeface="Calibri"/>
              <a:ea typeface="Calibri"/>
              <a:cs typeface="Calibri"/>
              <a:sym typeface="Calibri"/>
            </a:endParaRPr>
          </a:p>
        </p:txBody>
      </p:sp>
      <p:sp>
        <p:nvSpPr>
          <p:cNvPr id="516" name="Google Shape;516;p8"/>
          <p:cNvSpPr/>
          <p:nvPr/>
        </p:nvSpPr>
        <p:spPr>
          <a:xfrm>
            <a:off x="12362688" y="7963966"/>
            <a:ext cx="402336" cy="402336"/>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8"/>
          <p:cNvSpPr/>
          <p:nvPr/>
        </p:nvSpPr>
        <p:spPr>
          <a:xfrm>
            <a:off x="12362688" y="796396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07</a:t>
            </a:r>
            <a:endParaRPr sz="1400">
              <a:solidFill>
                <a:schemeClr val="dk1"/>
              </a:solidFill>
              <a:latin typeface="Calibri"/>
              <a:ea typeface="Calibri"/>
              <a:cs typeface="Calibri"/>
              <a:sym typeface="Calibri"/>
            </a:endParaRPr>
          </a:p>
        </p:txBody>
      </p:sp>
      <p:sp>
        <p:nvSpPr>
          <p:cNvPr id="518" name="Google Shape;518;p8"/>
          <p:cNvSpPr/>
          <p:nvPr/>
        </p:nvSpPr>
        <p:spPr>
          <a:xfrm>
            <a:off x="12905232" y="7815605"/>
            <a:ext cx="453542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NLP insight generation</a:t>
            </a:r>
            <a:endParaRPr sz="1500">
              <a:solidFill>
                <a:schemeClr val="dk1"/>
              </a:solidFill>
              <a:latin typeface="Calibri"/>
              <a:ea typeface="Calibri"/>
              <a:cs typeface="Calibri"/>
              <a:sym typeface="Calibri"/>
            </a:endParaRPr>
          </a:p>
        </p:txBody>
      </p:sp>
      <p:sp>
        <p:nvSpPr>
          <p:cNvPr id="519" name="Google Shape;519;p8"/>
          <p:cNvSpPr/>
          <p:nvPr/>
        </p:nvSpPr>
        <p:spPr>
          <a:xfrm>
            <a:off x="12874752" y="8109279"/>
            <a:ext cx="4535424" cy="2697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00">
                <a:solidFill>
                  <a:srgbClr val="777777"/>
                </a:solidFill>
                <a:latin typeface="Poppins"/>
                <a:ea typeface="Poppins"/>
                <a:cs typeface="Poppins"/>
                <a:sym typeface="Poppins"/>
              </a:rPr>
              <a:t>Lead Orchestrator passes ranked graph to NLP agent, which translates findings into plain English.</a:t>
            </a:r>
            <a:endParaRPr sz="1400">
              <a:solidFill>
                <a:schemeClr val="dk1"/>
              </a:solidFill>
              <a:latin typeface="Calibri"/>
              <a:ea typeface="Calibri"/>
              <a:cs typeface="Calibri"/>
              <a:sym typeface="Calibri"/>
            </a:endParaRPr>
          </a:p>
        </p:txBody>
      </p:sp>
      <p:sp>
        <p:nvSpPr>
          <p:cNvPr id="520" name="Google Shape;520;p8"/>
          <p:cNvSpPr/>
          <p:nvPr/>
        </p:nvSpPr>
        <p:spPr>
          <a:xfrm>
            <a:off x="12362688" y="8714232"/>
            <a:ext cx="5047488" cy="841248"/>
          </a:xfrm>
          <a:prstGeom prst="rect">
            <a:avLst/>
          </a:prstGeom>
          <a:solidFill>
            <a:srgbClr val="FFF0F0"/>
          </a:solidFill>
          <a:ln w="952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8"/>
          <p:cNvSpPr/>
          <p:nvPr/>
        </p:nvSpPr>
        <p:spPr>
          <a:xfrm>
            <a:off x="12362688" y="8714232"/>
            <a:ext cx="73152" cy="841248"/>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8"/>
          <p:cNvSpPr/>
          <p:nvPr/>
        </p:nvSpPr>
        <p:spPr>
          <a:xfrm>
            <a:off x="12545568" y="8750808"/>
            <a:ext cx="14630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00" b="1">
                <a:solidFill>
                  <a:srgbClr val="CC0000"/>
                </a:solidFill>
                <a:latin typeface="Poppins"/>
                <a:ea typeface="Poppins"/>
                <a:cs typeface="Poppins"/>
                <a:sym typeface="Poppins"/>
              </a:rPr>
              <a:t>NLP Output</a:t>
            </a:r>
            <a:endParaRPr sz="1300">
              <a:solidFill>
                <a:schemeClr val="dk1"/>
              </a:solidFill>
              <a:latin typeface="Calibri"/>
              <a:ea typeface="Calibri"/>
              <a:cs typeface="Calibri"/>
              <a:sym typeface="Calibri"/>
            </a:endParaRPr>
          </a:p>
        </p:txBody>
      </p:sp>
      <p:sp>
        <p:nvSpPr>
          <p:cNvPr id="523" name="Google Shape;523;p8"/>
          <p:cNvSpPr/>
          <p:nvPr/>
        </p:nvSpPr>
        <p:spPr>
          <a:xfrm>
            <a:off x="12545568" y="8988552"/>
            <a:ext cx="4828032" cy="51206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i="1">
                <a:solidFill>
                  <a:schemeClr val="dk1"/>
                </a:solidFill>
                <a:latin typeface="Poppins"/>
                <a:ea typeface="Poppins"/>
                <a:cs typeface="Poppins"/>
                <a:sym typeface="Poppins"/>
              </a:rPr>
              <a:t>"CPU anomaly spike (t-30s) is the probable root cause of CCR latency degradation. TSDB PVC saturation contributing via storage contention; causing 60s propagation lag."</a:t>
            </a:r>
            <a:endParaRPr sz="1200">
              <a:solidFill>
                <a:schemeClr val="dk1"/>
              </a:solidFill>
              <a:latin typeface="Calibri"/>
              <a:ea typeface="Calibri"/>
              <a:cs typeface="Calibri"/>
              <a:sym typeface="Calibri"/>
            </a:endParaRPr>
          </a:p>
        </p:txBody>
      </p:sp>
      <p:sp>
        <p:nvSpPr>
          <p:cNvPr id="524" name="Google Shape;524;p8"/>
          <p:cNvSpPr/>
          <p:nvPr/>
        </p:nvSpPr>
        <p:spPr>
          <a:xfrm>
            <a:off x="6254497" y="1755648"/>
            <a:ext cx="21946" cy="7946136"/>
          </a:xfrm>
          <a:prstGeom prst="rect">
            <a:avLst/>
          </a:prstGeom>
          <a:solidFill>
            <a:srgbClr val="CCCCCC"/>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8"/>
          <p:cNvSpPr/>
          <p:nvPr/>
        </p:nvSpPr>
        <p:spPr>
          <a:xfrm>
            <a:off x="11996929" y="1755648"/>
            <a:ext cx="21946" cy="7946136"/>
          </a:xfrm>
          <a:prstGeom prst="rect">
            <a:avLst/>
          </a:prstGeom>
          <a:solidFill>
            <a:srgbClr val="CCCCCC"/>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8"/>
          <p:cNvSpPr/>
          <p:nvPr/>
        </p:nvSpPr>
        <p:spPr>
          <a:xfrm>
            <a:off x="0" y="9774936"/>
            <a:ext cx="18288000" cy="512064"/>
          </a:xfrm>
          <a:prstGeom prst="rect">
            <a:avLst/>
          </a:prstGeom>
          <a:solidFill>
            <a:srgbClr val="0D0D0D"/>
          </a:solidFill>
          <a:ln w="12700" cap="flat" cmpd="sng">
            <a:solidFill>
              <a:srgbClr val="0D0D0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7" name="Google Shape;527;p8"/>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8" name="Google Shape;528;p8"/>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sz="1400">
              <a:solidFill>
                <a:schemeClr val="dk1"/>
              </a:solidFill>
              <a:latin typeface="Calibri"/>
              <a:ea typeface="Calibri"/>
              <a:cs typeface="Calibri"/>
              <a:sym typeface="Calibri"/>
            </a:endParaRPr>
          </a:p>
        </p:txBody>
      </p:sp>
      <p:sp>
        <p:nvSpPr>
          <p:cNvPr id="529" name="Google Shape;529;p8"/>
          <p:cNvSpPr/>
          <p:nvPr/>
        </p:nvSpPr>
        <p:spPr>
          <a:xfrm>
            <a:off x="1645920" y="9774936"/>
            <a:ext cx="1280160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lt1"/>
                </a:solidFill>
                <a:latin typeface="Poppins"/>
                <a:ea typeface="Poppins"/>
                <a:cs typeface="Poppins"/>
                <a:sym typeface="Poppins"/>
              </a:rPr>
              <a:t>SiliconKnights</a:t>
            </a:r>
            <a:endParaRPr sz="1400">
              <a:solidFill>
                <a:schemeClr val="lt1"/>
              </a:solidFill>
              <a:latin typeface="Calibri"/>
              <a:ea typeface="Calibri"/>
              <a:cs typeface="Calibri"/>
              <a:sym typeface="Calibri"/>
            </a:endParaRPr>
          </a:p>
        </p:txBody>
      </p:sp>
      <p:sp>
        <p:nvSpPr>
          <p:cNvPr id="530" name="Google Shape;530;p8"/>
          <p:cNvSpPr/>
          <p:nvPr/>
        </p:nvSpPr>
        <p:spPr>
          <a:xfrm>
            <a:off x="17373600" y="9774936"/>
            <a:ext cx="731520" cy="5120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a:solidFill>
                  <a:schemeClr val="lt1"/>
                </a:solidFill>
                <a:latin typeface="Calibri"/>
                <a:ea typeface="Calibri"/>
                <a:cs typeface="Calibri"/>
                <a:sym typeface="Calibri"/>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80060" y="342900"/>
            <a:ext cx="617220" cy="480060"/>
          </a:xfrm>
          <a:prstGeom prst="rect">
            <a:avLst/>
          </a:prstGeom>
          <a:solidFill>
            <a:srgbClr val="CC0000"/>
          </a:solidFill>
          <a:ln w="12700">
            <a:solidFill>
              <a:srgbClr val="CC0000"/>
            </a:solidFill>
            <a:prstDash val="solid"/>
          </a:ln>
        </p:spPr>
      </p:sp>
      <p:sp>
        <p:nvSpPr>
          <p:cNvPr id="3" name="Text 1"/>
          <p:cNvSpPr/>
          <p:nvPr/>
        </p:nvSpPr>
        <p:spPr>
          <a:xfrm>
            <a:off x="480060" y="342900"/>
            <a:ext cx="617220" cy="480060"/>
          </a:xfrm>
          <a:prstGeom prst="rect">
            <a:avLst/>
          </a:prstGeom>
          <a:noFill/>
          <a:ln/>
        </p:spPr>
        <p:txBody>
          <a:bodyPr wrap="square" lIns="0" tIns="0" rIns="0" bIns="0" rtlCol="0" anchor="ctr"/>
          <a:lstStyle/>
          <a:p>
            <a:pPr algn="ctr"/>
            <a:r>
              <a:rPr lang="en-US" sz="1650" b="1" dirty="0">
                <a:solidFill>
                  <a:srgbClr val="FFFFFF"/>
                </a:solidFill>
              </a:rPr>
              <a:t>09</a:t>
            </a:r>
            <a:endParaRPr lang="en-US" sz="1650" dirty="0"/>
          </a:p>
        </p:txBody>
      </p:sp>
      <p:sp>
        <p:nvSpPr>
          <p:cNvPr id="4" name="Text 2"/>
          <p:cNvSpPr/>
          <p:nvPr/>
        </p:nvSpPr>
        <p:spPr>
          <a:xfrm>
            <a:off x="1193292" y="274320"/>
            <a:ext cx="15087600" cy="617220"/>
          </a:xfrm>
          <a:prstGeom prst="rect">
            <a:avLst/>
          </a:prstGeom>
          <a:noFill/>
          <a:ln/>
        </p:spPr>
        <p:txBody>
          <a:bodyPr wrap="square" lIns="0" tIns="0" rIns="0" bIns="0" rtlCol="0" anchor="ctr"/>
          <a:lstStyle/>
          <a:p>
            <a:r>
              <a:rPr lang="en-US" sz="4200" b="1" dirty="0">
                <a:solidFill>
                  <a:srgbClr val="111111"/>
                </a:solidFill>
                <a:latin typeface="Calibri" pitchFamily="34" charset="0"/>
                <a:ea typeface="Calibri" pitchFamily="34" charset="-122"/>
                <a:cs typeface="Calibri" pitchFamily="34" charset="-120"/>
              </a:rPr>
              <a:t>L3: Correlation &amp; Multi AI Engine</a:t>
            </a:r>
            <a:endParaRPr lang="en-US" sz="4200" dirty="0"/>
          </a:p>
        </p:txBody>
      </p:sp>
      <p:sp>
        <p:nvSpPr>
          <p:cNvPr id="5" name="Text 3"/>
          <p:cNvSpPr/>
          <p:nvPr/>
        </p:nvSpPr>
        <p:spPr>
          <a:xfrm>
            <a:off x="1193292" y="891540"/>
            <a:ext cx="15773400" cy="384048"/>
          </a:xfrm>
          <a:prstGeom prst="rect">
            <a:avLst/>
          </a:prstGeom>
          <a:noFill/>
          <a:ln/>
        </p:spPr>
        <p:txBody>
          <a:bodyPr wrap="square" lIns="0" tIns="0" rIns="0" bIns="0" rtlCol="0" anchor="ctr"/>
          <a:lstStyle/>
          <a:p>
            <a:r>
              <a:rPr lang="en-US" sz="1800" dirty="0">
                <a:solidFill>
                  <a:srgbClr val="555555"/>
                </a:solidFill>
                <a:latin typeface="Calibri" pitchFamily="34" charset="0"/>
                <a:ea typeface="Calibri" pitchFamily="34" charset="-122"/>
                <a:cs typeface="Calibri" pitchFamily="34" charset="-120"/>
              </a:rPr>
              <a:t>Specialized agents for real-time resource correlation and dependency inference</a:t>
            </a:r>
            <a:endParaRPr lang="en-US" sz="1800" dirty="0"/>
          </a:p>
        </p:txBody>
      </p:sp>
      <p:sp>
        <p:nvSpPr>
          <p:cNvPr id="6" name="Shape 4"/>
          <p:cNvSpPr/>
          <p:nvPr/>
        </p:nvSpPr>
        <p:spPr>
          <a:xfrm>
            <a:off x="480060" y="1399032"/>
            <a:ext cx="17282160" cy="54864"/>
          </a:xfrm>
          <a:prstGeom prst="rect">
            <a:avLst/>
          </a:prstGeom>
          <a:solidFill>
            <a:srgbClr val="CC0000"/>
          </a:solidFill>
          <a:ln w="12700">
            <a:solidFill>
              <a:srgbClr val="CC0000"/>
            </a:solidFill>
            <a:prstDash val="solid"/>
          </a:ln>
        </p:spPr>
      </p:sp>
      <p:sp>
        <p:nvSpPr>
          <p:cNvPr id="7" name="Shape 5"/>
          <p:cNvSpPr/>
          <p:nvPr/>
        </p:nvSpPr>
        <p:spPr>
          <a:xfrm>
            <a:off x="480060" y="1700784"/>
            <a:ext cx="2907792" cy="5239512"/>
          </a:xfrm>
          <a:prstGeom prst="rect">
            <a:avLst/>
          </a:prstGeom>
          <a:solidFill>
            <a:srgbClr val="FFFFFF"/>
          </a:solidFill>
          <a:ln w="19050">
            <a:solidFill>
              <a:srgbClr val="1F6AB0"/>
            </a:solidFill>
            <a:prstDash val="solid"/>
          </a:ln>
        </p:spPr>
      </p:sp>
      <p:sp>
        <p:nvSpPr>
          <p:cNvPr id="8" name="Shape 6"/>
          <p:cNvSpPr/>
          <p:nvPr/>
        </p:nvSpPr>
        <p:spPr>
          <a:xfrm>
            <a:off x="480060" y="1700784"/>
            <a:ext cx="96012" cy="5239512"/>
          </a:xfrm>
          <a:prstGeom prst="rect">
            <a:avLst/>
          </a:prstGeom>
          <a:solidFill>
            <a:srgbClr val="1F6AB0"/>
          </a:solidFill>
          <a:ln w="12700">
            <a:solidFill>
              <a:srgbClr val="1F6AB0"/>
            </a:solidFill>
            <a:prstDash val="solid"/>
          </a:ln>
        </p:spPr>
      </p:sp>
      <p:sp>
        <p:nvSpPr>
          <p:cNvPr id="9" name="Shape 7"/>
          <p:cNvSpPr/>
          <p:nvPr/>
        </p:nvSpPr>
        <p:spPr>
          <a:xfrm>
            <a:off x="576072" y="1700784"/>
            <a:ext cx="2811780" cy="987552"/>
          </a:xfrm>
          <a:prstGeom prst="rect">
            <a:avLst/>
          </a:prstGeom>
          <a:solidFill>
            <a:srgbClr val="EEF4FB"/>
          </a:solidFill>
          <a:ln w="19050">
            <a:solidFill>
              <a:srgbClr val="1F6AB0"/>
            </a:solidFill>
            <a:prstDash val="solid"/>
          </a:ln>
        </p:spPr>
      </p:sp>
      <p:sp>
        <p:nvSpPr>
          <p:cNvPr id="10" name="Text 8"/>
          <p:cNvSpPr/>
          <p:nvPr/>
        </p:nvSpPr>
        <p:spPr>
          <a:xfrm>
            <a:off x="672084" y="1769364"/>
            <a:ext cx="2633472" cy="493776"/>
          </a:xfrm>
          <a:prstGeom prst="rect">
            <a:avLst/>
          </a:prstGeom>
          <a:noFill/>
          <a:ln/>
        </p:spPr>
        <p:txBody>
          <a:bodyPr wrap="square" lIns="0" tIns="0" rIns="0" bIns="0" rtlCol="0" anchor="ctr"/>
          <a:lstStyle/>
          <a:p>
            <a:r>
              <a:rPr lang="en-US" sz="1725" b="1" dirty="0">
                <a:solidFill>
                  <a:srgbClr val="1F6AB0"/>
                </a:solidFill>
                <a:latin typeface="Calibri" pitchFamily="34" charset="0"/>
                <a:ea typeface="Calibri" pitchFamily="34" charset="-122"/>
                <a:cs typeface="Calibri" pitchFamily="34" charset="-120"/>
              </a:rPr>
              <a:t>Resource Agent</a:t>
            </a:r>
            <a:endParaRPr lang="en-US" sz="1725" dirty="0"/>
          </a:p>
        </p:txBody>
      </p:sp>
      <p:sp>
        <p:nvSpPr>
          <p:cNvPr id="11" name="Text 9"/>
          <p:cNvSpPr/>
          <p:nvPr/>
        </p:nvSpPr>
        <p:spPr>
          <a:xfrm>
            <a:off x="672084" y="2249424"/>
            <a:ext cx="2633472" cy="384048"/>
          </a:xfrm>
          <a:prstGeom prst="rect">
            <a:avLst/>
          </a:prstGeom>
          <a:noFill/>
          <a:ln/>
        </p:spPr>
        <p:txBody>
          <a:bodyPr wrap="square" lIns="0" tIns="0" rIns="0" bIns="0" rtlCol="0" anchor="t"/>
          <a:lstStyle/>
          <a:p>
            <a:r>
              <a:rPr lang="en-US" sz="1425" dirty="0">
                <a:solidFill>
                  <a:srgbClr val="555555"/>
                </a:solidFill>
                <a:latin typeface="Calibri" pitchFamily="34" charset="0"/>
                <a:ea typeface="Calibri" pitchFamily="34" charset="-122"/>
                <a:cs typeface="Calibri" pitchFamily="34" charset="-120"/>
              </a:rPr>
              <a:t>Infrastructure metrics</a:t>
            </a:r>
            <a:endParaRPr lang="en-US" sz="1425" dirty="0"/>
          </a:p>
        </p:txBody>
      </p:sp>
      <p:sp>
        <p:nvSpPr>
          <p:cNvPr id="12" name="Shape 10"/>
          <p:cNvSpPr/>
          <p:nvPr/>
        </p:nvSpPr>
        <p:spPr>
          <a:xfrm>
            <a:off x="576072" y="2688336"/>
            <a:ext cx="2811780" cy="27432"/>
          </a:xfrm>
          <a:prstGeom prst="rect">
            <a:avLst/>
          </a:prstGeom>
          <a:solidFill>
            <a:srgbClr val="1F6AB0"/>
          </a:solidFill>
          <a:ln w="12700">
            <a:solidFill>
              <a:srgbClr val="1F6AB0"/>
            </a:solidFill>
            <a:prstDash val="solid"/>
          </a:ln>
        </p:spPr>
      </p:sp>
      <p:sp>
        <p:nvSpPr>
          <p:cNvPr id="13" name="Shape 11"/>
          <p:cNvSpPr/>
          <p:nvPr/>
        </p:nvSpPr>
        <p:spPr>
          <a:xfrm>
            <a:off x="713232" y="2935224"/>
            <a:ext cx="137160" cy="137160"/>
          </a:xfrm>
          <a:prstGeom prst="ellipse">
            <a:avLst/>
          </a:prstGeom>
          <a:solidFill>
            <a:srgbClr val="1F6AB0"/>
          </a:solidFill>
          <a:ln w="12700">
            <a:solidFill>
              <a:srgbClr val="1F6AB0"/>
            </a:solidFill>
            <a:prstDash val="solid"/>
          </a:ln>
        </p:spPr>
      </p:sp>
      <p:sp>
        <p:nvSpPr>
          <p:cNvPr id="14" name="Text 12"/>
          <p:cNvSpPr/>
          <p:nvPr/>
        </p:nvSpPr>
        <p:spPr>
          <a:xfrm>
            <a:off x="918972" y="2852928"/>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CPU utilization trends</a:t>
            </a:r>
            <a:endParaRPr lang="en-US" sz="1350" dirty="0"/>
          </a:p>
        </p:txBody>
      </p:sp>
      <p:sp>
        <p:nvSpPr>
          <p:cNvPr id="15" name="Shape 13"/>
          <p:cNvSpPr/>
          <p:nvPr/>
        </p:nvSpPr>
        <p:spPr>
          <a:xfrm>
            <a:off x="713232" y="3648456"/>
            <a:ext cx="137160" cy="137160"/>
          </a:xfrm>
          <a:prstGeom prst="ellipse">
            <a:avLst/>
          </a:prstGeom>
          <a:solidFill>
            <a:srgbClr val="1F6AB0"/>
          </a:solidFill>
          <a:ln w="12700">
            <a:solidFill>
              <a:srgbClr val="1F6AB0"/>
            </a:solidFill>
            <a:prstDash val="solid"/>
          </a:ln>
        </p:spPr>
      </p:sp>
      <p:sp>
        <p:nvSpPr>
          <p:cNvPr id="16" name="Text 14"/>
          <p:cNvSpPr/>
          <p:nvPr/>
        </p:nvSpPr>
        <p:spPr>
          <a:xfrm>
            <a:off x="918972" y="3566160"/>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Memory pressure analysis</a:t>
            </a:r>
            <a:endParaRPr lang="en-US" sz="1350" dirty="0"/>
          </a:p>
        </p:txBody>
      </p:sp>
      <p:sp>
        <p:nvSpPr>
          <p:cNvPr id="17" name="Shape 15"/>
          <p:cNvSpPr/>
          <p:nvPr/>
        </p:nvSpPr>
        <p:spPr>
          <a:xfrm>
            <a:off x="713232" y="4361688"/>
            <a:ext cx="137160" cy="137160"/>
          </a:xfrm>
          <a:prstGeom prst="ellipse">
            <a:avLst/>
          </a:prstGeom>
          <a:solidFill>
            <a:srgbClr val="1F6AB0"/>
          </a:solidFill>
          <a:ln w="12700">
            <a:solidFill>
              <a:srgbClr val="1F6AB0"/>
            </a:solidFill>
            <a:prstDash val="solid"/>
          </a:ln>
        </p:spPr>
      </p:sp>
      <p:sp>
        <p:nvSpPr>
          <p:cNvPr id="18" name="Text 16"/>
          <p:cNvSpPr/>
          <p:nvPr/>
        </p:nvSpPr>
        <p:spPr>
          <a:xfrm>
            <a:off x="918972" y="4279392"/>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PVC saturation tracking</a:t>
            </a:r>
            <a:endParaRPr lang="en-US" sz="1350" dirty="0"/>
          </a:p>
        </p:txBody>
      </p:sp>
      <p:sp>
        <p:nvSpPr>
          <p:cNvPr id="19" name="Shape 17"/>
          <p:cNvSpPr/>
          <p:nvPr/>
        </p:nvSpPr>
        <p:spPr>
          <a:xfrm>
            <a:off x="713232" y="5074920"/>
            <a:ext cx="137160" cy="137160"/>
          </a:xfrm>
          <a:prstGeom prst="ellipse">
            <a:avLst/>
          </a:prstGeom>
          <a:solidFill>
            <a:srgbClr val="1F6AB0"/>
          </a:solidFill>
          <a:ln w="12700">
            <a:solidFill>
              <a:srgbClr val="1F6AB0"/>
            </a:solidFill>
            <a:prstDash val="solid"/>
          </a:ln>
        </p:spPr>
      </p:sp>
      <p:sp>
        <p:nvSpPr>
          <p:cNvPr id="20" name="Text 18"/>
          <p:cNvSpPr/>
          <p:nvPr/>
        </p:nvSpPr>
        <p:spPr>
          <a:xfrm>
            <a:off x="918972" y="4992624"/>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Burst workload detection</a:t>
            </a:r>
            <a:endParaRPr lang="en-US" sz="1350" dirty="0"/>
          </a:p>
        </p:txBody>
      </p:sp>
      <p:sp>
        <p:nvSpPr>
          <p:cNvPr id="21" name="Shape 19"/>
          <p:cNvSpPr/>
          <p:nvPr/>
        </p:nvSpPr>
        <p:spPr>
          <a:xfrm>
            <a:off x="576072" y="6227064"/>
            <a:ext cx="2811780" cy="713232"/>
          </a:xfrm>
          <a:prstGeom prst="rect">
            <a:avLst/>
          </a:prstGeom>
          <a:solidFill>
            <a:srgbClr val="F5F5F5"/>
          </a:solidFill>
          <a:ln w="12700">
            <a:solidFill>
              <a:srgbClr val="1F6AB0"/>
            </a:solidFill>
            <a:prstDash val="solid"/>
          </a:ln>
        </p:spPr>
      </p:sp>
      <p:sp>
        <p:nvSpPr>
          <p:cNvPr id="22" name="Text 20"/>
          <p:cNvSpPr/>
          <p:nvPr/>
        </p:nvSpPr>
        <p:spPr>
          <a:xfrm>
            <a:off x="672084" y="6309360"/>
            <a:ext cx="2564892" cy="576072"/>
          </a:xfrm>
          <a:prstGeom prst="rect">
            <a:avLst/>
          </a:prstGeom>
          <a:noFill/>
          <a:ln/>
        </p:spPr>
        <p:txBody>
          <a:bodyPr wrap="square" lIns="0" tIns="0" rIns="0" bIns="0" rtlCol="0" anchor="ctr"/>
          <a:lstStyle/>
          <a:p>
            <a:pPr algn="ctr"/>
            <a:r>
              <a:rPr lang="en-US" sz="1200" i="1" dirty="0">
                <a:solidFill>
                  <a:srgbClr val="555555"/>
                </a:solidFill>
                <a:latin typeface="Calibri" pitchFamily="34" charset="0"/>
                <a:ea typeface="Calibri" pitchFamily="34" charset="-122"/>
                <a:cs typeface="Calibri" pitchFamily="34" charset="-120"/>
              </a:rPr>
              <a:t>LSTM-based temporal anomaly detection</a:t>
            </a:r>
            <a:endParaRPr lang="en-US" sz="1200" dirty="0"/>
          </a:p>
        </p:txBody>
      </p:sp>
      <p:sp>
        <p:nvSpPr>
          <p:cNvPr id="23" name="Shape 21"/>
          <p:cNvSpPr/>
          <p:nvPr/>
        </p:nvSpPr>
        <p:spPr>
          <a:xfrm>
            <a:off x="3401568" y="3796589"/>
            <a:ext cx="274320" cy="0"/>
          </a:xfrm>
          <a:prstGeom prst="line">
            <a:avLst/>
          </a:prstGeom>
          <a:noFill/>
          <a:ln w="15240">
            <a:solidFill>
              <a:srgbClr val="888888"/>
            </a:solidFill>
            <a:prstDash val="solid"/>
            <a:tailEnd type="triangle"/>
          </a:ln>
        </p:spPr>
      </p:sp>
      <p:sp>
        <p:nvSpPr>
          <p:cNvPr id="24" name="Text 22"/>
          <p:cNvSpPr/>
          <p:nvPr/>
        </p:nvSpPr>
        <p:spPr>
          <a:xfrm>
            <a:off x="3127248" y="1495044"/>
            <a:ext cx="822960" cy="233172"/>
          </a:xfrm>
          <a:prstGeom prst="rect">
            <a:avLst/>
          </a:prstGeom>
          <a:noFill/>
          <a:ln/>
        </p:spPr>
        <p:txBody>
          <a:bodyPr wrap="square" lIns="0" tIns="0" rIns="0" bIns="0" rtlCol="0" anchor="ctr"/>
          <a:lstStyle/>
          <a:p>
            <a:pPr algn="ctr"/>
            <a:r>
              <a:rPr lang="en-US" sz="1200" i="1" dirty="0">
                <a:solidFill>
                  <a:srgbClr val="888888"/>
                </a:solidFill>
                <a:latin typeface="Calibri" pitchFamily="34" charset="0"/>
                <a:ea typeface="Calibri" pitchFamily="34" charset="-122"/>
                <a:cs typeface="Calibri" pitchFamily="34" charset="-120"/>
              </a:rPr>
              <a:t>ingest</a:t>
            </a:r>
            <a:endParaRPr lang="en-US" sz="1200" dirty="0"/>
          </a:p>
        </p:txBody>
      </p:sp>
      <p:sp>
        <p:nvSpPr>
          <p:cNvPr id="25" name="Shape 23"/>
          <p:cNvSpPr/>
          <p:nvPr/>
        </p:nvSpPr>
        <p:spPr>
          <a:xfrm>
            <a:off x="3689604" y="1700784"/>
            <a:ext cx="2907792" cy="5239512"/>
          </a:xfrm>
          <a:prstGeom prst="rect">
            <a:avLst/>
          </a:prstGeom>
          <a:solidFill>
            <a:srgbClr val="FFFFFF"/>
          </a:solidFill>
          <a:ln w="19050">
            <a:solidFill>
              <a:srgbClr val="7B3F00"/>
            </a:solidFill>
            <a:prstDash val="solid"/>
          </a:ln>
        </p:spPr>
      </p:sp>
      <p:sp>
        <p:nvSpPr>
          <p:cNvPr id="26" name="Shape 24"/>
          <p:cNvSpPr/>
          <p:nvPr/>
        </p:nvSpPr>
        <p:spPr>
          <a:xfrm>
            <a:off x="3689604" y="1700784"/>
            <a:ext cx="96012" cy="5239512"/>
          </a:xfrm>
          <a:prstGeom prst="rect">
            <a:avLst/>
          </a:prstGeom>
          <a:solidFill>
            <a:srgbClr val="7B3F00"/>
          </a:solidFill>
          <a:ln w="12700">
            <a:solidFill>
              <a:srgbClr val="7B3F00"/>
            </a:solidFill>
            <a:prstDash val="solid"/>
          </a:ln>
        </p:spPr>
      </p:sp>
      <p:sp>
        <p:nvSpPr>
          <p:cNvPr id="27" name="Shape 25"/>
          <p:cNvSpPr/>
          <p:nvPr/>
        </p:nvSpPr>
        <p:spPr>
          <a:xfrm>
            <a:off x="3785616" y="1700784"/>
            <a:ext cx="2811780" cy="987552"/>
          </a:xfrm>
          <a:prstGeom prst="rect">
            <a:avLst/>
          </a:prstGeom>
          <a:solidFill>
            <a:srgbClr val="FDF4EC"/>
          </a:solidFill>
          <a:ln w="19050">
            <a:solidFill>
              <a:srgbClr val="7B3F00"/>
            </a:solidFill>
            <a:prstDash val="solid"/>
          </a:ln>
        </p:spPr>
      </p:sp>
      <p:sp>
        <p:nvSpPr>
          <p:cNvPr id="28" name="Text 26"/>
          <p:cNvSpPr/>
          <p:nvPr/>
        </p:nvSpPr>
        <p:spPr>
          <a:xfrm>
            <a:off x="3881628" y="1769364"/>
            <a:ext cx="2633472" cy="493776"/>
          </a:xfrm>
          <a:prstGeom prst="rect">
            <a:avLst/>
          </a:prstGeom>
          <a:noFill/>
          <a:ln/>
        </p:spPr>
        <p:txBody>
          <a:bodyPr wrap="square" lIns="0" tIns="0" rIns="0" bIns="0" rtlCol="0" anchor="ctr"/>
          <a:lstStyle/>
          <a:p>
            <a:r>
              <a:rPr lang="en-US" sz="1725" b="1" dirty="0">
                <a:solidFill>
                  <a:srgbClr val="7B3F00"/>
                </a:solidFill>
                <a:latin typeface="Calibri" pitchFamily="34" charset="0"/>
                <a:ea typeface="Calibri" pitchFamily="34" charset="-122"/>
                <a:cs typeface="Calibri" pitchFamily="34" charset="-120"/>
              </a:rPr>
              <a:t>Log Detective Agent</a:t>
            </a:r>
            <a:endParaRPr lang="en-US" sz="1725" dirty="0"/>
          </a:p>
        </p:txBody>
      </p:sp>
      <p:sp>
        <p:nvSpPr>
          <p:cNvPr id="29" name="Text 27"/>
          <p:cNvSpPr/>
          <p:nvPr/>
        </p:nvSpPr>
        <p:spPr>
          <a:xfrm>
            <a:off x="3881628" y="2249424"/>
            <a:ext cx="2633472" cy="384048"/>
          </a:xfrm>
          <a:prstGeom prst="rect">
            <a:avLst/>
          </a:prstGeom>
          <a:noFill/>
          <a:ln/>
        </p:spPr>
        <p:txBody>
          <a:bodyPr wrap="square" lIns="0" tIns="0" rIns="0" bIns="0" rtlCol="0" anchor="t"/>
          <a:lstStyle/>
          <a:p>
            <a:r>
              <a:rPr lang="en-US" sz="1425" dirty="0">
                <a:solidFill>
                  <a:srgbClr val="555555"/>
                </a:solidFill>
                <a:latin typeface="Calibri" pitchFamily="34" charset="0"/>
                <a:ea typeface="Calibri" pitchFamily="34" charset="-122"/>
                <a:cs typeface="Calibri" pitchFamily="34" charset="-120"/>
              </a:rPr>
              <a:t>Log intelligence</a:t>
            </a:r>
            <a:endParaRPr lang="en-US" sz="1425" dirty="0"/>
          </a:p>
        </p:txBody>
      </p:sp>
      <p:sp>
        <p:nvSpPr>
          <p:cNvPr id="30" name="Shape 28"/>
          <p:cNvSpPr/>
          <p:nvPr/>
        </p:nvSpPr>
        <p:spPr>
          <a:xfrm>
            <a:off x="3785616" y="2688336"/>
            <a:ext cx="2811780" cy="27432"/>
          </a:xfrm>
          <a:prstGeom prst="rect">
            <a:avLst/>
          </a:prstGeom>
          <a:solidFill>
            <a:srgbClr val="7B3F00"/>
          </a:solidFill>
          <a:ln w="12700">
            <a:solidFill>
              <a:srgbClr val="7B3F00"/>
            </a:solidFill>
            <a:prstDash val="solid"/>
          </a:ln>
        </p:spPr>
      </p:sp>
      <p:sp>
        <p:nvSpPr>
          <p:cNvPr id="31" name="Shape 29"/>
          <p:cNvSpPr/>
          <p:nvPr/>
        </p:nvSpPr>
        <p:spPr>
          <a:xfrm>
            <a:off x="3922776" y="2935224"/>
            <a:ext cx="137160" cy="137160"/>
          </a:xfrm>
          <a:prstGeom prst="ellipse">
            <a:avLst/>
          </a:prstGeom>
          <a:solidFill>
            <a:srgbClr val="7B3F00"/>
          </a:solidFill>
          <a:ln w="12700">
            <a:solidFill>
              <a:srgbClr val="7B3F00"/>
            </a:solidFill>
            <a:prstDash val="solid"/>
          </a:ln>
        </p:spPr>
      </p:sp>
      <p:sp>
        <p:nvSpPr>
          <p:cNvPr id="32" name="Text 30"/>
          <p:cNvSpPr/>
          <p:nvPr/>
        </p:nvSpPr>
        <p:spPr>
          <a:xfrm>
            <a:off x="4128516" y="2852928"/>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OOM / crash extraction</a:t>
            </a:r>
            <a:endParaRPr lang="en-US" sz="1350" dirty="0"/>
          </a:p>
        </p:txBody>
      </p:sp>
      <p:sp>
        <p:nvSpPr>
          <p:cNvPr id="33" name="Shape 31"/>
          <p:cNvSpPr/>
          <p:nvPr/>
        </p:nvSpPr>
        <p:spPr>
          <a:xfrm>
            <a:off x="3922776" y="3648456"/>
            <a:ext cx="137160" cy="137160"/>
          </a:xfrm>
          <a:prstGeom prst="ellipse">
            <a:avLst/>
          </a:prstGeom>
          <a:solidFill>
            <a:srgbClr val="7B3F00"/>
          </a:solidFill>
          <a:ln w="12700">
            <a:solidFill>
              <a:srgbClr val="7B3F00"/>
            </a:solidFill>
            <a:prstDash val="solid"/>
          </a:ln>
        </p:spPr>
      </p:sp>
      <p:sp>
        <p:nvSpPr>
          <p:cNvPr id="34" name="Text 32"/>
          <p:cNvSpPr/>
          <p:nvPr/>
        </p:nvSpPr>
        <p:spPr>
          <a:xfrm>
            <a:off x="4128516" y="3566160"/>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Timeout correlation</a:t>
            </a:r>
            <a:endParaRPr lang="en-US" sz="1350" dirty="0"/>
          </a:p>
        </p:txBody>
      </p:sp>
      <p:sp>
        <p:nvSpPr>
          <p:cNvPr id="35" name="Shape 33"/>
          <p:cNvSpPr/>
          <p:nvPr/>
        </p:nvSpPr>
        <p:spPr>
          <a:xfrm>
            <a:off x="3922776" y="4361688"/>
            <a:ext cx="137160" cy="137160"/>
          </a:xfrm>
          <a:prstGeom prst="ellipse">
            <a:avLst/>
          </a:prstGeom>
          <a:solidFill>
            <a:srgbClr val="7B3F00"/>
          </a:solidFill>
          <a:ln w="12700">
            <a:solidFill>
              <a:srgbClr val="7B3F00"/>
            </a:solidFill>
            <a:prstDash val="solid"/>
          </a:ln>
        </p:spPr>
      </p:sp>
      <p:sp>
        <p:nvSpPr>
          <p:cNvPr id="36" name="Text 34"/>
          <p:cNvSpPr/>
          <p:nvPr/>
        </p:nvSpPr>
        <p:spPr>
          <a:xfrm>
            <a:off x="4128516" y="4279392"/>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Namespace-level aggregation</a:t>
            </a:r>
            <a:endParaRPr lang="en-US" sz="1350" dirty="0"/>
          </a:p>
        </p:txBody>
      </p:sp>
      <p:sp>
        <p:nvSpPr>
          <p:cNvPr id="37" name="Shape 35"/>
          <p:cNvSpPr/>
          <p:nvPr/>
        </p:nvSpPr>
        <p:spPr>
          <a:xfrm>
            <a:off x="3922776" y="5074920"/>
            <a:ext cx="137160" cy="137160"/>
          </a:xfrm>
          <a:prstGeom prst="ellipse">
            <a:avLst/>
          </a:prstGeom>
          <a:solidFill>
            <a:srgbClr val="7B3F00"/>
          </a:solidFill>
          <a:ln w="12700">
            <a:solidFill>
              <a:srgbClr val="7B3F00"/>
            </a:solidFill>
            <a:prstDash val="solid"/>
          </a:ln>
        </p:spPr>
      </p:sp>
      <p:sp>
        <p:nvSpPr>
          <p:cNvPr id="38" name="Text 36"/>
          <p:cNvSpPr/>
          <p:nvPr/>
        </p:nvSpPr>
        <p:spPr>
          <a:xfrm>
            <a:off x="4128516" y="4992624"/>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Error timeline alignment</a:t>
            </a:r>
            <a:endParaRPr lang="en-US" sz="1350" dirty="0"/>
          </a:p>
        </p:txBody>
      </p:sp>
      <p:sp>
        <p:nvSpPr>
          <p:cNvPr id="39" name="Shape 37"/>
          <p:cNvSpPr/>
          <p:nvPr/>
        </p:nvSpPr>
        <p:spPr>
          <a:xfrm>
            <a:off x="3785616" y="6227064"/>
            <a:ext cx="2811780" cy="713232"/>
          </a:xfrm>
          <a:prstGeom prst="rect">
            <a:avLst/>
          </a:prstGeom>
          <a:solidFill>
            <a:srgbClr val="F5F5F5"/>
          </a:solidFill>
          <a:ln w="12700">
            <a:solidFill>
              <a:srgbClr val="7B3F00"/>
            </a:solidFill>
            <a:prstDash val="solid"/>
          </a:ln>
        </p:spPr>
      </p:sp>
      <p:sp>
        <p:nvSpPr>
          <p:cNvPr id="40" name="Text 38"/>
          <p:cNvSpPr/>
          <p:nvPr/>
        </p:nvSpPr>
        <p:spPr>
          <a:xfrm>
            <a:off x="3881628" y="6309360"/>
            <a:ext cx="2564892" cy="576072"/>
          </a:xfrm>
          <a:prstGeom prst="rect">
            <a:avLst/>
          </a:prstGeom>
          <a:noFill/>
          <a:ln/>
        </p:spPr>
        <p:txBody>
          <a:bodyPr wrap="square" lIns="0" tIns="0" rIns="0" bIns="0" rtlCol="0" anchor="ctr"/>
          <a:lstStyle/>
          <a:p>
            <a:pPr algn="ctr"/>
            <a:r>
              <a:rPr lang="en-US" sz="1200" i="1" dirty="0">
                <a:solidFill>
                  <a:srgbClr val="555555"/>
                </a:solidFill>
                <a:latin typeface="Calibri" pitchFamily="34" charset="0"/>
                <a:ea typeface="Calibri" pitchFamily="34" charset="-122"/>
                <a:cs typeface="Calibri" pitchFamily="34" charset="-120"/>
              </a:rPr>
              <a:t>Regex + semantic filtering pipeline</a:t>
            </a:r>
            <a:endParaRPr lang="en-US" sz="1200" dirty="0"/>
          </a:p>
        </p:txBody>
      </p:sp>
      <p:sp>
        <p:nvSpPr>
          <p:cNvPr id="41" name="Shape 39"/>
          <p:cNvSpPr/>
          <p:nvPr/>
        </p:nvSpPr>
        <p:spPr>
          <a:xfrm>
            <a:off x="6611112" y="3796589"/>
            <a:ext cx="274320" cy="0"/>
          </a:xfrm>
          <a:prstGeom prst="line">
            <a:avLst/>
          </a:prstGeom>
          <a:noFill/>
          <a:ln w="15240">
            <a:solidFill>
              <a:srgbClr val="888888"/>
            </a:solidFill>
            <a:prstDash val="solid"/>
            <a:tailEnd type="triangle"/>
          </a:ln>
        </p:spPr>
      </p:sp>
      <p:sp>
        <p:nvSpPr>
          <p:cNvPr id="42" name="Text 40"/>
          <p:cNvSpPr/>
          <p:nvPr/>
        </p:nvSpPr>
        <p:spPr>
          <a:xfrm>
            <a:off x="6336792" y="1495044"/>
            <a:ext cx="822960" cy="233172"/>
          </a:xfrm>
          <a:prstGeom prst="rect">
            <a:avLst/>
          </a:prstGeom>
          <a:noFill/>
          <a:ln/>
        </p:spPr>
        <p:txBody>
          <a:bodyPr wrap="square" lIns="0" tIns="0" rIns="0" bIns="0" rtlCol="0" anchor="ctr"/>
          <a:lstStyle/>
          <a:p>
            <a:pPr algn="ctr"/>
            <a:r>
              <a:rPr lang="en-US" sz="1200" i="1" dirty="0">
                <a:solidFill>
                  <a:srgbClr val="888888"/>
                </a:solidFill>
                <a:latin typeface="Calibri" pitchFamily="34" charset="0"/>
                <a:ea typeface="Calibri" pitchFamily="34" charset="-122"/>
                <a:cs typeface="Calibri" pitchFamily="34" charset="-120"/>
              </a:rPr>
              <a:t>correlate</a:t>
            </a:r>
            <a:endParaRPr lang="en-US" sz="1200" dirty="0"/>
          </a:p>
        </p:txBody>
      </p:sp>
      <p:sp>
        <p:nvSpPr>
          <p:cNvPr id="43" name="Shape 41"/>
          <p:cNvSpPr/>
          <p:nvPr/>
        </p:nvSpPr>
        <p:spPr>
          <a:xfrm>
            <a:off x="6899148" y="1700784"/>
            <a:ext cx="2907792" cy="5239512"/>
          </a:xfrm>
          <a:prstGeom prst="rect">
            <a:avLst/>
          </a:prstGeom>
          <a:solidFill>
            <a:srgbClr val="FFFFFF"/>
          </a:solidFill>
          <a:ln w="19050">
            <a:solidFill>
              <a:srgbClr val="1A6B3C"/>
            </a:solidFill>
            <a:prstDash val="solid"/>
          </a:ln>
        </p:spPr>
      </p:sp>
      <p:sp>
        <p:nvSpPr>
          <p:cNvPr id="44" name="Shape 42"/>
          <p:cNvSpPr/>
          <p:nvPr/>
        </p:nvSpPr>
        <p:spPr>
          <a:xfrm>
            <a:off x="6899148" y="1700784"/>
            <a:ext cx="96012" cy="5239512"/>
          </a:xfrm>
          <a:prstGeom prst="rect">
            <a:avLst/>
          </a:prstGeom>
          <a:solidFill>
            <a:srgbClr val="1A6B3C"/>
          </a:solidFill>
          <a:ln w="12700">
            <a:solidFill>
              <a:srgbClr val="1A6B3C"/>
            </a:solidFill>
            <a:prstDash val="solid"/>
          </a:ln>
        </p:spPr>
      </p:sp>
      <p:sp>
        <p:nvSpPr>
          <p:cNvPr id="45" name="Shape 43"/>
          <p:cNvSpPr/>
          <p:nvPr/>
        </p:nvSpPr>
        <p:spPr>
          <a:xfrm>
            <a:off x="6995160" y="1700784"/>
            <a:ext cx="2811780" cy="987552"/>
          </a:xfrm>
          <a:prstGeom prst="rect">
            <a:avLst/>
          </a:prstGeom>
          <a:solidFill>
            <a:srgbClr val="EBF5EF"/>
          </a:solidFill>
          <a:ln w="19050">
            <a:solidFill>
              <a:srgbClr val="1A6B3C"/>
            </a:solidFill>
            <a:prstDash val="solid"/>
          </a:ln>
        </p:spPr>
      </p:sp>
      <p:sp>
        <p:nvSpPr>
          <p:cNvPr id="46" name="Text 44"/>
          <p:cNvSpPr/>
          <p:nvPr/>
        </p:nvSpPr>
        <p:spPr>
          <a:xfrm>
            <a:off x="7091172" y="1769364"/>
            <a:ext cx="2633472" cy="493776"/>
          </a:xfrm>
          <a:prstGeom prst="rect">
            <a:avLst/>
          </a:prstGeom>
          <a:noFill/>
          <a:ln/>
        </p:spPr>
        <p:txBody>
          <a:bodyPr wrap="square" lIns="0" tIns="0" rIns="0" bIns="0" rtlCol="0" anchor="ctr"/>
          <a:lstStyle/>
          <a:p>
            <a:r>
              <a:rPr lang="en-US" sz="1725" b="1" dirty="0">
                <a:solidFill>
                  <a:srgbClr val="1A6B3C"/>
                </a:solidFill>
                <a:latin typeface="Calibri" pitchFamily="34" charset="0"/>
                <a:ea typeface="Calibri" pitchFamily="34" charset="-122"/>
                <a:cs typeface="Calibri" pitchFamily="34" charset="-120"/>
              </a:rPr>
              <a:t>Network Topology Agent</a:t>
            </a:r>
            <a:endParaRPr lang="en-US" sz="1725" dirty="0"/>
          </a:p>
        </p:txBody>
      </p:sp>
      <p:sp>
        <p:nvSpPr>
          <p:cNvPr id="47" name="Text 45"/>
          <p:cNvSpPr/>
          <p:nvPr/>
        </p:nvSpPr>
        <p:spPr>
          <a:xfrm>
            <a:off x="7091172" y="2249424"/>
            <a:ext cx="2633472" cy="384048"/>
          </a:xfrm>
          <a:prstGeom prst="rect">
            <a:avLst/>
          </a:prstGeom>
          <a:noFill/>
          <a:ln/>
        </p:spPr>
        <p:txBody>
          <a:bodyPr wrap="square" lIns="0" tIns="0" rIns="0" bIns="0" rtlCol="0" anchor="t"/>
          <a:lstStyle/>
          <a:p>
            <a:r>
              <a:rPr lang="en-US" sz="1425" dirty="0">
                <a:solidFill>
                  <a:srgbClr val="555555"/>
                </a:solidFill>
                <a:latin typeface="Calibri" pitchFamily="34" charset="0"/>
                <a:ea typeface="Calibri" pitchFamily="34" charset="-122"/>
                <a:cs typeface="Calibri" pitchFamily="34" charset="-120"/>
              </a:rPr>
              <a:t>Kernel-level dependency mapping</a:t>
            </a:r>
            <a:endParaRPr lang="en-US" sz="1425" dirty="0"/>
          </a:p>
        </p:txBody>
      </p:sp>
      <p:sp>
        <p:nvSpPr>
          <p:cNvPr id="48" name="Shape 46"/>
          <p:cNvSpPr/>
          <p:nvPr/>
        </p:nvSpPr>
        <p:spPr>
          <a:xfrm>
            <a:off x="6995160" y="2688336"/>
            <a:ext cx="2811780" cy="27432"/>
          </a:xfrm>
          <a:prstGeom prst="rect">
            <a:avLst/>
          </a:prstGeom>
          <a:solidFill>
            <a:srgbClr val="1A6B3C"/>
          </a:solidFill>
          <a:ln w="12700">
            <a:solidFill>
              <a:srgbClr val="1A6B3C"/>
            </a:solidFill>
            <a:prstDash val="solid"/>
          </a:ln>
        </p:spPr>
      </p:sp>
      <p:sp>
        <p:nvSpPr>
          <p:cNvPr id="49" name="Shape 47"/>
          <p:cNvSpPr/>
          <p:nvPr/>
        </p:nvSpPr>
        <p:spPr>
          <a:xfrm>
            <a:off x="7132320" y="2935224"/>
            <a:ext cx="137160" cy="137160"/>
          </a:xfrm>
          <a:prstGeom prst="ellipse">
            <a:avLst/>
          </a:prstGeom>
          <a:solidFill>
            <a:srgbClr val="1A6B3C"/>
          </a:solidFill>
          <a:ln w="12700">
            <a:solidFill>
              <a:srgbClr val="1A6B3C"/>
            </a:solidFill>
            <a:prstDash val="solid"/>
          </a:ln>
        </p:spPr>
      </p:sp>
      <p:sp>
        <p:nvSpPr>
          <p:cNvPr id="50" name="Text 48"/>
          <p:cNvSpPr/>
          <p:nvPr/>
        </p:nvSpPr>
        <p:spPr>
          <a:xfrm>
            <a:off x="7338060" y="2852928"/>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Inter-pod tracing</a:t>
            </a:r>
            <a:endParaRPr lang="en-US" sz="1350" dirty="0"/>
          </a:p>
        </p:txBody>
      </p:sp>
      <p:sp>
        <p:nvSpPr>
          <p:cNvPr id="51" name="Shape 49"/>
          <p:cNvSpPr/>
          <p:nvPr/>
        </p:nvSpPr>
        <p:spPr>
          <a:xfrm>
            <a:off x="7132320" y="3648456"/>
            <a:ext cx="137160" cy="137160"/>
          </a:xfrm>
          <a:prstGeom prst="ellipse">
            <a:avLst/>
          </a:prstGeom>
          <a:solidFill>
            <a:srgbClr val="1A6B3C"/>
          </a:solidFill>
          <a:ln w="12700">
            <a:solidFill>
              <a:srgbClr val="1A6B3C"/>
            </a:solidFill>
            <a:prstDash val="solid"/>
          </a:ln>
        </p:spPr>
      </p:sp>
      <p:sp>
        <p:nvSpPr>
          <p:cNvPr id="52" name="Text 50"/>
          <p:cNvSpPr/>
          <p:nvPr/>
        </p:nvSpPr>
        <p:spPr>
          <a:xfrm>
            <a:off x="7338060" y="3566160"/>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Packet retransmission analysis</a:t>
            </a:r>
            <a:endParaRPr lang="en-US" sz="1350" dirty="0"/>
          </a:p>
        </p:txBody>
      </p:sp>
      <p:sp>
        <p:nvSpPr>
          <p:cNvPr id="53" name="Shape 51"/>
          <p:cNvSpPr/>
          <p:nvPr/>
        </p:nvSpPr>
        <p:spPr>
          <a:xfrm>
            <a:off x="7132320" y="4361688"/>
            <a:ext cx="137160" cy="137160"/>
          </a:xfrm>
          <a:prstGeom prst="ellipse">
            <a:avLst/>
          </a:prstGeom>
          <a:solidFill>
            <a:srgbClr val="1A6B3C"/>
          </a:solidFill>
          <a:ln w="12700">
            <a:solidFill>
              <a:srgbClr val="1A6B3C"/>
            </a:solidFill>
            <a:prstDash val="solid"/>
          </a:ln>
        </p:spPr>
      </p:sp>
      <p:sp>
        <p:nvSpPr>
          <p:cNvPr id="54" name="Text 52"/>
          <p:cNvSpPr/>
          <p:nvPr/>
        </p:nvSpPr>
        <p:spPr>
          <a:xfrm>
            <a:off x="7338060" y="4279392"/>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Dependency graph generation</a:t>
            </a:r>
            <a:endParaRPr lang="en-US" sz="1350" dirty="0"/>
          </a:p>
        </p:txBody>
      </p:sp>
      <p:sp>
        <p:nvSpPr>
          <p:cNvPr id="55" name="Shape 53"/>
          <p:cNvSpPr/>
          <p:nvPr/>
        </p:nvSpPr>
        <p:spPr>
          <a:xfrm>
            <a:off x="7132320" y="5074920"/>
            <a:ext cx="137160" cy="137160"/>
          </a:xfrm>
          <a:prstGeom prst="ellipse">
            <a:avLst/>
          </a:prstGeom>
          <a:solidFill>
            <a:srgbClr val="1A6B3C"/>
          </a:solidFill>
          <a:ln w="12700">
            <a:solidFill>
              <a:srgbClr val="1A6B3C"/>
            </a:solidFill>
            <a:prstDash val="solid"/>
          </a:ln>
        </p:spPr>
      </p:sp>
      <p:sp>
        <p:nvSpPr>
          <p:cNvPr id="56" name="Text 54"/>
          <p:cNvSpPr/>
          <p:nvPr/>
        </p:nvSpPr>
        <p:spPr>
          <a:xfrm>
            <a:off x="7338060" y="4992624"/>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Blast-radius propagation</a:t>
            </a:r>
            <a:endParaRPr lang="en-US" sz="1350" dirty="0"/>
          </a:p>
        </p:txBody>
      </p:sp>
      <p:sp>
        <p:nvSpPr>
          <p:cNvPr id="57" name="Shape 55"/>
          <p:cNvSpPr/>
          <p:nvPr/>
        </p:nvSpPr>
        <p:spPr>
          <a:xfrm>
            <a:off x="6995160" y="6227064"/>
            <a:ext cx="2811780" cy="713232"/>
          </a:xfrm>
          <a:prstGeom prst="rect">
            <a:avLst/>
          </a:prstGeom>
          <a:solidFill>
            <a:srgbClr val="F5F5F5"/>
          </a:solidFill>
          <a:ln w="12700">
            <a:solidFill>
              <a:srgbClr val="1A6B3C"/>
            </a:solidFill>
            <a:prstDash val="solid"/>
          </a:ln>
        </p:spPr>
      </p:sp>
      <p:sp>
        <p:nvSpPr>
          <p:cNvPr id="58" name="Text 56"/>
          <p:cNvSpPr/>
          <p:nvPr/>
        </p:nvSpPr>
        <p:spPr>
          <a:xfrm>
            <a:off x="7091172" y="6309360"/>
            <a:ext cx="2564892" cy="576072"/>
          </a:xfrm>
          <a:prstGeom prst="rect">
            <a:avLst/>
          </a:prstGeom>
          <a:noFill/>
          <a:ln/>
        </p:spPr>
        <p:txBody>
          <a:bodyPr wrap="square" lIns="0" tIns="0" rIns="0" bIns="0" rtlCol="0" anchor="ctr"/>
          <a:lstStyle/>
          <a:p>
            <a:pPr algn="ctr"/>
            <a:r>
              <a:rPr lang="en-US" sz="1200" i="1" dirty="0">
                <a:solidFill>
                  <a:srgbClr val="555555"/>
                </a:solidFill>
                <a:latin typeface="Calibri" pitchFamily="34" charset="0"/>
                <a:ea typeface="Calibri" pitchFamily="34" charset="-122"/>
                <a:cs typeface="Calibri" pitchFamily="34" charset="-120"/>
              </a:rPr>
              <a:t>eBPF-based communication tracing</a:t>
            </a:r>
            <a:endParaRPr lang="en-US" sz="1200" dirty="0"/>
          </a:p>
        </p:txBody>
      </p:sp>
      <p:sp>
        <p:nvSpPr>
          <p:cNvPr id="59" name="Shape 57"/>
          <p:cNvSpPr/>
          <p:nvPr/>
        </p:nvSpPr>
        <p:spPr>
          <a:xfrm>
            <a:off x="9820656" y="3796589"/>
            <a:ext cx="274320" cy="0"/>
          </a:xfrm>
          <a:prstGeom prst="line">
            <a:avLst/>
          </a:prstGeom>
          <a:noFill/>
          <a:ln w="15240">
            <a:solidFill>
              <a:srgbClr val="888888"/>
            </a:solidFill>
            <a:prstDash val="solid"/>
            <a:tailEnd type="triangle"/>
          </a:ln>
        </p:spPr>
      </p:sp>
      <p:sp>
        <p:nvSpPr>
          <p:cNvPr id="60" name="Text 58"/>
          <p:cNvSpPr/>
          <p:nvPr/>
        </p:nvSpPr>
        <p:spPr>
          <a:xfrm>
            <a:off x="9546336" y="1495044"/>
            <a:ext cx="822960" cy="233172"/>
          </a:xfrm>
          <a:prstGeom prst="rect">
            <a:avLst/>
          </a:prstGeom>
          <a:noFill/>
          <a:ln/>
        </p:spPr>
        <p:txBody>
          <a:bodyPr wrap="square" lIns="0" tIns="0" rIns="0" bIns="0" rtlCol="0" anchor="ctr"/>
          <a:lstStyle/>
          <a:p>
            <a:pPr algn="ctr"/>
            <a:r>
              <a:rPr lang="en-US" sz="1200" i="1" dirty="0">
                <a:solidFill>
                  <a:srgbClr val="888888"/>
                </a:solidFill>
                <a:latin typeface="Calibri" pitchFamily="34" charset="0"/>
                <a:ea typeface="Calibri" pitchFamily="34" charset="-122"/>
                <a:cs typeface="Calibri" pitchFamily="34" charset="-120"/>
              </a:rPr>
              <a:t>infer</a:t>
            </a:r>
            <a:endParaRPr lang="en-US" sz="1200" dirty="0"/>
          </a:p>
        </p:txBody>
      </p:sp>
      <p:sp>
        <p:nvSpPr>
          <p:cNvPr id="61" name="Shape 59"/>
          <p:cNvSpPr/>
          <p:nvPr/>
        </p:nvSpPr>
        <p:spPr>
          <a:xfrm>
            <a:off x="10108692" y="1700784"/>
            <a:ext cx="2907792" cy="5239512"/>
          </a:xfrm>
          <a:prstGeom prst="rect">
            <a:avLst/>
          </a:prstGeom>
          <a:solidFill>
            <a:srgbClr val="FFFFFF"/>
          </a:solidFill>
          <a:ln w="19050">
            <a:solidFill>
              <a:srgbClr val="CC0000"/>
            </a:solidFill>
            <a:prstDash val="solid"/>
          </a:ln>
        </p:spPr>
      </p:sp>
      <p:sp>
        <p:nvSpPr>
          <p:cNvPr id="62" name="Shape 60"/>
          <p:cNvSpPr/>
          <p:nvPr/>
        </p:nvSpPr>
        <p:spPr>
          <a:xfrm>
            <a:off x="10108692" y="1700784"/>
            <a:ext cx="96012" cy="5239512"/>
          </a:xfrm>
          <a:prstGeom prst="rect">
            <a:avLst/>
          </a:prstGeom>
          <a:solidFill>
            <a:srgbClr val="CC0000"/>
          </a:solidFill>
          <a:ln w="12700">
            <a:solidFill>
              <a:srgbClr val="CC0000"/>
            </a:solidFill>
            <a:prstDash val="solid"/>
          </a:ln>
        </p:spPr>
      </p:sp>
      <p:sp>
        <p:nvSpPr>
          <p:cNvPr id="63" name="Shape 61"/>
          <p:cNvSpPr/>
          <p:nvPr/>
        </p:nvSpPr>
        <p:spPr>
          <a:xfrm>
            <a:off x="10204704" y="1700784"/>
            <a:ext cx="2811780" cy="987552"/>
          </a:xfrm>
          <a:prstGeom prst="rect">
            <a:avLst/>
          </a:prstGeom>
          <a:solidFill>
            <a:srgbClr val="FFF5F5"/>
          </a:solidFill>
          <a:ln w="19050">
            <a:solidFill>
              <a:srgbClr val="CC0000"/>
            </a:solidFill>
            <a:prstDash val="solid"/>
          </a:ln>
        </p:spPr>
      </p:sp>
      <p:sp>
        <p:nvSpPr>
          <p:cNvPr id="64" name="Text 62"/>
          <p:cNvSpPr/>
          <p:nvPr/>
        </p:nvSpPr>
        <p:spPr>
          <a:xfrm>
            <a:off x="10300716" y="1769364"/>
            <a:ext cx="2633472" cy="493776"/>
          </a:xfrm>
          <a:prstGeom prst="rect">
            <a:avLst/>
          </a:prstGeom>
          <a:noFill/>
          <a:ln/>
        </p:spPr>
        <p:txBody>
          <a:bodyPr wrap="square" lIns="0" tIns="0" rIns="0" bIns="0" rtlCol="0" anchor="ctr"/>
          <a:lstStyle/>
          <a:p>
            <a:r>
              <a:rPr lang="en-US" sz="1725" b="1" dirty="0">
                <a:solidFill>
                  <a:srgbClr val="CC0000"/>
                </a:solidFill>
                <a:latin typeface="Calibri" pitchFamily="34" charset="0"/>
                <a:ea typeface="Calibri" pitchFamily="34" charset="-122"/>
                <a:cs typeface="Calibri" pitchFamily="34" charset="-120"/>
              </a:rPr>
              <a:t>Lead Orchestrator</a:t>
            </a:r>
            <a:endParaRPr lang="en-US" sz="1725" dirty="0"/>
          </a:p>
        </p:txBody>
      </p:sp>
      <p:sp>
        <p:nvSpPr>
          <p:cNvPr id="65" name="Text 63"/>
          <p:cNvSpPr/>
          <p:nvPr/>
        </p:nvSpPr>
        <p:spPr>
          <a:xfrm>
            <a:off x="10300716" y="2249424"/>
            <a:ext cx="2633472" cy="384048"/>
          </a:xfrm>
          <a:prstGeom prst="rect">
            <a:avLst/>
          </a:prstGeom>
          <a:noFill/>
          <a:ln/>
        </p:spPr>
        <p:txBody>
          <a:bodyPr wrap="square" lIns="0" tIns="0" rIns="0" bIns="0" rtlCol="0" anchor="t"/>
          <a:lstStyle/>
          <a:p>
            <a:r>
              <a:rPr lang="en-US" sz="1425" dirty="0">
                <a:solidFill>
                  <a:srgbClr val="555555"/>
                </a:solidFill>
                <a:latin typeface="Calibri" pitchFamily="34" charset="0"/>
                <a:ea typeface="Calibri" pitchFamily="34" charset="-122"/>
                <a:cs typeface="Calibri" pitchFamily="34" charset="-120"/>
              </a:rPr>
              <a:t>Correlation engine</a:t>
            </a:r>
            <a:endParaRPr lang="en-US" sz="1425" dirty="0"/>
          </a:p>
        </p:txBody>
      </p:sp>
      <p:sp>
        <p:nvSpPr>
          <p:cNvPr id="66" name="Shape 64"/>
          <p:cNvSpPr/>
          <p:nvPr/>
        </p:nvSpPr>
        <p:spPr>
          <a:xfrm>
            <a:off x="10204704" y="2688336"/>
            <a:ext cx="2811780" cy="27432"/>
          </a:xfrm>
          <a:prstGeom prst="rect">
            <a:avLst/>
          </a:prstGeom>
          <a:solidFill>
            <a:srgbClr val="CC0000"/>
          </a:solidFill>
          <a:ln w="12700">
            <a:solidFill>
              <a:srgbClr val="CC0000"/>
            </a:solidFill>
            <a:prstDash val="solid"/>
          </a:ln>
        </p:spPr>
      </p:sp>
      <p:sp>
        <p:nvSpPr>
          <p:cNvPr id="67" name="Shape 65"/>
          <p:cNvSpPr/>
          <p:nvPr/>
        </p:nvSpPr>
        <p:spPr>
          <a:xfrm>
            <a:off x="10341864" y="2935224"/>
            <a:ext cx="137160" cy="137160"/>
          </a:xfrm>
          <a:prstGeom prst="ellipse">
            <a:avLst/>
          </a:prstGeom>
          <a:solidFill>
            <a:srgbClr val="CC0000"/>
          </a:solidFill>
          <a:ln w="12700">
            <a:solidFill>
              <a:srgbClr val="CC0000"/>
            </a:solidFill>
            <a:prstDash val="solid"/>
          </a:ln>
        </p:spPr>
      </p:sp>
      <p:sp>
        <p:nvSpPr>
          <p:cNvPr id="68" name="Text 66"/>
          <p:cNvSpPr/>
          <p:nvPr/>
        </p:nvSpPr>
        <p:spPr>
          <a:xfrm>
            <a:off x="10547604" y="2852928"/>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Aggregates agent outputs</a:t>
            </a:r>
            <a:endParaRPr lang="en-US" sz="1350" dirty="0"/>
          </a:p>
        </p:txBody>
      </p:sp>
      <p:sp>
        <p:nvSpPr>
          <p:cNvPr id="69" name="Shape 67"/>
          <p:cNvSpPr/>
          <p:nvPr/>
        </p:nvSpPr>
        <p:spPr>
          <a:xfrm>
            <a:off x="10341864" y="3648456"/>
            <a:ext cx="137160" cy="137160"/>
          </a:xfrm>
          <a:prstGeom prst="ellipse">
            <a:avLst/>
          </a:prstGeom>
          <a:solidFill>
            <a:srgbClr val="CC0000"/>
          </a:solidFill>
          <a:ln w="12700">
            <a:solidFill>
              <a:srgbClr val="CC0000"/>
            </a:solidFill>
            <a:prstDash val="solid"/>
          </a:ln>
        </p:spPr>
      </p:sp>
      <p:sp>
        <p:nvSpPr>
          <p:cNvPr id="70" name="Text 68"/>
          <p:cNvSpPr/>
          <p:nvPr/>
        </p:nvSpPr>
        <p:spPr>
          <a:xfrm>
            <a:off x="10547604" y="3566160"/>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Cross-resource dependency ranking</a:t>
            </a:r>
            <a:endParaRPr lang="en-US" sz="1350" dirty="0"/>
          </a:p>
        </p:txBody>
      </p:sp>
      <p:sp>
        <p:nvSpPr>
          <p:cNvPr id="71" name="Shape 69"/>
          <p:cNvSpPr/>
          <p:nvPr/>
        </p:nvSpPr>
        <p:spPr>
          <a:xfrm>
            <a:off x="10341864" y="4361688"/>
            <a:ext cx="137160" cy="137160"/>
          </a:xfrm>
          <a:prstGeom prst="ellipse">
            <a:avLst/>
          </a:prstGeom>
          <a:solidFill>
            <a:srgbClr val="CC0000"/>
          </a:solidFill>
          <a:ln w="12700">
            <a:solidFill>
              <a:srgbClr val="CC0000"/>
            </a:solidFill>
            <a:prstDash val="solid"/>
          </a:ln>
        </p:spPr>
      </p:sp>
      <p:sp>
        <p:nvSpPr>
          <p:cNvPr id="72" name="Text 70"/>
          <p:cNvSpPr/>
          <p:nvPr/>
        </p:nvSpPr>
        <p:spPr>
          <a:xfrm>
            <a:off x="10547604" y="4279392"/>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Root-cause probability scoring</a:t>
            </a:r>
            <a:endParaRPr lang="en-US" sz="1350" dirty="0"/>
          </a:p>
        </p:txBody>
      </p:sp>
      <p:sp>
        <p:nvSpPr>
          <p:cNvPr id="73" name="Shape 71"/>
          <p:cNvSpPr/>
          <p:nvPr/>
        </p:nvSpPr>
        <p:spPr>
          <a:xfrm>
            <a:off x="10341864" y="5074920"/>
            <a:ext cx="137160" cy="137160"/>
          </a:xfrm>
          <a:prstGeom prst="ellipse">
            <a:avLst/>
          </a:prstGeom>
          <a:solidFill>
            <a:srgbClr val="CC0000"/>
          </a:solidFill>
          <a:ln w="12700">
            <a:solidFill>
              <a:srgbClr val="CC0000"/>
            </a:solidFill>
            <a:prstDash val="solid"/>
          </a:ln>
        </p:spPr>
      </p:sp>
      <p:sp>
        <p:nvSpPr>
          <p:cNvPr id="74" name="Text 72"/>
          <p:cNvSpPr/>
          <p:nvPr/>
        </p:nvSpPr>
        <p:spPr>
          <a:xfrm>
            <a:off x="10547604" y="4992624"/>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LangChain workflow orchestration</a:t>
            </a:r>
            <a:endParaRPr lang="en-US" sz="1350" dirty="0"/>
          </a:p>
        </p:txBody>
      </p:sp>
      <p:sp>
        <p:nvSpPr>
          <p:cNvPr id="75" name="Shape 73"/>
          <p:cNvSpPr/>
          <p:nvPr/>
        </p:nvSpPr>
        <p:spPr>
          <a:xfrm>
            <a:off x="10204704" y="6227064"/>
            <a:ext cx="2811780" cy="713232"/>
          </a:xfrm>
          <a:prstGeom prst="rect">
            <a:avLst/>
          </a:prstGeom>
          <a:solidFill>
            <a:srgbClr val="F5F5F5"/>
          </a:solidFill>
          <a:ln w="12700">
            <a:solidFill>
              <a:srgbClr val="CC0000"/>
            </a:solidFill>
            <a:prstDash val="solid"/>
          </a:ln>
        </p:spPr>
      </p:sp>
      <p:sp>
        <p:nvSpPr>
          <p:cNvPr id="76" name="Text 74"/>
          <p:cNvSpPr/>
          <p:nvPr/>
        </p:nvSpPr>
        <p:spPr>
          <a:xfrm>
            <a:off x="10300716" y="6309360"/>
            <a:ext cx="2564892" cy="576072"/>
          </a:xfrm>
          <a:prstGeom prst="rect">
            <a:avLst/>
          </a:prstGeom>
          <a:noFill/>
          <a:ln/>
        </p:spPr>
        <p:txBody>
          <a:bodyPr wrap="square" lIns="0" tIns="0" rIns="0" bIns="0" rtlCol="0" anchor="ctr"/>
          <a:lstStyle/>
          <a:p>
            <a:pPr algn="ctr"/>
            <a:r>
              <a:rPr lang="en-US" sz="1200" i="1" dirty="0">
                <a:solidFill>
                  <a:srgbClr val="555555"/>
                </a:solidFill>
                <a:latin typeface="Calibri" pitchFamily="34" charset="0"/>
                <a:ea typeface="Calibri" pitchFamily="34" charset="-122"/>
                <a:cs typeface="Calibri" pitchFamily="34" charset="-120"/>
              </a:rPr>
              <a:t>Structured causal inference pipeline</a:t>
            </a:r>
            <a:endParaRPr lang="en-US" sz="1200" dirty="0"/>
          </a:p>
        </p:txBody>
      </p:sp>
      <p:sp>
        <p:nvSpPr>
          <p:cNvPr id="77" name="Shape 75"/>
          <p:cNvSpPr/>
          <p:nvPr/>
        </p:nvSpPr>
        <p:spPr>
          <a:xfrm>
            <a:off x="13030200" y="3796589"/>
            <a:ext cx="274320" cy="0"/>
          </a:xfrm>
          <a:prstGeom prst="line">
            <a:avLst/>
          </a:prstGeom>
          <a:noFill/>
          <a:ln w="15240">
            <a:solidFill>
              <a:srgbClr val="888888"/>
            </a:solidFill>
            <a:prstDash val="solid"/>
            <a:tailEnd type="triangle"/>
          </a:ln>
        </p:spPr>
      </p:sp>
      <p:sp>
        <p:nvSpPr>
          <p:cNvPr id="78" name="Text 76"/>
          <p:cNvSpPr/>
          <p:nvPr/>
        </p:nvSpPr>
        <p:spPr>
          <a:xfrm>
            <a:off x="12755880" y="1495044"/>
            <a:ext cx="822960" cy="233172"/>
          </a:xfrm>
          <a:prstGeom prst="rect">
            <a:avLst/>
          </a:prstGeom>
          <a:noFill/>
          <a:ln/>
        </p:spPr>
        <p:txBody>
          <a:bodyPr wrap="square" lIns="0" tIns="0" rIns="0" bIns="0" rtlCol="0" anchor="ctr"/>
          <a:lstStyle/>
          <a:p>
            <a:pPr algn="ctr"/>
            <a:r>
              <a:rPr lang="en-US" sz="1200" i="1" dirty="0">
                <a:solidFill>
                  <a:srgbClr val="888888"/>
                </a:solidFill>
                <a:latin typeface="Calibri" pitchFamily="34" charset="0"/>
                <a:ea typeface="Calibri" pitchFamily="34" charset="-122"/>
                <a:cs typeface="Calibri" pitchFamily="34" charset="-120"/>
              </a:rPr>
              <a:t>synthesize</a:t>
            </a:r>
            <a:endParaRPr lang="en-US" sz="1200" dirty="0"/>
          </a:p>
        </p:txBody>
      </p:sp>
      <p:sp>
        <p:nvSpPr>
          <p:cNvPr id="79" name="Shape 77"/>
          <p:cNvSpPr/>
          <p:nvPr/>
        </p:nvSpPr>
        <p:spPr>
          <a:xfrm>
            <a:off x="13318236" y="1700784"/>
            <a:ext cx="2907792" cy="5239512"/>
          </a:xfrm>
          <a:prstGeom prst="rect">
            <a:avLst/>
          </a:prstGeom>
          <a:solidFill>
            <a:srgbClr val="FFFFFF"/>
          </a:solidFill>
          <a:ln w="19050">
            <a:solidFill>
              <a:srgbClr val="3C3C3C"/>
            </a:solidFill>
            <a:prstDash val="solid"/>
          </a:ln>
        </p:spPr>
      </p:sp>
      <p:sp>
        <p:nvSpPr>
          <p:cNvPr id="80" name="Shape 78"/>
          <p:cNvSpPr/>
          <p:nvPr/>
        </p:nvSpPr>
        <p:spPr>
          <a:xfrm>
            <a:off x="13318236" y="1700784"/>
            <a:ext cx="96012" cy="5239512"/>
          </a:xfrm>
          <a:prstGeom prst="rect">
            <a:avLst/>
          </a:prstGeom>
          <a:solidFill>
            <a:srgbClr val="3C3C3C"/>
          </a:solidFill>
          <a:ln w="12700">
            <a:solidFill>
              <a:srgbClr val="3C3C3C"/>
            </a:solidFill>
            <a:prstDash val="solid"/>
          </a:ln>
        </p:spPr>
      </p:sp>
      <p:sp>
        <p:nvSpPr>
          <p:cNvPr id="81" name="Shape 79"/>
          <p:cNvSpPr/>
          <p:nvPr/>
        </p:nvSpPr>
        <p:spPr>
          <a:xfrm>
            <a:off x="13414248" y="1700784"/>
            <a:ext cx="2811780" cy="987552"/>
          </a:xfrm>
          <a:prstGeom prst="rect">
            <a:avLst/>
          </a:prstGeom>
          <a:solidFill>
            <a:srgbClr val="F2F2F2"/>
          </a:solidFill>
          <a:ln w="19050">
            <a:solidFill>
              <a:srgbClr val="3C3C3C"/>
            </a:solidFill>
            <a:prstDash val="solid"/>
          </a:ln>
        </p:spPr>
      </p:sp>
      <p:sp>
        <p:nvSpPr>
          <p:cNvPr id="82" name="Text 80"/>
          <p:cNvSpPr/>
          <p:nvPr/>
        </p:nvSpPr>
        <p:spPr>
          <a:xfrm>
            <a:off x="13510260" y="1769364"/>
            <a:ext cx="2633472" cy="493776"/>
          </a:xfrm>
          <a:prstGeom prst="rect">
            <a:avLst/>
          </a:prstGeom>
          <a:noFill/>
          <a:ln/>
        </p:spPr>
        <p:txBody>
          <a:bodyPr wrap="square" lIns="0" tIns="0" rIns="0" bIns="0" rtlCol="0" anchor="ctr"/>
          <a:lstStyle/>
          <a:p>
            <a:r>
              <a:rPr lang="en-US" sz="1725" b="1" dirty="0">
                <a:solidFill>
                  <a:srgbClr val="3C3C3C"/>
                </a:solidFill>
                <a:latin typeface="Calibri" pitchFamily="34" charset="0"/>
                <a:ea typeface="Calibri" pitchFamily="34" charset="-122"/>
                <a:cs typeface="Calibri" pitchFamily="34" charset="-120"/>
              </a:rPr>
              <a:t>NLP Agent</a:t>
            </a:r>
            <a:endParaRPr lang="en-US" sz="1725" dirty="0"/>
          </a:p>
        </p:txBody>
      </p:sp>
      <p:sp>
        <p:nvSpPr>
          <p:cNvPr id="83" name="Text 81"/>
          <p:cNvSpPr/>
          <p:nvPr/>
        </p:nvSpPr>
        <p:spPr>
          <a:xfrm>
            <a:off x="13510260" y="2249424"/>
            <a:ext cx="2633472" cy="384048"/>
          </a:xfrm>
          <a:prstGeom prst="rect">
            <a:avLst/>
          </a:prstGeom>
          <a:noFill/>
          <a:ln/>
        </p:spPr>
        <p:txBody>
          <a:bodyPr wrap="square" lIns="0" tIns="0" rIns="0" bIns="0" rtlCol="0" anchor="t"/>
          <a:lstStyle/>
          <a:p>
            <a:r>
              <a:rPr lang="en-US" sz="1425" dirty="0">
                <a:solidFill>
                  <a:srgbClr val="555555"/>
                </a:solidFill>
                <a:latin typeface="Calibri" pitchFamily="34" charset="0"/>
                <a:ea typeface="Calibri" pitchFamily="34" charset="-122"/>
                <a:cs typeface="Calibri" pitchFamily="34" charset="-120"/>
              </a:rPr>
              <a:t>Human-readable insight generation</a:t>
            </a:r>
            <a:endParaRPr lang="en-US" sz="1425" dirty="0"/>
          </a:p>
        </p:txBody>
      </p:sp>
      <p:sp>
        <p:nvSpPr>
          <p:cNvPr id="84" name="Shape 82"/>
          <p:cNvSpPr/>
          <p:nvPr/>
        </p:nvSpPr>
        <p:spPr>
          <a:xfrm>
            <a:off x="13414248" y="2688336"/>
            <a:ext cx="2811780" cy="27432"/>
          </a:xfrm>
          <a:prstGeom prst="rect">
            <a:avLst/>
          </a:prstGeom>
          <a:solidFill>
            <a:srgbClr val="3C3C3C"/>
          </a:solidFill>
          <a:ln w="12700">
            <a:solidFill>
              <a:srgbClr val="3C3C3C"/>
            </a:solidFill>
            <a:prstDash val="solid"/>
          </a:ln>
        </p:spPr>
      </p:sp>
      <p:sp>
        <p:nvSpPr>
          <p:cNvPr id="85" name="Shape 83"/>
          <p:cNvSpPr/>
          <p:nvPr/>
        </p:nvSpPr>
        <p:spPr>
          <a:xfrm>
            <a:off x="13551408" y="2935224"/>
            <a:ext cx="137160" cy="137160"/>
          </a:xfrm>
          <a:prstGeom prst="ellipse">
            <a:avLst/>
          </a:prstGeom>
          <a:solidFill>
            <a:srgbClr val="3C3C3C"/>
          </a:solidFill>
          <a:ln w="12700">
            <a:solidFill>
              <a:srgbClr val="3C3C3C"/>
            </a:solidFill>
            <a:prstDash val="solid"/>
          </a:ln>
        </p:spPr>
      </p:sp>
      <p:sp>
        <p:nvSpPr>
          <p:cNvPr id="86" name="Text 84"/>
          <p:cNvSpPr/>
          <p:nvPr/>
        </p:nvSpPr>
        <p:spPr>
          <a:xfrm>
            <a:off x="13757148" y="2852928"/>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Converts graph to explanations</a:t>
            </a:r>
            <a:endParaRPr lang="en-US" sz="1350" dirty="0"/>
          </a:p>
        </p:txBody>
      </p:sp>
      <p:sp>
        <p:nvSpPr>
          <p:cNvPr id="87" name="Shape 85"/>
          <p:cNvSpPr/>
          <p:nvPr/>
        </p:nvSpPr>
        <p:spPr>
          <a:xfrm>
            <a:off x="13551408" y="3648456"/>
            <a:ext cx="137160" cy="137160"/>
          </a:xfrm>
          <a:prstGeom prst="ellipse">
            <a:avLst/>
          </a:prstGeom>
          <a:solidFill>
            <a:srgbClr val="3C3C3C"/>
          </a:solidFill>
          <a:ln w="12700">
            <a:solidFill>
              <a:srgbClr val="3C3C3C"/>
            </a:solidFill>
            <a:prstDash val="solid"/>
          </a:ln>
        </p:spPr>
      </p:sp>
      <p:sp>
        <p:nvSpPr>
          <p:cNvPr id="88" name="Text 86"/>
          <p:cNvSpPr/>
          <p:nvPr/>
        </p:nvSpPr>
        <p:spPr>
          <a:xfrm>
            <a:off x="13757148" y="3566160"/>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Summarizes cascading failures</a:t>
            </a:r>
            <a:endParaRPr lang="en-US" sz="1350" dirty="0"/>
          </a:p>
        </p:txBody>
      </p:sp>
      <p:sp>
        <p:nvSpPr>
          <p:cNvPr id="89" name="Shape 87"/>
          <p:cNvSpPr/>
          <p:nvPr/>
        </p:nvSpPr>
        <p:spPr>
          <a:xfrm>
            <a:off x="13551408" y="4361688"/>
            <a:ext cx="137160" cy="137160"/>
          </a:xfrm>
          <a:prstGeom prst="ellipse">
            <a:avLst/>
          </a:prstGeom>
          <a:solidFill>
            <a:srgbClr val="3C3C3C"/>
          </a:solidFill>
          <a:ln w="12700">
            <a:solidFill>
              <a:srgbClr val="3C3C3C"/>
            </a:solidFill>
            <a:prstDash val="solid"/>
          </a:ln>
        </p:spPr>
      </p:sp>
      <p:sp>
        <p:nvSpPr>
          <p:cNvPr id="90" name="Text 88"/>
          <p:cNvSpPr/>
          <p:nvPr/>
        </p:nvSpPr>
        <p:spPr>
          <a:xfrm>
            <a:off x="13757148" y="4279392"/>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Generates remediation insights</a:t>
            </a:r>
            <a:endParaRPr lang="en-US" sz="1350" dirty="0"/>
          </a:p>
        </p:txBody>
      </p:sp>
      <p:sp>
        <p:nvSpPr>
          <p:cNvPr id="91" name="Shape 89"/>
          <p:cNvSpPr/>
          <p:nvPr/>
        </p:nvSpPr>
        <p:spPr>
          <a:xfrm>
            <a:off x="13551408" y="5074920"/>
            <a:ext cx="137160" cy="137160"/>
          </a:xfrm>
          <a:prstGeom prst="ellipse">
            <a:avLst/>
          </a:prstGeom>
          <a:solidFill>
            <a:srgbClr val="3C3C3C"/>
          </a:solidFill>
          <a:ln w="12700">
            <a:solidFill>
              <a:srgbClr val="3C3C3C"/>
            </a:solidFill>
            <a:prstDash val="solid"/>
          </a:ln>
        </p:spPr>
      </p:sp>
      <p:sp>
        <p:nvSpPr>
          <p:cNvPr id="92" name="Text 90"/>
          <p:cNvSpPr/>
          <p:nvPr/>
        </p:nvSpPr>
        <p:spPr>
          <a:xfrm>
            <a:off x="13757148" y="4992624"/>
            <a:ext cx="2331720" cy="356616"/>
          </a:xfrm>
          <a:prstGeom prst="rect">
            <a:avLst/>
          </a:prstGeom>
          <a:noFill/>
          <a:ln/>
        </p:spPr>
        <p:txBody>
          <a:bodyPr wrap="square" lIns="0" tIns="0" rIns="0" bIns="0" rtlCol="0" anchor="t"/>
          <a:lstStyle/>
          <a:p>
            <a:r>
              <a:rPr lang="en-US" sz="1350" b="1" dirty="0">
                <a:solidFill>
                  <a:srgbClr val="111111"/>
                </a:solidFill>
                <a:latin typeface="Calibri" pitchFamily="34" charset="0"/>
                <a:ea typeface="Calibri" pitchFamily="34" charset="-122"/>
                <a:cs typeface="Calibri" pitchFamily="34" charset="-120"/>
              </a:rPr>
              <a:t>Produces ranked diagnostics</a:t>
            </a:r>
            <a:endParaRPr lang="en-US" sz="1350" dirty="0"/>
          </a:p>
        </p:txBody>
      </p:sp>
      <p:sp>
        <p:nvSpPr>
          <p:cNvPr id="93" name="Shape 91"/>
          <p:cNvSpPr/>
          <p:nvPr/>
        </p:nvSpPr>
        <p:spPr>
          <a:xfrm>
            <a:off x="13414248" y="6227064"/>
            <a:ext cx="2811780" cy="713232"/>
          </a:xfrm>
          <a:prstGeom prst="rect">
            <a:avLst/>
          </a:prstGeom>
          <a:solidFill>
            <a:srgbClr val="F5F5F5"/>
          </a:solidFill>
          <a:ln w="12700">
            <a:solidFill>
              <a:srgbClr val="3C3C3C"/>
            </a:solidFill>
            <a:prstDash val="solid"/>
          </a:ln>
        </p:spPr>
      </p:sp>
      <p:sp>
        <p:nvSpPr>
          <p:cNvPr id="94" name="Text 92"/>
          <p:cNvSpPr/>
          <p:nvPr/>
        </p:nvSpPr>
        <p:spPr>
          <a:xfrm>
            <a:off x="13510260" y="6309360"/>
            <a:ext cx="2564892" cy="576072"/>
          </a:xfrm>
          <a:prstGeom prst="rect">
            <a:avLst/>
          </a:prstGeom>
          <a:noFill/>
          <a:ln/>
        </p:spPr>
        <p:txBody>
          <a:bodyPr wrap="square" lIns="0" tIns="0" rIns="0" bIns="0" rtlCol="0" anchor="ctr"/>
          <a:lstStyle/>
          <a:p>
            <a:pPr algn="ctr"/>
            <a:r>
              <a:rPr lang="en-US" sz="1200" i="1" dirty="0">
                <a:solidFill>
                  <a:srgbClr val="555555"/>
                </a:solidFill>
                <a:latin typeface="Calibri" pitchFamily="34" charset="0"/>
                <a:ea typeface="Calibri" pitchFamily="34" charset="-122"/>
                <a:cs typeface="Calibri" pitchFamily="34" charset="-120"/>
              </a:rPr>
              <a:t>Plain-English operational intelligence</a:t>
            </a:r>
            <a:endParaRPr lang="en-US" sz="1200" dirty="0"/>
          </a:p>
        </p:txBody>
      </p:sp>
      <p:sp>
        <p:nvSpPr>
          <p:cNvPr id="95" name="Shape 93"/>
          <p:cNvSpPr/>
          <p:nvPr/>
        </p:nvSpPr>
        <p:spPr>
          <a:xfrm>
            <a:off x="480060" y="6981443"/>
            <a:ext cx="17282160" cy="1906523"/>
          </a:xfrm>
          <a:prstGeom prst="rect">
            <a:avLst/>
          </a:prstGeom>
          <a:solidFill>
            <a:srgbClr val="FFF0F0"/>
          </a:solidFill>
          <a:ln w="6350">
            <a:solidFill>
              <a:srgbClr val="DDDDDD"/>
            </a:solidFill>
            <a:prstDash val="solid"/>
          </a:ln>
        </p:spPr>
      </p:sp>
      <p:sp>
        <p:nvSpPr>
          <p:cNvPr id="96" name="Shape 94"/>
          <p:cNvSpPr/>
          <p:nvPr/>
        </p:nvSpPr>
        <p:spPr>
          <a:xfrm>
            <a:off x="480060" y="6967728"/>
            <a:ext cx="96012" cy="1920240"/>
          </a:xfrm>
          <a:prstGeom prst="rect">
            <a:avLst/>
          </a:prstGeom>
          <a:solidFill>
            <a:srgbClr val="CC0000"/>
          </a:solidFill>
          <a:ln w="12700">
            <a:solidFill>
              <a:srgbClr val="CC0000"/>
            </a:solidFill>
            <a:prstDash val="solid"/>
          </a:ln>
        </p:spPr>
      </p:sp>
      <p:sp>
        <p:nvSpPr>
          <p:cNvPr id="97" name="Text 95"/>
          <p:cNvSpPr/>
          <p:nvPr/>
        </p:nvSpPr>
        <p:spPr>
          <a:xfrm>
            <a:off x="754380" y="7077456"/>
            <a:ext cx="17007840" cy="329184"/>
          </a:xfrm>
          <a:prstGeom prst="rect">
            <a:avLst/>
          </a:prstGeom>
          <a:noFill/>
          <a:ln/>
        </p:spPr>
        <p:txBody>
          <a:bodyPr wrap="square" lIns="0" tIns="0" rIns="0" bIns="0" rtlCol="0" anchor="t"/>
          <a:lstStyle/>
          <a:p>
            <a:r>
              <a:rPr lang="en-US" sz="1650" b="1" dirty="0">
                <a:solidFill>
                  <a:srgbClr val="CC0000"/>
                </a:solidFill>
                <a:latin typeface="Calibri" pitchFamily="34" charset="0"/>
                <a:ea typeface="Calibri" pitchFamily="34" charset="-122"/>
                <a:cs typeface="Calibri" pitchFamily="34" charset="-120"/>
              </a:rPr>
              <a:t>Why multi-agent decomposition matters</a:t>
            </a:r>
            <a:endParaRPr lang="en-US" sz="1650" dirty="0"/>
          </a:p>
        </p:txBody>
      </p:sp>
      <p:sp>
        <p:nvSpPr>
          <p:cNvPr id="98" name="Text 96"/>
          <p:cNvSpPr/>
          <p:nvPr/>
        </p:nvSpPr>
        <p:spPr>
          <a:xfrm>
            <a:off x="754380" y="7434072"/>
            <a:ext cx="17007840" cy="891540"/>
          </a:xfrm>
          <a:prstGeom prst="rect">
            <a:avLst/>
          </a:prstGeom>
          <a:noFill/>
          <a:ln/>
        </p:spPr>
        <p:txBody>
          <a:bodyPr wrap="square" lIns="0" tIns="0" rIns="0" bIns="0" rtlCol="0" anchor="t"/>
          <a:lstStyle/>
          <a:p>
            <a:r>
              <a:rPr lang="en-US" sz="1500" dirty="0">
                <a:solidFill>
                  <a:srgbClr val="111111"/>
                </a:solidFill>
                <a:latin typeface="Calibri" pitchFamily="34" charset="0"/>
                <a:ea typeface="Calibri" pitchFamily="34" charset="-122"/>
                <a:cs typeface="Calibri" pitchFamily="34" charset="-120"/>
              </a:rPr>
              <a:t>Single monolithic LLM pipelines fail under high-volume telemetry streams. The multi-agent architecture isolates resource analysis, log intelligence, network tracing, and causal reasoning into specialized inference layers. This reduces context overload, improves edge inference speed, and enables reliable root-cause ranking in air-gapped industrial environments.</a:t>
            </a:r>
          </a:p>
          <a:p>
            <a:endParaRPr lang="en-US" sz="1500" dirty="0">
              <a:solidFill>
                <a:srgbClr val="111111"/>
              </a:solidFill>
              <a:latin typeface="Calibri" pitchFamily="34" charset="0"/>
              <a:ea typeface="Calibri" pitchFamily="34" charset="-122"/>
              <a:cs typeface="Calibri" pitchFamily="34" charset="-120"/>
            </a:endParaRPr>
          </a:p>
          <a:p>
            <a:r>
              <a:rPr lang="en-US" sz="1500" dirty="0">
                <a:latin typeface="Calibri" panose="020F0502020204030204" pitchFamily="34" charset="0"/>
                <a:ea typeface="Calibri" panose="020F0502020204030204" pitchFamily="34" charset="0"/>
                <a:cs typeface="Calibri" panose="020F0502020204030204" pitchFamily="34" charset="0"/>
              </a:rPr>
              <a:t>The entire inference pipeline runs locally using </a:t>
            </a:r>
            <a:r>
              <a:rPr lang="en-US" sz="1500" dirty="0" err="1">
                <a:latin typeface="Calibri" panose="020F0502020204030204" pitchFamily="34" charset="0"/>
                <a:ea typeface="Calibri" panose="020F0502020204030204" pitchFamily="34" charset="0"/>
                <a:cs typeface="Calibri" panose="020F0502020204030204" pitchFamily="34" charset="0"/>
              </a:rPr>
              <a:t>Ollama</a:t>
            </a:r>
            <a:r>
              <a:rPr lang="en-US" sz="1500" dirty="0">
                <a:latin typeface="Calibri" panose="020F0502020204030204" pitchFamily="34" charset="0"/>
                <a:ea typeface="Calibri" panose="020F0502020204030204" pitchFamily="34" charset="0"/>
                <a:cs typeface="Calibri" panose="020F0502020204030204" pitchFamily="34" charset="0"/>
              </a:rPr>
              <a:t> with Llama 3 8B or Phi-3. No cloud APIs or external services are used at any stage of processing. Ensures complete offline operation for secure and air-gapped environments. Reduces latency while maintaining data privacy and deployment independence.</a:t>
            </a:r>
          </a:p>
        </p:txBody>
      </p:sp>
      <p:sp>
        <p:nvSpPr>
          <p:cNvPr id="99" name="Shape 97"/>
          <p:cNvSpPr/>
          <p:nvPr/>
        </p:nvSpPr>
        <p:spPr>
          <a:xfrm>
            <a:off x="0" y="9765792"/>
            <a:ext cx="2057400" cy="521208"/>
          </a:xfrm>
          <a:prstGeom prst="rect">
            <a:avLst/>
          </a:prstGeom>
          <a:solidFill>
            <a:srgbClr val="CC0000"/>
          </a:solidFill>
          <a:ln w="12700">
            <a:solidFill>
              <a:srgbClr val="CC0000"/>
            </a:solidFill>
            <a:prstDash val="solid"/>
          </a:ln>
        </p:spPr>
      </p:sp>
      <p:sp>
        <p:nvSpPr>
          <p:cNvPr id="100" name="Text 98"/>
          <p:cNvSpPr/>
          <p:nvPr/>
        </p:nvSpPr>
        <p:spPr>
          <a:xfrm>
            <a:off x="0" y="9765792"/>
            <a:ext cx="2057400" cy="521208"/>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ABB</a:t>
            </a:r>
            <a:endParaRPr lang="en-US" sz="1200" dirty="0"/>
          </a:p>
          <a:p>
            <a:pPr algn="ctr"/>
            <a:r>
              <a:rPr lang="en-US" sz="1200" b="1" dirty="0">
                <a:solidFill>
                  <a:srgbClr val="FFFFFF"/>
                </a:solidFill>
                <a:latin typeface="Calibri" pitchFamily="34" charset="0"/>
                <a:ea typeface="Calibri" pitchFamily="34" charset="-122"/>
                <a:cs typeface="Calibri" pitchFamily="34" charset="-120"/>
              </a:rPr>
              <a:t>Accelerator</a:t>
            </a:r>
            <a:endParaRPr lang="en-US" sz="1200" dirty="0"/>
          </a:p>
        </p:txBody>
      </p:sp>
      <p:sp>
        <p:nvSpPr>
          <p:cNvPr id="101" name="Shape 99"/>
          <p:cNvSpPr/>
          <p:nvPr/>
        </p:nvSpPr>
        <p:spPr>
          <a:xfrm>
            <a:off x="2057400" y="9765792"/>
            <a:ext cx="16184880" cy="521208"/>
          </a:xfrm>
          <a:prstGeom prst="rect">
            <a:avLst/>
          </a:prstGeom>
          <a:solidFill>
            <a:srgbClr val="1A1A1A"/>
          </a:solidFill>
          <a:ln w="12700">
            <a:solidFill>
              <a:srgbClr val="1A1A1A"/>
            </a:solidFill>
            <a:prstDash val="solid"/>
          </a:ln>
        </p:spPr>
      </p:sp>
      <p:sp>
        <p:nvSpPr>
          <p:cNvPr id="102" name="Text 100"/>
          <p:cNvSpPr/>
          <p:nvPr/>
        </p:nvSpPr>
        <p:spPr>
          <a:xfrm>
            <a:off x="2194560" y="9765792"/>
            <a:ext cx="5486400" cy="521208"/>
          </a:xfrm>
          <a:prstGeom prst="rect">
            <a:avLst/>
          </a:prstGeom>
          <a:noFill/>
          <a:ln/>
        </p:spPr>
        <p:txBody>
          <a:bodyPr wrap="square" lIns="0" tIns="0" rIns="0" bIns="0" rtlCol="0" anchor="ctr"/>
          <a:lstStyle/>
          <a:p>
            <a:r>
              <a:rPr lang="en-US" sz="1350" dirty="0">
                <a:solidFill>
                  <a:srgbClr val="FFFFFF"/>
                </a:solidFill>
                <a:latin typeface="Calibri" pitchFamily="34" charset="0"/>
                <a:ea typeface="Calibri" pitchFamily="34" charset="-122"/>
                <a:cs typeface="Calibri" pitchFamily="34" charset="-120"/>
              </a:rPr>
              <a:t>SiliconKnights</a:t>
            </a:r>
            <a:endParaRPr lang="en-US" sz="1350" dirty="0"/>
          </a:p>
        </p:txBody>
      </p:sp>
      <p:sp>
        <p:nvSpPr>
          <p:cNvPr id="103" name="Text 101"/>
          <p:cNvSpPr/>
          <p:nvPr/>
        </p:nvSpPr>
        <p:spPr>
          <a:xfrm>
            <a:off x="17556480" y="9765792"/>
            <a:ext cx="521208" cy="521208"/>
          </a:xfrm>
          <a:prstGeom prst="rect">
            <a:avLst/>
          </a:prstGeom>
          <a:noFill/>
          <a:ln/>
        </p:spPr>
        <p:txBody>
          <a:bodyPr wrap="square" lIns="0" tIns="0" rIns="0" bIns="0" rtlCol="0" anchor="ctr"/>
          <a:lstStyle/>
          <a:p>
            <a:pPr algn="r"/>
            <a:r>
              <a:rPr lang="en-US" sz="1350" dirty="0">
                <a:solidFill>
                  <a:srgbClr val="FFFFFF"/>
                </a:solidFill>
                <a:latin typeface="Calibri" pitchFamily="34" charset="0"/>
                <a:ea typeface="Calibri" pitchFamily="34" charset="-122"/>
                <a:cs typeface="Calibri" pitchFamily="34" charset="-120"/>
              </a:rPr>
              <a:t>9</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9"/>
          <p:cNvSpPr/>
          <p:nvPr/>
        </p:nvSpPr>
        <p:spPr>
          <a:xfrm>
            <a:off x="694944" y="493776"/>
            <a:ext cx="585216" cy="493776"/>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9"/>
          <p:cNvSpPr/>
          <p:nvPr/>
        </p:nvSpPr>
        <p:spPr>
          <a:xfrm>
            <a:off x="694944" y="493776"/>
            <a:ext cx="585216" cy="4937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10</a:t>
            </a:r>
            <a:endParaRPr sz="1800">
              <a:solidFill>
                <a:schemeClr val="dk1"/>
              </a:solidFill>
              <a:latin typeface="Calibri"/>
              <a:ea typeface="Calibri"/>
              <a:cs typeface="Calibri"/>
              <a:sym typeface="Calibri"/>
            </a:endParaRPr>
          </a:p>
        </p:txBody>
      </p:sp>
      <p:sp>
        <p:nvSpPr>
          <p:cNvPr id="572" name="Google Shape;572;p9"/>
          <p:cNvSpPr/>
          <p:nvPr/>
        </p:nvSpPr>
        <p:spPr>
          <a:xfrm>
            <a:off x="1389888" y="493776"/>
            <a:ext cx="2011680" cy="493776"/>
          </a:xfrm>
          <a:prstGeom prst="rect">
            <a:avLst/>
          </a:prstGeom>
          <a:solidFill>
            <a:srgbClr val="E8E8E8"/>
          </a:solidFill>
          <a:ln w="9525"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9"/>
          <p:cNvSpPr/>
          <p:nvPr/>
        </p:nvSpPr>
        <p:spPr>
          <a:xfrm>
            <a:off x="1389888" y="493776"/>
            <a:ext cx="2011680" cy="49377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500" b="1">
                <a:solidFill>
                  <a:srgbClr val="CC0000"/>
                </a:solidFill>
                <a:latin typeface="Poppins"/>
                <a:ea typeface="Poppins"/>
                <a:cs typeface="Poppins"/>
                <a:sym typeface="Poppins"/>
              </a:rPr>
              <a:t>SCENARIO 01</a:t>
            </a:r>
            <a:endParaRPr sz="1500">
              <a:solidFill>
                <a:schemeClr val="dk1"/>
              </a:solidFill>
              <a:latin typeface="Calibri"/>
              <a:ea typeface="Calibri"/>
              <a:cs typeface="Calibri"/>
              <a:sym typeface="Calibri"/>
            </a:endParaRPr>
          </a:p>
        </p:txBody>
      </p:sp>
      <p:sp>
        <p:nvSpPr>
          <p:cNvPr id="574" name="Google Shape;574;p9"/>
          <p:cNvSpPr/>
          <p:nvPr/>
        </p:nvSpPr>
        <p:spPr>
          <a:xfrm>
            <a:off x="3547872" y="457200"/>
            <a:ext cx="914400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3400" b="1">
                <a:solidFill>
                  <a:srgbClr val="1A1A1A"/>
                </a:solidFill>
                <a:latin typeface="Poppins"/>
                <a:ea typeface="Poppins"/>
                <a:cs typeface="Poppins"/>
                <a:sym typeface="Poppins"/>
              </a:rPr>
              <a:t>PVC I/O Cascade</a:t>
            </a:r>
            <a:endParaRPr sz="3400">
              <a:solidFill>
                <a:schemeClr val="dk1"/>
              </a:solidFill>
              <a:latin typeface="Calibri"/>
              <a:ea typeface="Calibri"/>
              <a:cs typeface="Calibri"/>
              <a:sym typeface="Calibri"/>
            </a:endParaRPr>
          </a:p>
        </p:txBody>
      </p:sp>
      <p:sp>
        <p:nvSpPr>
          <p:cNvPr id="575" name="Google Shape;575;p9"/>
          <p:cNvSpPr/>
          <p:nvPr/>
        </p:nvSpPr>
        <p:spPr>
          <a:xfrm>
            <a:off x="3547872" y="1042416"/>
            <a:ext cx="137160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a:solidFill>
                  <a:schemeClr val="dk1"/>
                </a:solidFill>
                <a:latin typeface="Poppins"/>
                <a:ea typeface="Poppins"/>
                <a:cs typeface="Poppins"/>
                <a:sym typeface="Poppins"/>
              </a:rPr>
              <a:t>Storage contention propagation — detected without manual topology configuration</a:t>
            </a:r>
            <a:endParaRPr sz="1800">
              <a:solidFill>
                <a:schemeClr val="dk1"/>
              </a:solidFill>
              <a:latin typeface="Calibri"/>
              <a:ea typeface="Calibri"/>
              <a:cs typeface="Calibri"/>
              <a:sym typeface="Calibri"/>
            </a:endParaRPr>
          </a:p>
        </p:txBody>
      </p:sp>
      <p:sp>
        <p:nvSpPr>
          <p:cNvPr id="576" name="Google Shape;576;p9"/>
          <p:cNvSpPr/>
          <p:nvPr/>
        </p:nvSpPr>
        <p:spPr>
          <a:xfrm>
            <a:off x="694944" y="1536193"/>
            <a:ext cx="16898112" cy="4023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9"/>
          <p:cNvSpPr/>
          <p:nvPr/>
        </p:nvSpPr>
        <p:spPr>
          <a:xfrm>
            <a:off x="694944" y="1755648"/>
            <a:ext cx="5266944"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900" b="1">
                <a:solidFill>
                  <a:srgbClr val="1A1A1A"/>
                </a:solidFill>
                <a:latin typeface="Poppins"/>
                <a:ea typeface="Poppins"/>
                <a:cs typeface="Poppins"/>
                <a:sym typeface="Poppins"/>
              </a:rPr>
              <a:t>The Situation</a:t>
            </a:r>
            <a:endParaRPr sz="1900">
              <a:solidFill>
                <a:schemeClr val="dk1"/>
              </a:solidFill>
              <a:latin typeface="Calibri"/>
              <a:ea typeface="Calibri"/>
              <a:cs typeface="Calibri"/>
              <a:sym typeface="Calibri"/>
            </a:endParaRPr>
          </a:p>
        </p:txBody>
      </p:sp>
      <p:sp>
        <p:nvSpPr>
          <p:cNvPr id="578" name="Google Shape;578;p9"/>
          <p:cNvSpPr/>
          <p:nvPr/>
        </p:nvSpPr>
        <p:spPr>
          <a:xfrm>
            <a:off x="694944" y="2194560"/>
            <a:ext cx="5266944" cy="8046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chemeClr val="dk1"/>
                </a:solidFill>
                <a:latin typeface="Poppins"/>
                <a:ea typeface="Poppins"/>
                <a:cs typeface="Poppins"/>
                <a:sym typeface="Poppins"/>
              </a:rPr>
              <a:t>At t=0, the Cooling Monitor begins a large thermal log flush to shared PVC storage. No alert has fired — all pods report healthy. I/O climbs to 94%. The system is watching.</a:t>
            </a:r>
            <a:endParaRPr sz="1600">
              <a:solidFill>
                <a:schemeClr val="dk1"/>
              </a:solidFill>
              <a:latin typeface="Calibri"/>
              <a:ea typeface="Calibri"/>
              <a:cs typeface="Calibri"/>
              <a:sym typeface="Calibri"/>
            </a:endParaRPr>
          </a:p>
        </p:txBody>
      </p:sp>
      <p:sp>
        <p:nvSpPr>
          <p:cNvPr id="579" name="Google Shape;579;p9"/>
          <p:cNvSpPr/>
          <p:nvPr/>
        </p:nvSpPr>
        <p:spPr>
          <a:xfrm>
            <a:off x="723900" y="3255264"/>
            <a:ext cx="526694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b="1">
                <a:solidFill>
                  <a:srgbClr val="CC0000"/>
                </a:solidFill>
                <a:latin typeface="Poppins"/>
                <a:ea typeface="Poppins"/>
                <a:cs typeface="Poppins"/>
                <a:sym typeface="Poppins"/>
              </a:rPr>
              <a:t>System telemetry at t=0  —  I/O storm detected</a:t>
            </a:r>
            <a:endParaRPr sz="1400">
              <a:solidFill>
                <a:schemeClr val="dk1"/>
              </a:solidFill>
              <a:latin typeface="Calibri"/>
              <a:ea typeface="Calibri"/>
              <a:cs typeface="Calibri"/>
              <a:sym typeface="Calibri"/>
            </a:endParaRPr>
          </a:p>
        </p:txBody>
      </p:sp>
      <p:sp>
        <p:nvSpPr>
          <p:cNvPr id="580" name="Google Shape;580;p9"/>
          <p:cNvSpPr/>
          <p:nvPr/>
        </p:nvSpPr>
        <p:spPr>
          <a:xfrm>
            <a:off x="694944" y="7789508"/>
            <a:ext cx="5266944" cy="1801368"/>
          </a:xfrm>
          <a:prstGeom prst="rect">
            <a:avLst/>
          </a:prstGeom>
          <a:solidFill>
            <a:srgbClr val="FFF0F0"/>
          </a:solidFill>
          <a:ln w="9525" cap="flat" cmpd="sng">
            <a:solidFill>
              <a:srgbClr val="F0C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9"/>
          <p:cNvSpPr/>
          <p:nvPr/>
        </p:nvSpPr>
        <p:spPr>
          <a:xfrm>
            <a:off x="694944" y="7789508"/>
            <a:ext cx="73152" cy="1801368"/>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9"/>
          <p:cNvSpPr/>
          <p:nvPr/>
        </p:nvSpPr>
        <p:spPr>
          <a:xfrm>
            <a:off x="912236" y="8034282"/>
            <a:ext cx="4974336"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CC0000"/>
                </a:solidFill>
                <a:latin typeface="Poppins"/>
                <a:ea typeface="Poppins"/>
                <a:cs typeface="Poppins"/>
                <a:sym typeface="Poppins"/>
              </a:rPr>
              <a:t>Key insight</a:t>
            </a:r>
            <a:endParaRPr sz="1500">
              <a:solidFill>
                <a:schemeClr val="dk1"/>
              </a:solidFill>
              <a:latin typeface="Calibri"/>
              <a:ea typeface="Calibri"/>
              <a:cs typeface="Calibri"/>
              <a:sym typeface="Calibri"/>
            </a:endParaRPr>
          </a:p>
        </p:txBody>
      </p:sp>
      <p:sp>
        <p:nvSpPr>
          <p:cNvPr id="583" name="Google Shape;583;p9"/>
          <p:cNvSpPr/>
          <p:nvPr/>
        </p:nvSpPr>
        <p:spPr>
          <a:xfrm>
            <a:off x="912236" y="8394192"/>
            <a:ext cx="4974336" cy="1168908"/>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600">
                <a:solidFill>
                  <a:schemeClr val="dk1"/>
                </a:solidFill>
                <a:latin typeface="Poppins"/>
                <a:ea typeface="Poppins"/>
                <a:cs typeface="Poppins"/>
                <a:sym typeface="Poppins"/>
              </a:rPr>
              <a:t>Storage contention identified without service mesh injection, predefined rules, or manual topology setup.</a:t>
            </a:r>
            <a:endParaRPr sz="1600">
              <a:solidFill>
                <a:schemeClr val="dk1"/>
              </a:solidFill>
              <a:latin typeface="Calibri"/>
              <a:ea typeface="Calibri"/>
              <a:cs typeface="Calibri"/>
              <a:sym typeface="Calibri"/>
            </a:endParaRPr>
          </a:p>
        </p:txBody>
      </p:sp>
      <p:sp>
        <p:nvSpPr>
          <p:cNvPr id="584" name="Google Shape;584;p9"/>
          <p:cNvSpPr/>
          <p:nvPr/>
        </p:nvSpPr>
        <p:spPr>
          <a:xfrm>
            <a:off x="6291072" y="1755648"/>
            <a:ext cx="5266944" cy="7982712"/>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9"/>
          <p:cNvSpPr/>
          <p:nvPr/>
        </p:nvSpPr>
        <p:spPr>
          <a:xfrm>
            <a:off x="6291072" y="1755649"/>
            <a:ext cx="5266944" cy="69494"/>
          </a:xfrm>
          <a:prstGeom prst="rect">
            <a:avLst/>
          </a:prstGeom>
          <a:solidFill>
            <a:srgbClr val="CC0000"/>
          </a:solidFill>
          <a:ln w="12700" cap="flat" cmpd="sng">
            <a:solidFill>
              <a:srgbClr val="8B6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9"/>
          <p:cNvSpPr/>
          <p:nvPr/>
        </p:nvSpPr>
        <p:spPr>
          <a:xfrm>
            <a:off x="6473952" y="1847088"/>
            <a:ext cx="4992624"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900" b="1">
                <a:solidFill>
                  <a:srgbClr val="1A1A1A"/>
                </a:solidFill>
                <a:latin typeface="Poppins"/>
                <a:ea typeface="Poppins"/>
                <a:cs typeface="Poppins"/>
                <a:sym typeface="Poppins"/>
              </a:rPr>
              <a:t>Propagation Chain</a:t>
            </a:r>
            <a:endParaRPr sz="1900">
              <a:solidFill>
                <a:schemeClr val="dk1"/>
              </a:solidFill>
              <a:latin typeface="Calibri"/>
              <a:ea typeface="Calibri"/>
              <a:cs typeface="Calibri"/>
              <a:sym typeface="Calibri"/>
            </a:endParaRPr>
          </a:p>
        </p:txBody>
      </p:sp>
      <p:sp>
        <p:nvSpPr>
          <p:cNvPr id="587" name="Google Shape;587;p9"/>
          <p:cNvSpPr/>
          <p:nvPr/>
        </p:nvSpPr>
        <p:spPr>
          <a:xfrm>
            <a:off x="6473952" y="2212848"/>
            <a:ext cx="499262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chemeClr val="dk1"/>
                </a:solidFill>
                <a:latin typeface="Poppins"/>
                <a:ea typeface="Poppins"/>
                <a:cs typeface="Poppins"/>
                <a:sym typeface="Poppins"/>
              </a:rPr>
              <a:t>Inferred from lag correlation — 5s resolution</a:t>
            </a:r>
            <a:endParaRPr sz="1400">
              <a:solidFill>
                <a:schemeClr val="dk1"/>
              </a:solidFill>
              <a:latin typeface="Calibri"/>
              <a:ea typeface="Calibri"/>
              <a:cs typeface="Calibri"/>
              <a:sym typeface="Calibri"/>
            </a:endParaRPr>
          </a:p>
        </p:txBody>
      </p:sp>
      <p:sp>
        <p:nvSpPr>
          <p:cNvPr id="588" name="Google Shape;588;p9"/>
          <p:cNvSpPr/>
          <p:nvPr/>
        </p:nvSpPr>
        <p:spPr>
          <a:xfrm>
            <a:off x="6583680" y="2596896"/>
            <a:ext cx="4681728" cy="950976"/>
          </a:xfrm>
          <a:prstGeom prst="rect">
            <a:avLst/>
          </a:prstGeom>
          <a:solidFill>
            <a:srgbClr val="F8F8F8"/>
          </a:solidFill>
          <a:ln w="19050" cap="flat" cmpd="sng">
            <a:solidFill>
              <a:srgbClr val="F851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9"/>
          <p:cNvSpPr/>
          <p:nvPr/>
        </p:nvSpPr>
        <p:spPr>
          <a:xfrm>
            <a:off x="6583680" y="2596896"/>
            <a:ext cx="73152" cy="950976"/>
          </a:xfrm>
          <a:prstGeom prst="rect">
            <a:avLst/>
          </a:prstGeom>
          <a:solidFill>
            <a:srgbClr val="F85149"/>
          </a:solidFill>
          <a:ln w="12700" cap="flat" cmpd="sng">
            <a:solidFill>
              <a:srgbClr val="F851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9"/>
          <p:cNvSpPr/>
          <p:nvPr/>
        </p:nvSpPr>
        <p:spPr>
          <a:xfrm>
            <a:off x="6766560" y="2688336"/>
            <a:ext cx="43891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Cooling Monitor</a:t>
            </a:r>
            <a:endParaRPr sz="1700">
              <a:solidFill>
                <a:schemeClr val="dk1"/>
              </a:solidFill>
              <a:latin typeface="Calibri"/>
              <a:ea typeface="Calibri"/>
              <a:cs typeface="Calibri"/>
              <a:sym typeface="Calibri"/>
            </a:endParaRPr>
          </a:p>
        </p:txBody>
      </p:sp>
      <p:sp>
        <p:nvSpPr>
          <p:cNvPr id="591" name="Google Shape;591;p9"/>
          <p:cNvSpPr/>
          <p:nvPr/>
        </p:nvSpPr>
        <p:spPr>
          <a:xfrm>
            <a:off x="6766561" y="3090672"/>
            <a:ext cx="1258214" cy="329184"/>
          </a:xfrm>
          <a:prstGeom prst="rect">
            <a:avLst/>
          </a:prstGeom>
          <a:solidFill>
            <a:srgbClr val="3A0A0A"/>
          </a:solidFill>
          <a:ln w="9525" cap="flat" cmpd="sng">
            <a:solidFill>
              <a:srgbClr val="F851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9"/>
          <p:cNvSpPr/>
          <p:nvPr/>
        </p:nvSpPr>
        <p:spPr>
          <a:xfrm>
            <a:off x="6766561" y="3090672"/>
            <a:ext cx="1258214"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85149"/>
                </a:solidFill>
                <a:latin typeface="Poppins"/>
                <a:ea typeface="Poppins"/>
                <a:cs typeface="Poppins"/>
                <a:sym typeface="Poppins"/>
              </a:rPr>
              <a:t>I/O: 94%</a:t>
            </a:r>
            <a:endParaRPr sz="1400">
              <a:solidFill>
                <a:schemeClr val="dk1"/>
              </a:solidFill>
              <a:latin typeface="Calibri"/>
              <a:ea typeface="Calibri"/>
              <a:cs typeface="Calibri"/>
              <a:sym typeface="Calibri"/>
            </a:endParaRPr>
          </a:p>
        </p:txBody>
      </p:sp>
      <p:sp>
        <p:nvSpPr>
          <p:cNvPr id="593" name="Google Shape;593;p9"/>
          <p:cNvSpPr/>
          <p:nvPr/>
        </p:nvSpPr>
        <p:spPr>
          <a:xfrm>
            <a:off x="8171079" y="3090672"/>
            <a:ext cx="298460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chemeClr val="dk1"/>
                </a:solidFill>
                <a:latin typeface="Poppins"/>
                <a:ea typeface="Poppins"/>
                <a:cs typeface="Poppins"/>
                <a:sym typeface="Poppins"/>
              </a:rPr>
              <a:t>Sequential disk read flush</a:t>
            </a:r>
            <a:endParaRPr sz="1400">
              <a:solidFill>
                <a:schemeClr val="dk1"/>
              </a:solidFill>
              <a:latin typeface="Calibri"/>
              <a:ea typeface="Calibri"/>
              <a:cs typeface="Calibri"/>
              <a:sym typeface="Calibri"/>
            </a:endParaRPr>
          </a:p>
        </p:txBody>
      </p:sp>
      <p:cxnSp>
        <p:nvCxnSpPr>
          <p:cNvPr id="594" name="Google Shape;594;p9"/>
          <p:cNvCxnSpPr/>
          <p:nvPr/>
        </p:nvCxnSpPr>
        <p:spPr>
          <a:xfrm>
            <a:off x="8924544" y="3584448"/>
            <a:ext cx="0" cy="402336"/>
          </a:xfrm>
          <a:prstGeom prst="straightConnector1">
            <a:avLst/>
          </a:prstGeom>
          <a:noFill/>
          <a:ln w="9525" cap="flat" cmpd="sng">
            <a:solidFill>
              <a:schemeClr val="dk1"/>
            </a:solidFill>
            <a:prstDash val="solid"/>
            <a:round/>
            <a:headEnd type="none" w="sm" len="sm"/>
            <a:tailEnd type="stealth" w="med" len="med"/>
          </a:ln>
        </p:spPr>
      </p:cxnSp>
      <p:sp>
        <p:nvSpPr>
          <p:cNvPr id="595" name="Google Shape;595;p9"/>
          <p:cNvSpPr/>
          <p:nvPr/>
        </p:nvSpPr>
        <p:spPr>
          <a:xfrm>
            <a:off x="9034272" y="3621024"/>
            <a:ext cx="223113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00" i="1">
                <a:solidFill>
                  <a:schemeClr val="dk1"/>
                </a:solidFill>
                <a:latin typeface="Poppins"/>
                <a:ea typeface="Poppins"/>
                <a:cs typeface="Poppins"/>
                <a:sym typeface="Poppins"/>
              </a:rPr>
              <a:t>I/O contention;  lag ~0s</a:t>
            </a:r>
            <a:endParaRPr sz="1300">
              <a:solidFill>
                <a:schemeClr val="dk1"/>
              </a:solidFill>
              <a:latin typeface="Calibri"/>
              <a:ea typeface="Calibri"/>
              <a:cs typeface="Calibri"/>
              <a:sym typeface="Calibri"/>
            </a:endParaRPr>
          </a:p>
        </p:txBody>
      </p:sp>
      <p:sp>
        <p:nvSpPr>
          <p:cNvPr id="596" name="Google Shape;596;p9"/>
          <p:cNvSpPr/>
          <p:nvPr/>
        </p:nvSpPr>
        <p:spPr>
          <a:xfrm>
            <a:off x="6583680" y="4023360"/>
            <a:ext cx="4681728" cy="950976"/>
          </a:xfrm>
          <a:prstGeom prst="rect">
            <a:avLst/>
          </a:prstGeom>
          <a:solidFill>
            <a:srgbClr val="F8F8F8"/>
          </a:solidFill>
          <a:ln w="9525" cap="flat" cmpd="sng">
            <a:solidFill>
              <a:srgbClr val="D299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9"/>
          <p:cNvSpPr/>
          <p:nvPr/>
        </p:nvSpPr>
        <p:spPr>
          <a:xfrm>
            <a:off x="6583680" y="4023360"/>
            <a:ext cx="73152" cy="950976"/>
          </a:xfrm>
          <a:prstGeom prst="rect">
            <a:avLst/>
          </a:prstGeom>
          <a:solidFill>
            <a:srgbClr val="D29922"/>
          </a:solidFill>
          <a:ln w="12700" cap="flat" cmpd="sng">
            <a:solidFill>
              <a:srgbClr val="D299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9"/>
          <p:cNvSpPr/>
          <p:nvPr/>
        </p:nvSpPr>
        <p:spPr>
          <a:xfrm>
            <a:off x="6766560" y="4114800"/>
            <a:ext cx="43891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Shared PVC Volume</a:t>
            </a:r>
            <a:endParaRPr sz="1700">
              <a:solidFill>
                <a:schemeClr val="dk1"/>
              </a:solidFill>
              <a:latin typeface="Calibri"/>
              <a:ea typeface="Calibri"/>
              <a:cs typeface="Calibri"/>
              <a:sym typeface="Calibri"/>
            </a:endParaRPr>
          </a:p>
        </p:txBody>
      </p:sp>
      <p:sp>
        <p:nvSpPr>
          <p:cNvPr id="599" name="Google Shape;599;p9"/>
          <p:cNvSpPr/>
          <p:nvPr/>
        </p:nvSpPr>
        <p:spPr>
          <a:xfrm>
            <a:off x="6766561" y="4517136"/>
            <a:ext cx="2465222" cy="329184"/>
          </a:xfrm>
          <a:prstGeom prst="rect">
            <a:avLst/>
          </a:prstGeom>
          <a:solidFill>
            <a:srgbClr val="3A2000"/>
          </a:solidFill>
          <a:ln w="9525" cap="flat" cmpd="sng">
            <a:solidFill>
              <a:srgbClr val="D299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9"/>
          <p:cNvSpPr/>
          <p:nvPr/>
        </p:nvSpPr>
        <p:spPr>
          <a:xfrm>
            <a:off x="6766561" y="4517136"/>
            <a:ext cx="2465222"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D29922"/>
                </a:solidFill>
                <a:latin typeface="Poppins"/>
                <a:ea typeface="Poppins"/>
                <a:cs typeface="Poppins"/>
                <a:sym typeface="Poppins"/>
              </a:rPr>
              <a:t>PVC latency +340ms</a:t>
            </a:r>
            <a:endParaRPr sz="1400">
              <a:solidFill>
                <a:schemeClr val="dk1"/>
              </a:solidFill>
              <a:latin typeface="Calibri"/>
              <a:ea typeface="Calibri"/>
              <a:cs typeface="Calibri"/>
              <a:sym typeface="Calibri"/>
            </a:endParaRPr>
          </a:p>
        </p:txBody>
      </p:sp>
      <p:sp>
        <p:nvSpPr>
          <p:cNvPr id="601" name="Google Shape;601;p9"/>
          <p:cNvSpPr/>
          <p:nvPr/>
        </p:nvSpPr>
        <p:spPr>
          <a:xfrm>
            <a:off x="9378087" y="4517136"/>
            <a:ext cx="1777594"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chemeClr val="dk1"/>
                </a:solidFill>
                <a:latin typeface="Poppins"/>
                <a:ea typeface="Poppins"/>
                <a:cs typeface="Poppins"/>
                <a:sym typeface="Poppins"/>
              </a:rPr>
              <a:t>Write queue saturation</a:t>
            </a:r>
            <a:endParaRPr sz="1400">
              <a:solidFill>
                <a:schemeClr val="dk1"/>
              </a:solidFill>
              <a:latin typeface="Calibri"/>
              <a:ea typeface="Calibri"/>
              <a:cs typeface="Calibri"/>
              <a:sym typeface="Calibri"/>
            </a:endParaRPr>
          </a:p>
        </p:txBody>
      </p:sp>
      <p:cxnSp>
        <p:nvCxnSpPr>
          <p:cNvPr id="602" name="Google Shape;602;p9"/>
          <p:cNvCxnSpPr/>
          <p:nvPr/>
        </p:nvCxnSpPr>
        <p:spPr>
          <a:xfrm>
            <a:off x="8924544" y="5010912"/>
            <a:ext cx="0" cy="402336"/>
          </a:xfrm>
          <a:prstGeom prst="straightConnector1">
            <a:avLst/>
          </a:prstGeom>
          <a:noFill/>
          <a:ln w="9525" cap="flat" cmpd="sng">
            <a:solidFill>
              <a:schemeClr val="dk1"/>
            </a:solidFill>
            <a:prstDash val="solid"/>
            <a:round/>
            <a:headEnd type="none" w="sm" len="sm"/>
            <a:tailEnd type="stealth" w="med" len="med"/>
          </a:ln>
        </p:spPr>
      </p:cxnSp>
      <p:sp>
        <p:nvSpPr>
          <p:cNvPr id="603" name="Google Shape;603;p9"/>
          <p:cNvSpPr/>
          <p:nvPr/>
        </p:nvSpPr>
        <p:spPr>
          <a:xfrm>
            <a:off x="9034272" y="5047488"/>
            <a:ext cx="223113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00" i="1">
                <a:solidFill>
                  <a:schemeClr val="dk1"/>
                </a:solidFill>
                <a:latin typeface="Poppins"/>
                <a:ea typeface="Poppins"/>
                <a:cs typeface="Poppins"/>
                <a:sym typeface="Poppins"/>
              </a:rPr>
              <a:t>write latency;  lag 5s</a:t>
            </a:r>
            <a:endParaRPr sz="1300">
              <a:solidFill>
                <a:schemeClr val="dk1"/>
              </a:solidFill>
              <a:latin typeface="Calibri"/>
              <a:ea typeface="Calibri"/>
              <a:cs typeface="Calibri"/>
              <a:sym typeface="Calibri"/>
            </a:endParaRPr>
          </a:p>
        </p:txBody>
      </p:sp>
      <p:sp>
        <p:nvSpPr>
          <p:cNvPr id="604" name="Google Shape;604;p9"/>
          <p:cNvSpPr/>
          <p:nvPr/>
        </p:nvSpPr>
        <p:spPr>
          <a:xfrm>
            <a:off x="6583680" y="5449824"/>
            <a:ext cx="4681728" cy="950976"/>
          </a:xfrm>
          <a:prstGeom prst="rect">
            <a:avLst/>
          </a:prstGeom>
          <a:solidFill>
            <a:srgbClr val="F8F8F8"/>
          </a:solidFill>
          <a:ln w="9525" cap="flat" cmpd="sng">
            <a:solidFill>
              <a:srgbClr val="CC77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9"/>
          <p:cNvSpPr/>
          <p:nvPr/>
        </p:nvSpPr>
        <p:spPr>
          <a:xfrm>
            <a:off x="6583680" y="5449824"/>
            <a:ext cx="73152" cy="950976"/>
          </a:xfrm>
          <a:prstGeom prst="rect">
            <a:avLst/>
          </a:prstGeom>
          <a:solidFill>
            <a:srgbClr val="CC7700"/>
          </a:solidFill>
          <a:ln w="12700" cap="flat" cmpd="sng">
            <a:solidFill>
              <a:srgbClr val="CC77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9"/>
          <p:cNvSpPr/>
          <p:nvPr/>
        </p:nvSpPr>
        <p:spPr>
          <a:xfrm>
            <a:off x="6766560" y="5541264"/>
            <a:ext cx="43891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DCIM Bridge</a:t>
            </a:r>
            <a:endParaRPr sz="1700">
              <a:solidFill>
                <a:schemeClr val="dk1"/>
              </a:solidFill>
              <a:latin typeface="Calibri"/>
              <a:ea typeface="Calibri"/>
              <a:cs typeface="Calibri"/>
              <a:sym typeface="Calibri"/>
            </a:endParaRPr>
          </a:p>
        </p:txBody>
      </p:sp>
      <p:sp>
        <p:nvSpPr>
          <p:cNvPr id="607" name="Google Shape;607;p9"/>
          <p:cNvSpPr/>
          <p:nvPr/>
        </p:nvSpPr>
        <p:spPr>
          <a:xfrm>
            <a:off x="6766560" y="5943600"/>
            <a:ext cx="1982420" cy="329184"/>
          </a:xfrm>
          <a:prstGeom prst="rect">
            <a:avLst/>
          </a:prstGeom>
          <a:solidFill>
            <a:srgbClr val="3A2A00"/>
          </a:solidFill>
          <a:ln w="9525" cap="flat" cmpd="sng">
            <a:solidFill>
              <a:srgbClr val="CC77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9"/>
          <p:cNvSpPr/>
          <p:nvPr/>
        </p:nvSpPr>
        <p:spPr>
          <a:xfrm>
            <a:off x="6766560" y="5943600"/>
            <a:ext cx="198242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CC7700"/>
                </a:solidFill>
                <a:latin typeface="Poppins"/>
                <a:ea typeface="Poppins"/>
                <a:cs typeface="Poppins"/>
                <a:sym typeface="Poppins"/>
              </a:rPr>
              <a:t>Write deg. 71%</a:t>
            </a:r>
            <a:endParaRPr sz="1400">
              <a:solidFill>
                <a:schemeClr val="dk1"/>
              </a:solidFill>
              <a:latin typeface="Calibri"/>
              <a:ea typeface="Calibri"/>
              <a:cs typeface="Calibri"/>
              <a:sym typeface="Calibri"/>
            </a:endParaRPr>
          </a:p>
        </p:txBody>
      </p:sp>
      <p:sp>
        <p:nvSpPr>
          <p:cNvPr id="609" name="Google Shape;609;p9"/>
          <p:cNvSpPr/>
          <p:nvPr/>
        </p:nvSpPr>
        <p:spPr>
          <a:xfrm>
            <a:off x="8895284" y="5943600"/>
            <a:ext cx="2260396"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chemeClr val="dk1"/>
                </a:solidFill>
                <a:latin typeface="Poppins"/>
                <a:ea typeface="Poppins"/>
                <a:cs typeface="Poppins"/>
                <a:sym typeface="Poppins"/>
              </a:rPr>
              <a:t>Telemetry write stall</a:t>
            </a:r>
            <a:endParaRPr sz="1400">
              <a:solidFill>
                <a:schemeClr val="dk1"/>
              </a:solidFill>
              <a:latin typeface="Calibri"/>
              <a:ea typeface="Calibri"/>
              <a:cs typeface="Calibri"/>
              <a:sym typeface="Calibri"/>
            </a:endParaRPr>
          </a:p>
        </p:txBody>
      </p:sp>
      <p:cxnSp>
        <p:nvCxnSpPr>
          <p:cNvPr id="610" name="Google Shape;610;p9"/>
          <p:cNvCxnSpPr/>
          <p:nvPr/>
        </p:nvCxnSpPr>
        <p:spPr>
          <a:xfrm>
            <a:off x="8924544" y="6437376"/>
            <a:ext cx="0" cy="402336"/>
          </a:xfrm>
          <a:prstGeom prst="straightConnector1">
            <a:avLst/>
          </a:prstGeom>
          <a:noFill/>
          <a:ln w="9525" cap="flat" cmpd="sng">
            <a:solidFill>
              <a:schemeClr val="dk1"/>
            </a:solidFill>
            <a:prstDash val="solid"/>
            <a:round/>
            <a:headEnd type="none" w="sm" len="sm"/>
            <a:tailEnd type="stealth" w="med" len="med"/>
          </a:ln>
        </p:spPr>
      </p:cxnSp>
      <p:sp>
        <p:nvSpPr>
          <p:cNvPr id="611" name="Google Shape;611;p9"/>
          <p:cNvSpPr/>
          <p:nvPr/>
        </p:nvSpPr>
        <p:spPr>
          <a:xfrm>
            <a:off x="9034272" y="6473952"/>
            <a:ext cx="223113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00" i="1">
                <a:solidFill>
                  <a:schemeClr val="dk1"/>
                </a:solidFill>
                <a:latin typeface="Poppins"/>
                <a:ea typeface="Poppins"/>
                <a:cs typeface="Poppins"/>
                <a:sym typeface="Poppins"/>
              </a:rPr>
              <a:t>log backpressure;  lag 15s</a:t>
            </a:r>
            <a:endParaRPr sz="1300">
              <a:solidFill>
                <a:schemeClr val="dk1"/>
              </a:solidFill>
              <a:latin typeface="Calibri"/>
              <a:ea typeface="Calibri"/>
              <a:cs typeface="Calibri"/>
              <a:sym typeface="Calibri"/>
            </a:endParaRPr>
          </a:p>
        </p:txBody>
      </p:sp>
      <p:sp>
        <p:nvSpPr>
          <p:cNvPr id="612" name="Google Shape;612;p9"/>
          <p:cNvSpPr/>
          <p:nvPr/>
        </p:nvSpPr>
        <p:spPr>
          <a:xfrm>
            <a:off x="6583680" y="6876288"/>
            <a:ext cx="4681728" cy="950976"/>
          </a:xfrm>
          <a:prstGeom prst="rect">
            <a:avLst/>
          </a:prstGeom>
          <a:solidFill>
            <a:srgbClr val="F8F8F8"/>
          </a:solidFill>
          <a:ln w="9525" cap="flat" cmpd="sng">
            <a:solidFill>
              <a:srgbClr val="CC4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9"/>
          <p:cNvSpPr/>
          <p:nvPr/>
        </p:nvSpPr>
        <p:spPr>
          <a:xfrm>
            <a:off x="6583680" y="6876288"/>
            <a:ext cx="73152" cy="950976"/>
          </a:xfrm>
          <a:prstGeom prst="rect">
            <a:avLst/>
          </a:prstGeom>
          <a:solidFill>
            <a:srgbClr val="CC4400"/>
          </a:solidFill>
          <a:ln w="12700" cap="flat" cmpd="sng">
            <a:solidFill>
              <a:srgbClr val="CC4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9"/>
          <p:cNvSpPr/>
          <p:nvPr/>
        </p:nvSpPr>
        <p:spPr>
          <a:xfrm>
            <a:off x="6766560" y="6967728"/>
            <a:ext cx="43891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Alert Dispatcher</a:t>
            </a:r>
            <a:endParaRPr sz="1700">
              <a:solidFill>
                <a:schemeClr val="dk1"/>
              </a:solidFill>
              <a:latin typeface="Calibri"/>
              <a:ea typeface="Calibri"/>
              <a:cs typeface="Calibri"/>
              <a:sym typeface="Calibri"/>
            </a:endParaRPr>
          </a:p>
        </p:txBody>
      </p:sp>
      <p:sp>
        <p:nvSpPr>
          <p:cNvPr id="615" name="Google Shape;615;p9"/>
          <p:cNvSpPr/>
          <p:nvPr/>
        </p:nvSpPr>
        <p:spPr>
          <a:xfrm>
            <a:off x="6766561" y="7370064"/>
            <a:ext cx="1861718" cy="329184"/>
          </a:xfrm>
          <a:prstGeom prst="rect">
            <a:avLst/>
          </a:prstGeom>
          <a:solidFill>
            <a:srgbClr val="3A1500"/>
          </a:solidFill>
          <a:ln w="9525" cap="flat" cmpd="sng">
            <a:solidFill>
              <a:srgbClr val="CC4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9"/>
          <p:cNvSpPr/>
          <p:nvPr/>
        </p:nvSpPr>
        <p:spPr>
          <a:xfrm>
            <a:off x="6766561" y="7370064"/>
            <a:ext cx="1861718"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CC4400"/>
                </a:solidFill>
                <a:latin typeface="Poppins"/>
                <a:ea typeface="Poppins"/>
                <a:cs typeface="Poppins"/>
                <a:sym typeface="Poppins"/>
              </a:rPr>
              <a:t>Log delay +8s</a:t>
            </a:r>
            <a:endParaRPr sz="1400">
              <a:solidFill>
                <a:schemeClr val="dk1"/>
              </a:solidFill>
              <a:latin typeface="Calibri"/>
              <a:ea typeface="Calibri"/>
              <a:cs typeface="Calibri"/>
              <a:sym typeface="Calibri"/>
            </a:endParaRPr>
          </a:p>
        </p:txBody>
      </p:sp>
      <p:sp>
        <p:nvSpPr>
          <p:cNvPr id="617" name="Google Shape;617;p9"/>
          <p:cNvSpPr/>
          <p:nvPr/>
        </p:nvSpPr>
        <p:spPr>
          <a:xfrm>
            <a:off x="8774583" y="7370064"/>
            <a:ext cx="238109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chemeClr val="dk1"/>
                </a:solidFill>
                <a:latin typeface="Poppins"/>
                <a:ea typeface="Poppins"/>
                <a:cs typeface="Poppins"/>
                <a:sym typeface="Poppins"/>
              </a:rPr>
              <a:t>Log queue backpressure</a:t>
            </a:r>
            <a:endParaRPr sz="1400">
              <a:solidFill>
                <a:schemeClr val="dk1"/>
              </a:solidFill>
              <a:latin typeface="Calibri"/>
              <a:ea typeface="Calibri"/>
              <a:cs typeface="Calibri"/>
              <a:sym typeface="Calibri"/>
            </a:endParaRPr>
          </a:p>
        </p:txBody>
      </p:sp>
      <p:cxnSp>
        <p:nvCxnSpPr>
          <p:cNvPr id="618" name="Google Shape;618;p9"/>
          <p:cNvCxnSpPr/>
          <p:nvPr/>
        </p:nvCxnSpPr>
        <p:spPr>
          <a:xfrm>
            <a:off x="8924544" y="7863840"/>
            <a:ext cx="0" cy="402336"/>
          </a:xfrm>
          <a:prstGeom prst="straightConnector1">
            <a:avLst/>
          </a:prstGeom>
          <a:noFill/>
          <a:ln w="9525" cap="flat" cmpd="sng">
            <a:solidFill>
              <a:schemeClr val="dk1"/>
            </a:solidFill>
            <a:prstDash val="solid"/>
            <a:round/>
            <a:headEnd type="none" w="sm" len="sm"/>
            <a:tailEnd type="stealth" w="med" len="med"/>
          </a:ln>
        </p:spPr>
      </p:cxnSp>
      <p:sp>
        <p:nvSpPr>
          <p:cNvPr id="619" name="Google Shape;619;p9"/>
          <p:cNvSpPr/>
          <p:nvPr/>
        </p:nvSpPr>
        <p:spPr>
          <a:xfrm>
            <a:off x="9034272" y="7900416"/>
            <a:ext cx="2231136"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00" i="1">
                <a:solidFill>
                  <a:schemeClr val="dk1"/>
                </a:solidFill>
                <a:latin typeface="Poppins"/>
                <a:ea typeface="Poppins"/>
                <a:cs typeface="Poppins"/>
                <a:sym typeface="Poppins"/>
              </a:rPr>
              <a:t>pod restart;  lag 30s</a:t>
            </a:r>
            <a:endParaRPr sz="1300">
              <a:solidFill>
                <a:schemeClr val="dk1"/>
              </a:solidFill>
              <a:latin typeface="Calibri"/>
              <a:ea typeface="Calibri"/>
              <a:cs typeface="Calibri"/>
              <a:sym typeface="Calibri"/>
            </a:endParaRPr>
          </a:p>
        </p:txBody>
      </p:sp>
      <p:sp>
        <p:nvSpPr>
          <p:cNvPr id="620" name="Google Shape;620;p9"/>
          <p:cNvSpPr/>
          <p:nvPr/>
        </p:nvSpPr>
        <p:spPr>
          <a:xfrm>
            <a:off x="6583680" y="8302752"/>
            <a:ext cx="4681728" cy="950976"/>
          </a:xfrm>
          <a:prstGeom prst="rect">
            <a:avLst/>
          </a:prstGeom>
          <a:solidFill>
            <a:srgbClr val="F8F8F8"/>
          </a:solidFill>
          <a:ln w="1905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9"/>
          <p:cNvSpPr/>
          <p:nvPr/>
        </p:nvSpPr>
        <p:spPr>
          <a:xfrm>
            <a:off x="6583680" y="8302752"/>
            <a:ext cx="73152" cy="950976"/>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9"/>
          <p:cNvSpPr/>
          <p:nvPr/>
        </p:nvSpPr>
        <p:spPr>
          <a:xfrm>
            <a:off x="6766560" y="8394192"/>
            <a:ext cx="43891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700" b="1">
                <a:solidFill>
                  <a:srgbClr val="1A1A1A"/>
                </a:solidFill>
                <a:latin typeface="Poppins"/>
                <a:ea typeface="Poppins"/>
                <a:cs typeface="Poppins"/>
                <a:sym typeface="Poppins"/>
              </a:rPr>
              <a:t>Critical Relay</a:t>
            </a:r>
            <a:endParaRPr sz="1700">
              <a:solidFill>
                <a:schemeClr val="dk1"/>
              </a:solidFill>
              <a:latin typeface="Calibri"/>
              <a:ea typeface="Calibri"/>
              <a:cs typeface="Calibri"/>
              <a:sym typeface="Calibri"/>
            </a:endParaRPr>
          </a:p>
        </p:txBody>
      </p:sp>
      <p:sp>
        <p:nvSpPr>
          <p:cNvPr id="623" name="Google Shape;623;p9"/>
          <p:cNvSpPr/>
          <p:nvPr/>
        </p:nvSpPr>
        <p:spPr>
          <a:xfrm>
            <a:off x="6766560" y="8796528"/>
            <a:ext cx="2103120" cy="329184"/>
          </a:xfrm>
          <a:prstGeom prst="rect">
            <a:avLst/>
          </a:prstGeom>
          <a:solidFill>
            <a:srgbClr val="3A0000"/>
          </a:solidFill>
          <a:ln w="952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9"/>
          <p:cNvSpPr/>
          <p:nvPr/>
        </p:nvSpPr>
        <p:spPr>
          <a:xfrm>
            <a:off x="6766560" y="8796528"/>
            <a:ext cx="2103120"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CC0000"/>
                </a:solidFill>
                <a:latin typeface="Poppins"/>
                <a:ea typeface="Poppins"/>
                <a:cs typeface="Poppins"/>
                <a:sym typeface="Poppins"/>
              </a:rPr>
              <a:t>Response +420ms</a:t>
            </a:r>
            <a:endParaRPr sz="1400">
              <a:solidFill>
                <a:schemeClr val="dk1"/>
              </a:solidFill>
              <a:latin typeface="Calibri"/>
              <a:ea typeface="Calibri"/>
              <a:cs typeface="Calibri"/>
              <a:sym typeface="Calibri"/>
            </a:endParaRPr>
          </a:p>
        </p:txBody>
      </p:sp>
      <p:sp>
        <p:nvSpPr>
          <p:cNvPr id="625" name="Google Shape;625;p9"/>
          <p:cNvSpPr/>
          <p:nvPr/>
        </p:nvSpPr>
        <p:spPr>
          <a:xfrm>
            <a:off x="9015984" y="8796528"/>
            <a:ext cx="2139696"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chemeClr val="dk1"/>
                </a:solidFill>
                <a:latin typeface="Poppins"/>
                <a:ea typeface="Poppins"/>
                <a:cs typeface="Poppins"/>
                <a:sym typeface="Poppins"/>
              </a:rPr>
              <a:t>Actuation latency breach</a:t>
            </a:r>
            <a:endParaRPr sz="1400">
              <a:solidFill>
                <a:schemeClr val="dk1"/>
              </a:solidFill>
              <a:latin typeface="Calibri"/>
              <a:ea typeface="Calibri"/>
              <a:cs typeface="Calibri"/>
              <a:sym typeface="Calibri"/>
            </a:endParaRPr>
          </a:p>
        </p:txBody>
      </p:sp>
      <p:sp>
        <p:nvSpPr>
          <p:cNvPr id="626" name="Google Shape;626;p9"/>
          <p:cNvSpPr/>
          <p:nvPr/>
        </p:nvSpPr>
        <p:spPr>
          <a:xfrm>
            <a:off x="11887200" y="1755648"/>
            <a:ext cx="5266944" cy="3899916"/>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9"/>
          <p:cNvSpPr/>
          <p:nvPr/>
        </p:nvSpPr>
        <p:spPr>
          <a:xfrm>
            <a:off x="11887200" y="1755649"/>
            <a:ext cx="5266944" cy="69494"/>
          </a:xfrm>
          <a:prstGeom prst="rect">
            <a:avLst/>
          </a:prstGeom>
          <a:solidFill>
            <a:srgbClr val="CC0000"/>
          </a:solidFill>
          <a:ln w="12700" cap="flat" cmpd="sng">
            <a:solidFill>
              <a:srgbClr val="8B6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9"/>
          <p:cNvSpPr/>
          <p:nvPr/>
        </p:nvSpPr>
        <p:spPr>
          <a:xfrm>
            <a:off x="12070080" y="1847088"/>
            <a:ext cx="4992624"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900" b="1">
                <a:solidFill>
                  <a:srgbClr val="1A1A1A"/>
                </a:solidFill>
                <a:latin typeface="Poppins"/>
                <a:ea typeface="Poppins"/>
                <a:cs typeface="Poppins"/>
                <a:sym typeface="Poppins"/>
              </a:rPr>
              <a:t>Engine Analysis</a:t>
            </a:r>
            <a:endParaRPr sz="1900">
              <a:solidFill>
                <a:schemeClr val="dk1"/>
              </a:solidFill>
              <a:latin typeface="Calibri"/>
              <a:ea typeface="Calibri"/>
              <a:cs typeface="Calibri"/>
              <a:sym typeface="Calibri"/>
            </a:endParaRPr>
          </a:p>
        </p:txBody>
      </p:sp>
      <p:sp>
        <p:nvSpPr>
          <p:cNvPr id="629" name="Google Shape;629;p9"/>
          <p:cNvSpPr/>
          <p:nvPr/>
        </p:nvSpPr>
        <p:spPr>
          <a:xfrm>
            <a:off x="12070080" y="2212848"/>
            <a:ext cx="499262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i="1">
                <a:solidFill>
                  <a:schemeClr val="dk1"/>
                </a:solidFill>
                <a:latin typeface="Poppins"/>
                <a:ea typeface="Poppins"/>
                <a:cs typeface="Poppins"/>
                <a:sym typeface="Poppins"/>
              </a:rPr>
              <a:t>Signal ingestion + correlation output for this scenario</a:t>
            </a:r>
            <a:endParaRPr sz="1400">
              <a:solidFill>
                <a:schemeClr val="dk1"/>
              </a:solidFill>
              <a:latin typeface="Calibri"/>
              <a:ea typeface="Calibri"/>
              <a:cs typeface="Calibri"/>
              <a:sym typeface="Calibri"/>
            </a:endParaRPr>
          </a:p>
        </p:txBody>
      </p:sp>
      <p:sp>
        <p:nvSpPr>
          <p:cNvPr id="630" name="Google Shape;630;p9"/>
          <p:cNvSpPr/>
          <p:nvPr/>
        </p:nvSpPr>
        <p:spPr>
          <a:xfrm>
            <a:off x="12070080" y="2633472"/>
            <a:ext cx="4901184" cy="618364"/>
          </a:xfrm>
          <a:prstGeom prst="rect">
            <a:avLst/>
          </a:prstGeom>
          <a:solidFill>
            <a:srgbClr val="FAFAFA"/>
          </a:solidFill>
          <a:ln w="9525" cap="flat" cmpd="sng">
            <a:solidFill>
              <a:srgbClr val="EBEB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9"/>
          <p:cNvSpPr/>
          <p:nvPr/>
        </p:nvSpPr>
        <p:spPr>
          <a:xfrm>
            <a:off x="12070080" y="2633472"/>
            <a:ext cx="950976" cy="6183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9"/>
          <p:cNvSpPr/>
          <p:nvPr/>
        </p:nvSpPr>
        <p:spPr>
          <a:xfrm>
            <a:off x="12070080" y="2633473"/>
            <a:ext cx="950976" cy="30918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rgbClr val="FFFFFF"/>
                </a:solidFill>
                <a:latin typeface="Poppins"/>
                <a:ea typeface="Poppins"/>
                <a:cs typeface="Poppins"/>
                <a:sym typeface="Poppins"/>
              </a:rPr>
              <a:t>r=0.88</a:t>
            </a:r>
            <a:endParaRPr sz="1600">
              <a:solidFill>
                <a:schemeClr val="dk1"/>
              </a:solidFill>
              <a:latin typeface="Calibri"/>
              <a:ea typeface="Calibri"/>
              <a:cs typeface="Calibri"/>
              <a:sym typeface="Calibri"/>
            </a:endParaRPr>
          </a:p>
        </p:txBody>
      </p:sp>
      <p:sp>
        <p:nvSpPr>
          <p:cNvPr id="633" name="Google Shape;633;p9"/>
          <p:cNvSpPr/>
          <p:nvPr/>
        </p:nvSpPr>
        <p:spPr>
          <a:xfrm>
            <a:off x="12070080" y="2942655"/>
            <a:ext cx="950976" cy="30918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rgbClr val="FFCCCC"/>
                </a:solidFill>
                <a:latin typeface="Poppins"/>
                <a:ea typeface="Poppins"/>
                <a:cs typeface="Poppins"/>
                <a:sym typeface="Poppins"/>
              </a:rPr>
              <a:t>lag 5s</a:t>
            </a:r>
            <a:endParaRPr sz="1400">
              <a:solidFill>
                <a:schemeClr val="dk1"/>
              </a:solidFill>
              <a:latin typeface="Calibri"/>
              <a:ea typeface="Calibri"/>
              <a:cs typeface="Calibri"/>
              <a:sym typeface="Calibri"/>
            </a:endParaRPr>
          </a:p>
        </p:txBody>
      </p:sp>
      <p:sp>
        <p:nvSpPr>
          <p:cNvPr id="634" name="Google Shape;634;p9"/>
          <p:cNvSpPr/>
          <p:nvPr/>
        </p:nvSpPr>
        <p:spPr>
          <a:xfrm>
            <a:off x="13130784" y="2670048"/>
            <a:ext cx="376732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b="1">
                <a:solidFill>
                  <a:srgbClr val="1A1A1A"/>
                </a:solidFill>
                <a:latin typeface="Poppins"/>
                <a:ea typeface="Poppins"/>
                <a:cs typeface="Poppins"/>
                <a:sym typeface="Poppins"/>
              </a:rPr>
              <a:t>CoolMon → DCIM</a:t>
            </a:r>
            <a:endParaRPr sz="1600">
              <a:solidFill>
                <a:schemeClr val="dk1"/>
              </a:solidFill>
              <a:latin typeface="Calibri"/>
              <a:ea typeface="Calibri"/>
              <a:cs typeface="Calibri"/>
              <a:sym typeface="Calibri"/>
            </a:endParaRPr>
          </a:p>
        </p:txBody>
      </p:sp>
      <p:sp>
        <p:nvSpPr>
          <p:cNvPr id="635" name="Google Shape;635;p9"/>
          <p:cNvSpPr/>
          <p:nvPr/>
        </p:nvSpPr>
        <p:spPr>
          <a:xfrm>
            <a:off x="13130784" y="2962656"/>
            <a:ext cx="3767328"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dk1"/>
                </a:solidFill>
                <a:latin typeface="Poppins"/>
                <a:ea typeface="Poppins"/>
                <a:cs typeface="Poppins"/>
                <a:sym typeface="Poppins"/>
              </a:rPr>
              <a:t>Dependency strength: HIGH</a:t>
            </a:r>
            <a:endParaRPr sz="1400">
              <a:solidFill>
                <a:schemeClr val="dk1"/>
              </a:solidFill>
              <a:latin typeface="Calibri"/>
              <a:ea typeface="Calibri"/>
              <a:cs typeface="Calibri"/>
              <a:sym typeface="Calibri"/>
            </a:endParaRPr>
          </a:p>
        </p:txBody>
      </p:sp>
      <p:sp>
        <p:nvSpPr>
          <p:cNvPr id="636" name="Google Shape;636;p9"/>
          <p:cNvSpPr/>
          <p:nvPr/>
        </p:nvSpPr>
        <p:spPr>
          <a:xfrm>
            <a:off x="12070080" y="3398140"/>
            <a:ext cx="4901184" cy="618364"/>
          </a:xfrm>
          <a:prstGeom prst="rect">
            <a:avLst/>
          </a:prstGeom>
          <a:solidFill>
            <a:srgbClr val="FAFAFA"/>
          </a:solidFill>
          <a:ln w="9525" cap="flat" cmpd="sng">
            <a:solidFill>
              <a:srgbClr val="EBEB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9"/>
          <p:cNvSpPr/>
          <p:nvPr/>
        </p:nvSpPr>
        <p:spPr>
          <a:xfrm>
            <a:off x="12070080" y="3398140"/>
            <a:ext cx="950976" cy="618364"/>
          </a:xfrm>
          <a:prstGeom prst="rect">
            <a:avLst/>
          </a:prstGeom>
          <a:solidFill>
            <a:srgbClr val="CC4400"/>
          </a:solidFill>
          <a:ln w="12700" cap="flat" cmpd="sng">
            <a:solidFill>
              <a:srgbClr val="CC4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9"/>
          <p:cNvSpPr/>
          <p:nvPr/>
        </p:nvSpPr>
        <p:spPr>
          <a:xfrm>
            <a:off x="12070080" y="3398141"/>
            <a:ext cx="950976" cy="30918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rgbClr val="FFFFFF"/>
                </a:solidFill>
                <a:latin typeface="Poppins"/>
                <a:ea typeface="Poppins"/>
                <a:cs typeface="Poppins"/>
                <a:sym typeface="Poppins"/>
              </a:rPr>
              <a:t>r=0.74</a:t>
            </a:r>
            <a:endParaRPr sz="1600">
              <a:solidFill>
                <a:schemeClr val="dk1"/>
              </a:solidFill>
              <a:latin typeface="Calibri"/>
              <a:ea typeface="Calibri"/>
              <a:cs typeface="Calibri"/>
              <a:sym typeface="Calibri"/>
            </a:endParaRPr>
          </a:p>
        </p:txBody>
      </p:sp>
      <p:sp>
        <p:nvSpPr>
          <p:cNvPr id="639" name="Google Shape;639;p9"/>
          <p:cNvSpPr/>
          <p:nvPr/>
        </p:nvSpPr>
        <p:spPr>
          <a:xfrm>
            <a:off x="12070080" y="3707321"/>
            <a:ext cx="950976" cy="30918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rgbClr val="FFCCCC"/>
                </a:solidFill>
                <a:latin typeface="Poppins"/>
                <a:ea typeface="Poppins"/>
                <a:cs typeface="Poppins"/>
                <a:sym typeface="Poppins"/>
              </a:rPr>
              <a:t>lag 15s</a:t>
            </a:r>
            <a:endParaRPr sz="1400">
              <a:solidFill>
                <a:schemeClr val="dk1"/>
              </a:solidFill>
              <a:latin typeface="Calibri"/>
              <a:ea typeface="Calibri"/>
              <a:cs typeface="Calibri"/>
              <a:sym typeface="Calibri"/>
            </a:endParaRPr>
          </a:p>
        </p:txBody>
      </p:sp>
      <p:sp>
        <p:nvSpPr>
          <p:cNvPr id="640" name="Google Shape;640;p9"/>
          <p:cNvSpPr/>
          <p:nvPr/>
        </p:nvSpPr>
        <p:spPr>
          <a:xfrm>
            <a:off x="13130784" y="3434716"/>
            <a:ext cx="376732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b="1">
                <a:solidFill>
                  <a:srgbClr val="1A1A1A"/>
                </a:solidFill>
                <a:latin typeface="Poppins"/>
                <a:ea typeface="Poppins"/>
                <a:cs typeface="Poppins"/>
                <a:sym typeface="Poppins"/>
              </a:rPr>
              <a:t>DCIM → AlertDisp</a:t>
            </a:r>
            <a:endParaRPr sz="1600">
              <a:solidFill>
                <a:schemeClr val="dk1"/>
              </a:solidFill>
              <a:latin typeface="Calibri"/>
              <a:ea typeface="Calibri"/>
              <a:cs typeface="Calibri"/>
              <a:sym typeface="Calibri"/>
            </a:endParaRPr>
          </a:p>
        </p:txBody>
      </p:sp>
      <p:sp>
        <p:nvSpPr>
          <p:cNvPr id="641" name="Google Shape;641;p9"/>
          <p:cNvSpPr/>
          <p:nvPr/>
        </p:nvSpPr>
        <p:spPr>
          <a:xfrm>
            <a:off x="13130784" y="3727324"/>
            <a:ext cx="3767328"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dk1"/>
                </a:solidFill>
                <a:latin typeface="Poppins"/>
                <a:ea typeface="Poppins"/>
                <a:cs typeface="Poppins"/>
                <a:sym typeface="Poppins"/>
              </a:rPr>
              <a:t>Dependency strength: HIGH</a:t>
            </a:r>
            <a:endParaRPr sz="1400">
              <a:solidFill>
                <a:schemeClr val="dk1"/>
              </a:solidFill>
              <a:latin typeface="Calibri"/>
              <a:ea typeface="Calibri"/>
              <a:cs typeface="Calibri"/>
              <a:sym typeface="Calibri"/>
            </a:endParaRPr>
          </a:p>
        </p:txBody>
      </p:sp>
      <p:sp>
        <p:nvSpPr>
          <p:cNvPr id="642" name="Google Shape;642;p9"/>
          <p:cNvSpPr/>
          <p:nvPr/>
        </p:nvSpPr>
        <p:spPr>
          <a:xfrm>
            <a:off x="12070080" y="4162806"/>
            <a:ext cx="4901184" cy="618364"/>
          </a:xfrm>
          <a:prstGeom prst="rect">
            <a:avLst/>
          </a:prstGeom>
          <a:solidFill>
            <a:srgbClr val="FAFAFA"/>
          </a:solidFill>
          <a:ln w="9525" cap="flat" cmpd="sng">
            <a:solidFill>
              <a:srgbClr val="EBEB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9"/>
          <p:cNvSpPr/>
          <p:nvPr/>
        </p:nvSpPr>
        <p:spPr>
          <a:xfrm>
            <a:off x="12070080" y="4162806"/>
            <a:ext cx="950976" cy="618364"/>
          </a:xfrm>
          <a:prstGeom prst="rect">
            <a:avLst/>
          </a:prstGeom>
          <a:solidFill>
            <a:srgbClr val="CC7700"/>
          </a:solidFill>
          <a:ln w="12700" cap="flat" cmpd="sng">
            <a:solidFill>
              <a:srgbClr val="CC77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9"/>
          <p:cNvSpPr/>
          <p:nvPr/>
        </p:nvSpPr>
        <p:spPr>
          <a:xfrm>
            <a:off x="12070080" y="4162807"/>
            <a:ext cx="950976" cy="30918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rgbClr val="FFFFFF"/>
                </a:solidFill>
                <a:latin typeface="Poppins"/>
                <a:ea typeface="Poppins"/>
                <a:cs typeface="Poppins"/>
                <a:sym typeface="Poppins"/>
              </a:rPr>
              <a:t>r=0.61</a:t>
            </a:r>
            <a:endParaRPr sz="1600">
              <a:solidFill>
                <a:schemeClr val="dk1"/>
              </a:solidFill>
              <a:latin typeface="Calibri"/>
              <a:ea typeface="Calibri"/>
              <a:cs typeface="Calibri"/>
              <a:sym typeface="Calibri"/>
            </a:endParaRPr>
          </a:p>
        </p:txBody>
      </p:sp>
      <p:sp>
        <p:nvSpPr>
          <p:cNvPr id="645" name="Google Shape;645;p9"/>
          <p:cNvSpPr/>
          <p:nvPr/>
        </p:nvSpPr>
        <p:spPr>
          <a:xfrm>
            <a:off x="12070080" y="4471989"/>
            <a:ext cx="950976" cy="30918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rgbClr val="FFCCCC"/>
                </a:solidFill>
                <a:latin typeface="Poppins"/>
                <a:ea typeface="Poppins"/>
                <a:cs typeface="Poppins"/>
                <a:sym typeface="Poppins"/>
              </a:rPr>
              <a:t>lag 30s</a:t>
            </a:r>
            <a:endParaRPr sz="1400">
              <a:solidFill>
                <a:schemeClr val="dk1"/>
              </a:solidFill>
              <a:latin typeface="Calibri"/>
              <a:ea typeface="Calibri"/>
              <a:cs typeface="Calibri"/>
              <a:sym typeface="Calibri"/>
            </a:endParaRPr>
          </a:p>
        </p:txBody>
      </p:sp>
      <p:sp>
        <p:nvSpPr>
          <p:cNvPr id="646" name="Google Shape;646;p9"/>
          <p:cNvSpPr/>
          <p:nvPr/>
        </p:nvSpPr>
        <p:spPr>
          <a:xfrm>
            <a:off x="13130784" y="4199382"/>
            <a:ext cx="376732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b="1">
                <a:solidFill>
                  <a:srgbClr val="1A1A1A"/>
                </a:solidFill>
                <a:latin typeface="Poppins"/>
                <a:ea typeface="Poppins"/>
                <a:cs typeface="Poppins"/>
                <a:sym typeface="Poppins"/>
              </a:rPr>
              <a:t>AlertDisp → CCR</a:t>
            </a:r>
            <a:endParaRPr sz="1600">
              <a:solidFill>
                <a:schemeClr val="dk1"/>
              </a:solidFill>
              <a:latin typeface="Calibri"/>
              <a:ea typeface="Calibri"/>
              <a:cs typeface="Calibri"/>
              <a:sym typeface="Calibri"/>
            </a:endParaRPr>
          </a:p>
        </p:txBody>
      </p:sp>
      <p:sp>
        <p:nvSpPr>
          <p:cNvPr id="647" name="Google Shape;647;p9"/>
          <p:cNvSpPr/>
          <p:nvPr/>
        </p:nvSpPr>
        <p:spPr>
          <a:xfrm>
            <a:off x="13130784" y="4491990"/>
            <a:ext cx="3767328"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dk1"/>
                </a:solidFill>
                <a:latin typeface="Poppins"/>
                <a:ea typeface="Poppins"/>
                <a:cs typeface="Poppins"/>
                <a:sym typeface="Poppins"/>
              </a:rPr>
              <a:t>Dependency strength: MED</a:t>
            </a:r>
            <a:endParaRPr sz="1400">
              <a:solidFill>
                <a:schemeClr val="dk1"/>
              </a:solidFill>
              <a:latin typeface="Calibri"/>
              <a:ea typeface="Calibri"/>
              <a:cs typeface="Calibri"/>
              <a:sym typeface="Calibri"/>
            </a:endParaRPr>
          </a:p>
        </p:txBody>
      </p:sp>
      <p:sp>
        <p:nvSpPr>
          <p:cNvPr id="648" name="Google Shape;648;p9"/>
          <p:cNvSpPr/>
          <p:nvPr/>
        </p:nvSpPr>
        <p:spPr>
          <a:xfrm>
            <a:off x="12070080" y="4927474"/>
            <a:ext cx="4901184" cy="618364"/>
          </a:xfrm>
          <a:prstGeom prst="rect">
            <a:avLst/>
          </a:prstGeom>
          <a:solidFill>
            <a:srgbClr val="FAFAFA"/>
          </a:solidFill>
          <a:ln w="9525" cap="flat" cmpd="sng">
            <a:solidFill>
              <a:srgbClr val="EBEB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9"/>
          <p:cNvSpPr/>
          <p:nvPr/>
        </p:nvSpPr>
        <p:spPr>
          <a:xfrm>
            <a:off x="12070080" y="4927474"/>
            <a:ext cx="950976" cy="618364"/>
          </a:xfrm>
          <a:prstGeom prst="rect">
            <a:avLst/>
          </a:prstGeom>
          <a:solidFill>
            <a:srgbClr val="7A5C00"/>
          </a:solidFill>
          <a:ln w="12700" cap="flat" cmpd="sng">
            <a:solidFill>
              <a:srgbClr val="7A5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9"/>
          <p:cNvSpPr/>
          <p:nvPr/>
        </p:nvSpPr>
        <p:spPr>
          <a:xfrm>
            <a:off x="12070080" y="4927475"/>
            <a:ext cx="950976" cy="30918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a:solidFill>
                  <a:srgbClr val="FFFFFF"/>
                </a:solidFill>
                <a:latin typeface="Poppins"/>
                <a:ea typeface="Poppins"/>
                <a:cs typeface="Poppins"/>
                <a:sym typeface="Poppins"/>
              </a:rPr>
              <a:t>r=0.52</a:t>
            </a:r>
            <a:endParaRPr sz="1600">
              <a:solidFill>
                <a:schemeClr val="dk1"/>
              </a:solidFill>
              <a:latin typeface="Calibri"/>
              <a:ea typeface="Calibri"/>
              <a:cs typeface="Calibri"/>
              <a:sym typeface="Calibri"/>
            </a:endParaRPr>
          </a:p>
        </p:txBody>
      </p:sp>
      <p:sp>
        <p:nvSpPr>
          <p:cNvPr id="651" name="Google Shape;651;p9"/>
          <p:cNvSpPr/>
          <p:nvPr/>
        </p:nvSpPr>
        <p:spPr>
          <a:xfrm>
            <a:off x="12070080" y="5236655"/>
            <a:ext cx="950976" cy="30918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a:solidFill>
                  <a:srgbClr val="FFCCCC"/>
                </a:solidFill>
                <a:latin typeface="Poppins"/>
                <a:ea typeface="Poppins"/>
                <a:cs typeface="Poppins"/>
                <a:sym typeface="Poppins"/>
              </a:rPr>
              <a:t>lag 45s</a:t>
            </a:r>
            <a:endParaRPr sz="1400">
              <a:solidFill>
                <a:schemeClr val="dk1"/>
              </a:solidFill>
              <a:latin typeface="Calibri"/>
              <a:ea typeface="Calibri"/>
              <a:cs typeface="Calibri"/>
              <a:sym typeface="Calibri"/>
            </a:endParaRPr>
          </a:p>
        </p:txBody>
      </p:sp>
      <p:sp>
        <p:nvSpPr>
          <p:cNvPr id="652" name="Google Shape;652;p9"/>
          <p:cNvSpPr/>
          <p:nvPr/>
        </p:nvSpPr>
        <p:spPr>
          <a:xfrm>
            <a:off x="13130784" y="4964050"/>
            <a:ext cx="376732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600" b="1">
                <a:solidFill>
                  <a:srgbClr val="1A1A1A"/>
                </a:solidFill>
                <a:latin typeface="Poppins"/>
                <a:ea typeface="Poppins"/>
                <a:cs typeface="Poppins"/>
                <a:sym typeface="Poppins"/>
              </a:rPr>
              <a:t>CoolMon → CCR</a:t>
            </a:r>
            <a:endParaRPr sz="1600">
              <a:solidFill>
                <a:schemeClr val="dk1"/>
              </a:solidFill>
              <a:latin typeface="Calibri"/>
              <a:ea typeface="Calibri"/>
              <a:cs typeface="Calibri"/>
              <a:sym typeface="Calibri"/>
            </a:endParaRPr>
          </a:p>
        </p:txBody>
      </p:sp>
      <p:sp>
        <p:nvSpPr>
          <p:cNvPr id="653" name="Google Shape;653;p9"/>
          <p:cNvSpPr/>
          <p:nvPr/>
        </p:nvSpPr>
        <p:spPr>
          <a:xfrm>
            <a:off x="13130784" y="5256658"/>
            <a:ext cx="3767328"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dk1"/>
                </a:solidFill>
                <a:latin typeface="Poppins"/>
                <a:ea typeface="Poppins"/>
                <a:cs typeface="Poppins"/>
                <a:sym typeface="Poppins"/>
              </a:rPr>
              <a:t>Dependency strength: MED</a:t>
            </a:r>
            <a:endParaRPr sz="1400">
              <a:solidFill>
                <a:schemeClr val="dk1"/>
              </a:solidFill>
              <a:latin typeface="Calibri"/>
              <a:ea typeface="Calibri"/>
              <a:cs typeface="Calibri"/>
              <a:sym typeface="Calibri"/>
            </a:endParaRPr>
          </a:p>
        </p:txBody>
      </p:sp>
      <p:sp>
        <p:nvSpPr>
          <p:cNvPr id="654" name="Google Shape;654;p9"/>
          <p:cNvSpPr/>
          <p:nvPr/>
        </p:nvSpPr>
        <p:spPr>
          <a:xfrm>
            <a:off x="11887200" y="5838444"/>
            <a:ext cx="5266944" cy="3899916"/>
          </a:xfrm>
          <a:prstGeom prst="rect">
            <a:avLst/>
          </a:prstGeom>
          <a:solidFill>
            <a:srgbClr val="FFFFFF"/>
          </a:solidFill>
          <a:ln w="9525" cap="flat" cmpd="sng">
            <a:solidFill>
              <a:srgbClr val="DE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9"/>
          <p:cNvSpPr/>
          <p:nvPr/>
        </p:nvSpPr>
        <p:spPr>
          <a:xfrm>
            <a:off x="11887200" y="5838445"/>
            <a:ext cx="5266944" cy="6949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9"/>
          <p:cNvSpPr/>
          <p:nvPr/>
        </p:nvSpPr>
        <p:spPr>
          <a:xfrm>
            <a:off x="12070080" y="5929884"/>
            <a:ext cx="4992624"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900" b="1">
                <a:solidFill>
                  <a:srgbClr val="1A1A1A"/>
                </a:solidFill>
                <a:latin typeface="Poppins"/>
                <a:ea typeface="Poppins"/>
                <a:cs typeface="Poppins"/>
                <a:sym typeface="Poppins"/>
              </a:rPr>
              <a:t>System Output</a:t>
            </a:r>
            <a:endParaRPr sz="1900">
              <a:solidFill>
                <a:schemeClr val="dk1"/>
              </a:solidFill>
              <a:latin typeface="Calibri"/>
              <a:ea typeface="Calibri"/>
              <a:cs typeface="Calibri"/>
              <a:sym typeface="Calibri"/>
            </a:endParaRPr>
          </a:p>
        </p:txBody>
      </p:sp>
      <p:sp>
        <p:nvSpPr>
          <p:cNvPr id="657" name="Google Shape;657;p9"/>
          <p:cNvSpPr/>
          <p:nvPr/>
        </p:nvSpPr>
        <p:spPr>
          <a:xfrm>
            <a:off x="12106656" y="6423660"/>
            <a:ext cx="2304288" cy="841248"/>
          </a:xfrm>
          <a:prstGeom prst="rect">
            <a:avLst/>
          </a:prstGeom>
          <a:solidFill>
            <a:srgbClr val="F8F8F8"/>
          </a:solidFill>
          <a:ln w="10150" cap="flat" cmpd="sng">
            <a:solidFill>
              <a:srgbClr val="8B6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9"/>
          <p:cNvSpPr/>
          <p:nvPr/>
        </p:nvSpPr>
        <p:spPr>
          <a:xfrm>
            <a:off x="12106656" y="6423660"/>
            <a:ext cx="2304288" cy="73152"/>
          </a:xfrm>
          <a:prstGeom prst="rect">
            <a:avLst/>
          </a:prstGeom>
          <a:solidFill>
            <a:srgbClr val="CC0000"/>
          </a:solidFill>
          <a:ln w="12700" cap="flat" cmpd="sng">
            <a:solidFill>
              <a:srgbClr val="8B6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9"/>
          <p:cNvSpPr/>
          <p:nvPr/>
        </p:nvSpPr>
        <p:spPr>
          <a:xfrm>
            <a:off x="12216384" y="6533388"/>
            <a:ext cx="402336"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rgbClr val="CC0000"/>
                </a:solidFill>
                <a:latin typeface="Poppins"/>
                <a:ea typeface="Poppins"/>
                <a:cs typeface="Poppins"/>
                <a:sym typeface="Poppins"/>
              </a:rPr>
              <a:t>✓</a:t>
            </a:r>
            <a:endParaRPr sz="2400">
              <a:solidFill>
                <a:srgbClr val="CC0000"/>
              </a:solidFill>
              <a:latin typeface="Calibri"/>
              <a:ea typeface="Calibri"/>
              <a:cs typeface="Calibri"/>
              <a:sym typeface="Calibri"/>
            </a:endParaRPr>
          </a:p>
        </p:txBody>
      </p:sp>
      <p:sp>
        <p:nvSpPr>
          <p:cNvPr id="660" name="Google Shape;660;p9"/>
          <p:cNvSpPr/>
          <p:nvPr/>
        </p:nvSpPr>
        <p:spPr>
          <a:xfrm>
            <a:off x="12618720" y="6533388"/>
            <a:ext cx="1682496"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Storage contention detected</a:t>
            </a:r>
            <a:endParaRPr sz="1500">
              <a:solidFill>
                <a:schemeClr val="dk1"/>
              </a:solidFill>
              <a:latin typeface="Calibri"/>
              <a:ea typeface="Calibri"/>
              <a:cs typeface="Calibri"/>
              <a:sym typeface="Calibri"/>
            </a:endParaRPr>
          </a:p>
        </p:txBody>
      </p:sp>
      <p:sp>
        <p:nvSpPr>
          <p:cNvPr id="661" name="Google Shape;661;p9"/>
          <p:cNvSpPr/>
          <p:nvPr/>
        </p:nvSpPr>
        <p:spPr>
          <a:xfrm>
            <a:off x="14520672" y="6423660"/>
            <a:ext cx="2304288" cy="841248"/>
          </a:xfrm>
          <a:prstGeom prst="rect">
            <a:avLst/>
          </a:prstGeom>
          <a:solidFill>
            <a:srgbClr val="F8F8F8"/>
          </a:solidFill>
          <a:ln w="1015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9"/>
          <p:cNvSpPr/>
          <p:nvPr/>
        </p:nvSpPr>
        <p:spPr>
          <a:xfrm>
            <a:off x="14520672" y="6423660"/>
            <a:ext cx="2304288" cy="73152"/>
          </a:xfrm>
          <a:prstGeom prst="rect">
            <a:avLst/>
          </a:prstGeom>
          <a:solidFill>
            <a:srgbClr val="CC0000"/>
          </a:solidFill>
          <a:ln w="12700" cap="flat" cmpd="sng">
            <a:solidFill>
              <a:srgbClr val="1565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9"/>
          <p:cNvSpPr/>
          <p:nvPr/>
        </p:nvSpPr>
        <p:spPr>
          <a:xfrm>
            <a:off x="14630400" y="6533388"/>
            <a:ext cx="402336"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rgbClr val="CC0000"/>
                </a:solidFill>
                <a:latin typeface="Poppins"/>
                <a:ea typeface="Poppins"/>
                <a:cs typeface="Poppins"/>
                <a:sym typeface="Poppins"/>
              </a:rPr>
              <a:t>✓</a:t>
            </a:r>
            <a:endParaRPr sz="2400">
              <a:solidFill>
                <a:srgbClr val="CC0000"/>
              </a:solidFill>
              <a:latin typeface="Calibri"/>
              <a:ea typeface="Calibri"/>
              <a:cs typeface="Calibri"/>
              <a:sym typeface="Calibri"/>
            </a:endParaRPr>
          </a:p>
        </p:txBody>
      </p:sp>
      <p:sp>
        <p:nvSpPr>
          <p:cNvPr id="664" name="Google Shape;664;p9"/>
          <p:cNvSpPr/>
          <p:nvPr/>
        </p:nvSpPr>
        <p:spPr>
          <a:xfrm>
            <a:off x="15032736" y="6533388"/>
            <a:ext cx="1682496"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Dependency chain inferred</a:t>
            </a:r>
            <a:endParaRPr sz="1500">
              <a:solidFill>
                <a:schemeClr val="dk1"/>
              </a:solidFill>
              <a:latin typeface="Calibri"/>
              <a:ea typeface="Calibri"/>
              <a:cs typeface="Calibri"/>
              <a:sym typeface="Calibri"/>
            </a:endParaRPr>
          </a:p>
        </p:txBody>
      </p:sp>
      <p:sp>
        <p:nvSpPr>
          <p:cNvPr id="665" name="Google Shape;665;p9"/>
          <p:cNvSpPr/>
          <p:nvPr/>
        </p:nvSpPr>
        <p:spPr>
          <a:xfrm>
            <a:off x="12106656" y="7411212"/>
            <a:ext cx="2304288" cy="841248"/>
          </a:xfrm>
          <a:prstGeom prst="rect">
            <a:avLst/>
          </a:prstGeom>
          <a:solidFill>
            <a:srgbClr val="F8F8F8"/>
          </a:solidFill>
          <a:ln w="1015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9"/>
          <p:cNvSpPr/>
          <p:nvPr/>
        </p:nvSpPr>
        <p:spPr>
          <a:xfrm>
            <a:off x="12106656" y="7411212"/>
            <a:ext cx="2304288" cy="73152"/>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9"/>
          <p:cNvSpPr/>
          <p:nvPr/>
        </p:nvSpPr>
        <p:spPr>
          <a:xfrm>
            <a:off x="12216384" y="7520940"/>
            <a:ext cx="402336"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rgbClr val="CC0000"/>
                </a:solidFill>
                <a:latin typeface="Poppins"/>
                <a:ea typeface="Poppins"/>
                <a:cs typeface="Poppins"/>
                <a:sym typeface="Poppins"/>
              </a:rPr>
              <a:t>✓</a:t>
            </a:r>
            <a:endParaRPr sz="2400">
              <a:solidFill>
                <a:schemeClr val="dk1"/>
              </a:solidFill>
              <a:latin typeface="Calibri"/>
              <a:ea typeface="Calibri"/>
              <a:cs typeface="Calibri"/>
              <a:sym typeface="Calibri"/>
            </a:endParaRPr>
          </a:p>
        </p:txBody>
      </p:sp>
      <p:sp>
        <p:nvSpPr>
          <p:cNvPr id="668" name="Google Shape;668;p9"/>
          <p:cNvSpPr/>
          <p:nvPr/>
        </p:nvSpPr>
        <p:spPr>
          <a:xfrm>
            <a:off x="12618720" y="7520940"/>
            <a:ext cx="1682496"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Root cause isolated upstream</a:t>
            </a:r>
            <a:endParaRPr sz="1500">
              <a:solidFill>
                <a:schemeClr val="dk1"/>
              </a:solidFill>
              <a:latin typeface="Calibri"/>
              <a:ea typeface="Calibri"/>
              <a:cs typeface="Calibri"/>
              <a:sym typeface="Calibri"/>
            </a:endParaRPr>
          </a:p>
        </p:txBody>
      </p:sp>
      <p:sp>
        <p:nvSpPr>
          <p:cNvPr id="669" name="Google Shape;669;p9"/>
          <p:cNvSpPr/>
          <p:nvPr/>
        </p:nvSpPr>
        <p:spPr>
          <a:xfrm>
            <a:off x="14520672" y="7411212"/>
            <a:ext cx="2304288" cy="841248"/>
          </a:xfrm>
          <a:prstGeom prst="rect">
            <a:avLst/>
          </a:prstGeom>
          <a:solidFill>
            <a:srgbClr val="F8F8F8"/>
          </a:solidFill>
          <a:ln w="1015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9"/>
          <p:cNvSpPr/>
          <p:nvPr/>
        </p:nvSpPr>
        <p:spPr>
          <a:xfrm>
            <a:off x="14520672" y="7411212"/>
            <a:ext cx="2304288" cy="73152"/>
          </a:xfrm>
          <a:prstGeom prst="rect">
            <a:avLst/>
          </a:prstGeom>
          <a:solidFill>
            <a:srgbClr val="CC0000"/>
          </a:solidFill>
          <a:ln w="12700" cap="flat" cmpd="sng">
            <a:solidFill>
              <a:srgbClr val="1A6B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9"/>
          <p:cNvSpPr/>
          <p:nvPr/>
        </p:nvSpPr>
        <p:spPr>
          <a:xfrm>
            <a:off x="14630400" y="7520940"/>
            <a:ext cx="402336"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400" b="1">
                <a:solidFill>
                  <a:srgbClr val="CC0000"/>
                </a:solidFill>
                <a:latin typeface="Poppins"/>
                <a:ea typeface="Poppins"/>
                <a:cs typeface="Poppins"/>
                <a:sym typeface="Poppins"/>
              </a:rPr>
              <a:t>✓</a:t>
            </a:r>
            <a:endParaRPr sz="2400">
              <a:solidFill>
                <a:srgbClr val="CC0000"/>
              </a:solidFill>
              <a:latin typeface="Calibri"/>
              <a:ea typeface="Calibri"/>
              <a:cs typeface="Calibri"/>
              <a:sym typeface="Calibri"/>
            </a:endParaRPr>
          </a:p>
        </p:txBody>
      </p:sp>
      <p:sp>
        <p:nvSpPr>
          <p:cNvPr id="672" name="Google Shape;672;p9"/>
          <p:cNvSpPr/>
          <p:nvPr/>
        </p:nvSpPr>
        <p:spPr>
          <a:xfrm>
            <a:off x="15032736" y="7520940"/>
            <a:ext cx="1682496"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500" b="1">
                <a:solidFill>
                  <a:srgbClr val="1A1A1A"/>
                </a:solidFill>
                <a:latin typeface="Poppins"/>
                <a:ea typeface="Poppins"/>
                <a:cs typeface="Poppins"/>
                <a:sym typeface="Poppins"/>
              </a:rPr>
              <a:t>Mitigation recommendation</a:t>
            </a:r>
            <a:endParaRPr sz="1500">
              <a:solidFill>
                <a:schemeClr val="dk1"/>
              </a:solidFill>
              <a:latin typeface="Calibri"/>
              <a:ea typeface="Calibri"/>
              <a:cs typeface="Calibri"/>
              <a:sym typeface="Calibri"/>
            </a:endParaRPr>
          </a:p>
        </p:txBody>
      </p:sp>
      <p:sp>
        <p:nvSpPr>
          <p:cNvPr id="673" name="Google Shape;673;p9"/>
          <p:cNvSpPr/>
          <p:nvPr/>
        </p:nvSpPr>
        <p:spPr>
          <a:xfrm>
            <a:off x="12070080" y="8508492"/>
            <a:ext cx="4901184" cy="1083564"/>
          </a:xfrm>
          <a:prstGeom prst="rect">
            <a:avLst/>
          </a:prstGeom>
          <a:solidFill>
            <a:srgbClr val="FFF0F0"/>
          </a:solidFill>
          <a:ln w="9525" cap="flat" cmpd="sng">
            <a:solidFill>
              <a:srgbClr val="D299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9"/>
          <p:cNvSpPr/>
          <p:nvPr/>
        </p:nvSpPr>
        <p:spPr>
          <a:xfrm>
            <a:off x="12070080" y="8508492"/>
            <a:ext cx="73152" cy="1083564"/>
          </a:xfrm>
          <a:prstGeom prst="rect">
            <a:avLst/>
          </a:prstGeom>
          <a:solidFill>
            <a:srgbClr val="CC0000"/>
          </a:solidFill>
          <a:ln w="12700" cap="flat" cmpd="sng">
            <a:solidFill>
              <a:srgbClr val="8B6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9"/>
          <p:cNvSpPr/>
          <p:nvPr/>
        </p:nvSpPr>
        <p:spPr>
          <a:xfrm>
            <a:off x="12252960" y="8545068"/>
            <a:ext cx="14630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00" b="1">
                <a:solidFill>
                  <a:srgbClr val="CC0000"/>
                </a:solidFill>
                <a:latin typeface="Poppins"/>
                <a:ea typeface="Poppins"/>
                <a:cs typeface="Poppins"/>
                <a:sym typeface="Poppins"/>
              </a:rPr>
              <a:t>NLP Agent</a:t>
            </a:r>
            <a:endParaRPr sz="1300">
              <a:solidFill>
                <a:srgbClr val="CC0000"/>
              </a:solidFill>
              <a:latin typeface="Calibri"/>
              <a:ea typeface="Calibri"/>
              <a:cs typeface="Calibri"/>
              <a:sym typeface="Calibri"/>
            </a:endParaRPr>
          </a:p>
        </p:txBody>
      </p:sp>
      <p:sp>
        <p:nvSpPr>
          <p:cNvPr id="676" name="Google Shape;676;p9"/>
          <p:cNvSpPr/>
          <p:nvPr/>
        </p:nvSpPr>
        <p:spPr>
          <a:xfrm>
            <a:off x="12253976" y="8866124"/>
            <a:ext cx="4681728" cy="7543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50" i="1">
                <a:solidFill>
                  <a:schemeClr val="dk1"/>
                </a:solidFill>
                <a:latin typeface="Poppins"/>
                <a:ea typeface="Poppins"/>
                <a:cs typeface="Poppins"/>
                <a:sym typeface="Poppins"/>
              </a:rPr>
              <a:t>"cooling-monitor I/O spike is the probable root cause. DCIM Bridge write degradation follows with 5s lag. Recommend PVC QoS throttling on cooling-monitor."</a:t>
            </a:r>
            <a:endParaRPr sz="1350">
              <a:solidFill>
                <a:schemeClr val="dk1"/>
              </a:solidFill>
              <a:latin typeface="Calibri"/>
              <a:ea typeface="Calibri"/>
              <a:cs typeface="Calibri"/>
              <a:sym typeface="Calibri"/>
            </a:endParaRPr>
          </a:p>
        </p:txBody>
      </p:sp>
      <p:sp>
        <p:nvSpPr>
          <p:cNvPr id="677" name="Google Shape;677;p9"/>
          <p:cNvSpPr/>
          <p:nvPr/>
        </p:nvSpPr>
        <p:spPr>
          <a:xfrm>
            <a:off x="6108193" y="1755648"/>
            <a:ext cx="21946" cy="7982712"/>
          </a:xfrm>
          <a:prstGeom prst="rect">
            <a:avLst/>
          </a:prstGeom>
          <a:solidFill>
            <a:srgbClr val="CCCCCC"/>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9"/>
          <p:cNvSpPr/>
          <p:nvPr/>
        </p:nvSpPr>
        <p:spPr>
          <a:xfrm>
            <a:off x="11704321" y="1755648"/>
            <a:ext cx="21946" cy="7982712"/>
          </a:xfrm>
          <a:prstGeom prst="rect">
            <a:avLst/>
          </a:prstGeom>
          <a:solidFill>
            <a:srgbClr val="CCCCCC"/>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9"/>
          <p:cNvSpPr/>
          <p:nvPr/>
        </p:nvSpPr>
        <p:spPr>
          <a:xfrm>
            <a:off x="0" y="9774936"/>
            <a:ext cx="18288000" cy="512064"/>
          </a:xfrm>
          <a:prstGeom prst="rect">
            <a:avLst/>
          </a:prstGeom>
          <a:solidFill>
            <a:srgbClr val="0D0D0D"/>
          </a:solidFill>
          <a:ln w="12700" cap="flat" cmpd="sng">
            <a:solidFill>
              <a:srgbClr val="0D0D0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0" name="Google Shape;680;p9"/>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1" name="Google Shape;681;p9"/>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sz="1400">
              <a:solidFill>
                <a:schemeClr val="dk1"/>
              </a:solidFill>
              <a:latin typeface="Calibri"/>
              <a:ea typeface="Calibri"/>
              <a:cs typeface="Calibri"/>
              <a:sym typeface="Calibri"/>
            </a:endParaRPr>
          </a:p>
        </p:txBody>
      </p:sp>
      <p:sp>
        <p:nvSpPr>
          <p:cNvPr id="682" name="Google Shape;682;p9"/>
          <p:cNvSpPr/>
          <p:nvPr/>
        </p:nvSpPr>
        <p:spPr>
          <a:xfrm>
            <a:off x="1645920" y="9774936"/>
            <a:ext cx="1280160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00">
                <a:solidFill>
                  <a:schemeClr val="lt1"/>
                </a:solidFill>
                <a:latin typeface="Poppins"/>
                <a:ea typeface="Poppins"/>
                <a:cs typeface="Poppins"/>
                <a:sym typeface="Poppins"/>
              </a:rPr>
              <a:t>SiliconKnights</a:t>
            </a:r>
            <a:endParaRPr sz="1400">
              <a:solidFill>
                <a:schemeClr val="lt1"/>
              </a:solidFill>
              <a:latin typeface="Calibri"/>
              <a:ea typeface="Calibri"/>
              <a:cs typeface="Calibri"/>
              <a:sym typeface="Calibri"/>
            </a:endParaRPr>
          </a:p>
        </p:txBody>
      </p:sp>
      <p:sp>
        <p:nvSpPr>
          <p:cNvPr id="683" name="Google Shape;683;p9"/>
          <p:cNvSpPr/>
          <p:nvPr/>
        </p:nvSpPr>
        <p:spPr>
          <a:xfrm>
            <a:off x="17373600" y="9774936"/>
            <a:ext cx="731400" cy="512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a:solidFill>
                  <a:schemeClr val="lt1"/>
                </a:solidFill>
                <a:latin typeface="Calibri"/>
                <a:ea typeface="Calibri"/>
                <a:cs typeface="Calibri"/>
                <a:sym typeface="Calibri"/>
              </a:rPr>
              <a:t>10</a:t>
            </a:r>
            <a:endParaRPr/>
          </a:p>
        </p:txBody>
      </p:sp>
      <p:grpSp>
        <p:nvGrpSpPr>
          <p:cNvPr id="684" name="Google Shape;684;p9"/>
          <p:cNvGrpSpPr/>
          <p:nvPr/>
        </p:nvGrpSpPr>
        <p:grpSpPr>
          <a:xfrm>
            <a:off x="694944" y="3621024"/>
            <a:ext cx="5266944" cy="3809390"/>
            <a:chOff x="694944" y="3621024"/>
            <a:chExt cx="5266944" cy="3809390"/>
          </a:xfrm>
        </p:grpSpPr>
        <p:pic>
          <p:nvPicPr>
            <p:cNvPr id="685" name="Google Shape;685;p9" descr="/home/claude/snapshot_s1.png"/>
            <p:cNvPicPr preferRelativeResize="0"/>
            <p:nvPr/>
          </p:nvPicPr>
          <p:blipFill rotWithShape="1">
            <a:blip r:embed="rId3">
              <a:alphaModFix/>
            </a:blip>
            <a:srcRect t="1" b="86612"/>
            <a:stretch/>
          </p:blipFill>
          <p:spPr>
            <a:xfrm>
              <a:off x="694944" y="3621024"/>
              <a:ext cx="5266944" cy="362332"/>
            </a:xfrm>
            <a:prstGeom prst="rect">
              <a:avLst/>
            </a:prstGeom>
            <a:noFill/>
            <a:ln>
              <a:noFill/>
            </a:ln>
          </p:spPr>
        </p:pic>
        <p:pic>
          <p:nvPicPr>
            <p:cNvPr id="686" name="Google Shape;686;p9" descr="/home/claude/snapshot_s1.png"/>
            <p:cNvPicPr preferRelativeResize="0"/>
            <p:nvPr/>
          </p:nvPicPr>
          <p:blipFill rotWithShape="1">
            <a:blip r:embed="rId3">
              <a:alphaModFix/>
            </a:blip>
            <a:srcRect t="10721"/>
            <a:stretch/>
          </p:blipFill>
          <p:spPr>
            <a:xfrm>
              <a:off x="694944" y="5013960"/>
              <a:ext cx="5266944" cy="2416454"/>
            </a:xfrm>
            <a:prstGeom prst="rect">
              <a:avLst/>
            </a:prstGeom>
            <a:noFill/>
            <a:ln>
              <a:noFill/>
            </a:ln>
          </p:spPr>
        </p:pic>
        <p:pic>
          <p:nvPicPr>
            <p:cNvPr id="687" name="Google Shape;687;p9"/>
            <p:cNvPicPr preferRelativeResize="0"/>
            <p:nvPr/>
          </p:nvPicPr>
          <p:blipFill rotWithShape="1">
            <a:blip r:embed="rId4">
              <a:alphaModFix/>
            </a:blip>
            <a:srcRect b="68151"/>
            <a:stretch/>
          </p:blipFill>
          <p:spPr>
            <a:xfrm>
              <a:off x="694944" y="3911139"/>
              <a:ext cx="5266944" cy="1136349"/>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691"/>
        <p:cNvGrpSpPr/>
        <p:nvPr/>
      </p:nvGrpSpPr>
      <p:grpSpPr>
        <a:xfrm>
          <a:off x="0" y="0"/>
          <a:ext cx="0" cy="0"/>
          <a:chOff x="0" y="0"/>
          <a:chExt cx="0" cy="0"/>
        </a:xfrm>
      </p:grpSpPr>
      <p:sp>
        <p:nvSpPr>
          <p:cNvPr id="692" name="Google Shape;692;p10"/>
          <p:cNvSpPr/>
          <p:nvPr/>
        </p:nvSpPr>
        <p:spPr>
          <a:xfrm>
            <a:off x="706545" y="365760"/>
            <a:ext cx="585216"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3" name="Google Shape;693;p10"/>
          <p:cNvSpPr/>
          <p:nvPr/>
        </p:nvSpPr>
        <p:spPr>
          <a:xfrm>
            <a:off x="706545" y="365760"/>
            <a:ext cx="585216"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11</a:t>
            </a:r>
            <a:endParaRPr/>
          </a:p>
        </p:txBody>
      </p:sp>
      <p:sp>
        <p:nvSpPr>
          <p:cNvPr id="694" name="Google Shape;694;p10"/>
          <p:cNvSpPr/>
          <p:nvPr/>
        </p:nvSpPr>
        <p:spPr>
          <a:xfrm>
            <a:off x="1390080" y="330480"/>
            <a:ext cx="1097016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3600" b="1">
                <a:solidFill>
                  <a:srgbClr val="1A1A1A"/>
                </a:solidFill>
                <a:latin typeface="Poppins"/>
                <a:ea typeface="Poppins"/>
                <a:cs typeface="Poppins"/>
                <a:sym typeface="Poppins"/>
              </a:rPr>
              <a:t>Risk Analysis</a:t>
            </a:r>
            <a:endParaRPr/>
          </a:p>
        </p:txBody>
      </p:sp>
      <p:sp>
        <p:nvSpPr>
          <p:cNvPr id="695" name="Google Shape;695;p10"/>
          <p:cNvSpPr/>
          <p:nvPr/>
        </p:nvSpPr>
        <p:spPr>
          <a:xfrm>
            <a:off x="706552" y="979771"/>
            <a:ext cx="16679100" cy="47400"/>
          </a:xfrm>
          <a:prstGeom prst="rect">
            <a:avLst/>
          </a:prstGeom>
          <a:solidFill>
            <a:srgbClr val="CC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6" name="Google Shape;696;p10"/>
          <p:cNvSpPr/>
          <p:nvPr/>
        </p:nvSpPr>
        <p:spPr>
          <a:xfrm>
            <a:off x="706552" y="1100000"/>
            <a:ext cx="16779600" cy="1920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7" name="Google Shape;697;p10"/>
          <p:cNvSpPr/>
          <p:nvPr/>
        </p:nvSpPr>
        <p:spPr>
          <a:xfrm>
            <a:off x="706545" y="1100000"/>
            <a:ext cx="91440" cy="1920000"/>
          </a:xfrm>
          <a:prstGeom prst="rect">
            <a:avLst/>
          </a:prstGeom>
          <a:solidFill>
            <a:srgbClr val="CC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8" name="Google Shape;698;p10"/>
          <p:cNvSpPr/>
          <p:nvPr/>
        </p:nvSpPr>
        <p:spPr>
          <a:xfrm>
            <a:off x="856545" y="1300000"/>
            <a:ext cx="600000" cy="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i="0">
                <a:solidFill>
                  <a:srgbClr val="CC0000"/>
                </a:solidFill>
                <a:latin typeface="Poppins"/>
                <a:ea typeface="Poppins"/>
                <a:cs typeface="Poppins"/>
                <a:sym typeface="Poppins"/>
              </a:rPr>
              <a:t>01</a:t>
            </a:r>
            <a:endParaRPr/>
          </a:p>
        </p:txBody>
      </p:sp>
      <p:sp>
        <p:nvSpPr>
          <p:cNvPr id="699" name="Google Shape;699;p10"/>
          <p:cNvSpPr/>
          <p:nvPr/>
        </p:nvSpPr>
        <p:spPr>
          <a:xfrm>
            <a:off x="1486545" y="1250000"/>
            <a:ext cx="5000000" cy="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i="0">
                <a:solidFill>
                  <a:srgbClr val="1A1A1A"/>
                </a:solidFill>
                <a:latin typeface="Poppins"/>
                <a:ea typeface="Poppins"/>
                <a:cs typeface="Poppins"/>
                <a:sym typeface="Poppins"/>
              </a:rPr>
              <a:t>Correlation False Positives</a:t>
            </a:r>
            <a:endParaRPr/>
          </a:p>
        </p:txBody>
      </p:sp>
      <p:sp>
        <p:nvSpPr>
          <p:cNvPr id="700" name="Google Shape;700;p10"/>
          <p:cNvSpPr/>
          <p:nvPr/>
        </p:nvSpPr>
        <p:spPr>
          <a:xfrm>
            <a:off x="1486552" y="1720000"/>
            <a:ext cx="15384900" cy="459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0" i="1">
                <a:solidFill>
                  <a:srgbClr val="6B7280"/>
                </a:solidFill>
                <a:latin typeface="Poppins"/>
                <a:ea typeface="Poppins"/>
                <a:cs typeface="Poppins"/>
                <a:sym typeface="Poppins"/>
              </a:rPr>
              <a:t>⚠ Risk: High Pearson r values between unrelated pods sharing periodic background activity.</a:t>
            </a:r>
            <a:endParaRPr/>
          </a:p>
        </p:txBody>
      </p:sp>
      <p:sp>
        <p:nvSpPr>
          <p:cNvPr id="701" name="Google Shape;701;p10"/>
          <p:cNvSpPr/>
          <p:nvPr/>
        </p:nvSpPr>
        <p:spPr>
          <a:xfrm>
            <a:off x="1486552" y="2180000"/>
            <a:ext cx="15583800" cy="72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0">
                <a:solidFill>
                  <a:srgbClr val="1A1A1A"/>
                </a:solidFill>
                <a:latin typeface="Poppins"/>
                <a:ea typeface="Poppins"/>
                <a:cs typeface="Poppins"/>
                <a:sym typeface="Poppins"/>
              </a:rPr>
              <a:t>✓ Mitigation: Require high r across multiple independent lag windows + eBPF network confirmation before inferring strong dependencies.</a:t>
            </a:r>
            <a:endParaRPr sz="1700"/>
          </a:p>
        </p:txBody>
      </p:sp>
      <p:sp>
        <p:nvSpPr>
          <p:cNvPr id="702" name="Google Shape;702;p10"/>
          <p:cNvSpPr/>
          <p:nvPr/>
        </p:nvSpPr>
        <p:spPr>
          <a:xfrm>
            <a:off x="706552" y="3220000"/>
            <a:ext cx="16779600" cy="1920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3" name="Google Shape;703;p10"/>
          <p:cNvSpPr/>
          <p:nvPr/>
        </p:nvSpPr>
        <p:spPr>
          <a:xfrm>
            <a:off x="706545" y="3220000"/>
            <a:ext cx="91440" cy="1920000"/>
          </a:xfrm>
          <a:prstGeom prst="rect">
            <a:avLst/>
          </a:prstGeom>
          <a:solidFill>
            <a:srgbClr val="D977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4" name="Google Shape;704;p10"/>
          <p:cNvSpPr/>
          <p:nvPr/>
        </p:nvSpPr>
        <p:spPr>
          <a:xfrm>
            <a:off x="856545" y="3420000"/>
            <a:ext cx="600000" cy="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i="0">
                <a:solidFill>
                  <a:srgbClr val="D97706"/>
                </a:solidFill>
                <a:latin typeface="Poppins"/>
                <a:ea typeface="Poppins"/>
                <a:cs typeface="Poppins"/>
                <a:sym typeface="Poppins"/>
              </a:rPr>
              <a:t>02</a:t>
            </a:r>
            <a:endParaRPr/>
          </a:p>
        </p:txBody>
      </p:sp>
      <p:sp>
        <p:nvSpPr>
          <p:cNvPr id="705" name="Google Shape;705;p10"/>
          <p:cNvSpPr/>
          <p:nvPr/>
        </p:nvSpPr>
        <p:spPr>
          <a:xfrm>
            <a:off x="1486545" y="3370000"/>
            <a:ext cx="5000000" cy="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i="0">
                <a:solidFill>
                  <a:srgbClr val="1A1A1A"/>
                </a:solidFill>
                <a:latin typeface="Poppins"/>
                <a:ea typeface="Poppins"/>
                <a:cs typeface="Poppins"/>
                <a:sym typeface="Poppins"/>
              </a:rPr>
              <a:t>LLM Hallucination on Edge Hardware</a:t>
            </a:r>
            <a:endParaRPr/>
          </a:p>
        </p:txBody>
      </p:sp>
      <p:sp>
        <p:nvSpPr>
          <p:cNvPr id="706" name="Google Shape;706;p10"/>
          <p:cNvSpPr/>
          <p:nvPr/>
        </p:nvSpPr>
        <p:spPr>
          <a:xfrm>
            <a:off x="1486552" y="3840000"/>
            <a:ext cx="15204000" cy="459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0" i="1">
                <a:solidFill>
                  <a:srgbClr val="6B7280"/>
                </a:solidFill>
                <a:latin typeface="Poppins"/>
                <a:ea typeface="Poppins"/>
                <a:cs typeface="Poppins"/>
                <a:sym typeface="Poppins"/>
              </a:rPr>
              <a:t>⚠ Risk: Quantized local models (Phi-3) can produce incorrect summaries given malformed input.</a:t>
            </a:r>
            <a:endParaRPr/>
          </a:p>
        </p:txBody>
      </p:sp>
      <p:sp>
        <p:nvSpPr>
          <p:cNvPr id="707" name="Google Shape;707;p10"/>
          <p:cNvSpPr/>
          <p:nvPr/>
        </p:nvSpPr>
        <p:spPr>
          <a:xfrm>
            <a:off x="1486552" y="4300000"/>
            <a:ext cx="15005100" cy="72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0">
                <a:solidFill>
                  <a:srgbClr val="1A1A1A"/>
                </a:solidFill>
                <a:latin typeface="Poppins"/>
                <a:ea typeface="Poppins"/>
                <a:cs typeface="Poppins"/>
                <a:sym typeface="Poppins"/>
              </a:rPr>
              <a:t>✓ Mitigation: L2 normalization ensures the model only receives clean structured JSON — never raw Prometheus text.</a:t>
            </a:r>
            <a:endParaRPr sz="1700"/>
          </a:p>
        </p:txBody>
      </p:sp>
      <p:sp>
        <p:nvSpPr>
          <p:cNvPr id="708" name="Google Shape;708;p10"/>
          <p:cNvSpPr/>
          <p:nvPr/>
        </p:nvSpPr>
        <p:spPr>
          <a:xfrm>
            <a:off x="807027" y="5415000"/>
            <a:ext cx="16679100" cy="1920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9" name="Google Shape;709;p10"/>
          <p:cNvSpPr/>
          <p:nvPr/>
        </p:nvSpPr>
        <p:spPr>
          <a:xfrm>
            <a:off x="706545" y="5340000"/>
            <a:ext cx="91440" cy="1920000"/>
          </a:xfrm>
          <a:prstGeom prst="rect">
            <a:avLst/>
          </a:prstGeom>
          <a:solidFill>
            <a:srgbClr val="1D4E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0" name="Google Shape;710;p10"/>
          <p:cNvSpPr/>
          <p:nvPr/>
        </p:nvSpPr>
        <p:spPr>
          <a:xfrm>
            <a:off x="856545" y="5540000"/>
            <a:ext cx="600000" cy="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i="0">
                <a:solidFill>
                  <a:srgbClr val="1D4ED8"/>
                </a:solidFill>
                <a:latin typeface="Poppins"/>
                <a:ea typeface="Poppins"/>
                <a:cs typeface="Poppins"/>
                <a:sym typeface="Poppins"/>
              </a:rPr>
              <a:t>03</a:t>
            </a:r>
            <a:endParaRPr/>
          </a:p>
        </p:txBody>
      </p:sp>
      <p:sp>
        <p:nvSpPr>
          <p:cNvPr id="711" name="Google Shape;711;p10"/>
          <p:cNvSpPr/>
          <p:nvPr/>
        </p:nvSpPr>
        <p:spPr>
          <a:xfrm>
            <a:off x="1486545" y="5490000"/>
            <a:ext cx="5000000" cy="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i="0">
                <a:solidFill>
                  <a:srgbClr val="1A1A1A"/>
                </a:solidFill>
                <a:latin typeface="Poppins"/>
                <a:ea typeface="Poppins"/>
                <a:cs typeface="Poppins"/>
                <a:sym typeface="Poppins"/>
              </a:rPr>
              <a:t>eBPF Kernel Compatibility</a:t>
            </a:r>
            <a:endParaRPr/>
          </a:p>
        </p:txBody>
      </p:sp>
      <p:sp>
        <p:nvSpPr>
          <p:cNvPr id="712" name="Google Shape;712;p10"/>
          <p:cNvSpPr/>
          <p:nvPr/>
        </p:nvSpPr>
        <p:spPr>
          <a:xfrm>
            <a:off x="1486545" y="5960000"/>
            <a:ext cx="10500000" cy="46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0" i="1">
                <a:solidFill>
                  <a:srgbClr val="6B7280"/>
                </a:solidFill>
                <a:latin typeface="Poppins"/>
                <a:ea typeface="Poppins"/>
                <a:cs typeface="Poppins"/>
                <a:sym typeface="Poppins"/>
              </a:rPr>
              <a:t>⚠ Risk: eBPF requires specific kernel versions; may be unavailable on some edge K3s distributions.</a:t>
            </a:r>
            <a:endParaRPr/>
          </a:p>
        </p:txBody>
      </p:sp>
      <p:sp>
        <p:nvSpPr>
          <p:cNvPr id="713" name="Google Shape;713;p10"/>
          <p:cNvSpPr/>
          <p:nvPr/>
        </p:nvSpPr>
        <p:spPr>
          <a:xfrm>
            <a:off x="1486552" y="6420000"/>
            <a:ext cx="15384900" cy="72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0">
                <a:solidFill>
                  <a:srgbClr val="1A1A1A"/>
                </a:solidFill>
                <a:latin typeface="Poppins"/>
                <a:ea typeface="Poppins"/>
                <a:cs typeface="Poppins"/>
                <a:sym typeface="Poppins"/>
              </a:rPr>
              <a:t>✓ Mitigation: Graceful degradation to network-policy-based topology inference with reduced edge confidence scores.</a:t>
            </a:r>
            <a:endParaRPr sz="1700"/>
          </a:p>
        </p:txBody>
      </p:sp>
      <p:sp>
        <p:nvSpPr>
          <p:cNvPr id="714" name="Google Shape;714;p10"/>
          <p:cNvSpPr/>
          <p:nvPr/>
        </p:nvSpPr>
        <p:spPr>
          <a:xfrm>
            <a:off x="706552" y="7460000"/>
            <a:ext cx="16779600" cy="1920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5" name="Google Shape;715;p10"/>
          <p:cNvSpPr/>
          <p:nvPr/>
        </p:nvSpPr>
        <p:spPr>
          <a:xfrm>
            <a:off x="706545" y="7460000"/>
            <a:ext cx="91440" cy="1920000"/>
          </a:xfrm>
          <a:prstGeom prst="rect">
            <a:avLst/>
          </a:prstGeom>
          <a:solidFill>
            <a:srgbClr val="04785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6" name="Google Shape;716;p10"/>
          <p:cNvSpPr/>
          <p:nvPr/>
        </p:nvSpPr>
        <p:spPr>
          <a:xfrm>
            <a:off x="856545" y="7660000"/>
            <a:ext cx="600000" cy="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i="0">
                <a:solidFill>
                  <a:srgbClr val="047857"/>
                </a:solidFill>
                <a:latin typeface="Poppins"/>
                <a:ea typeface="Poppins"/>
                <a:cs typeface="Poppins"/>
                <a:sym typeface="Poppins"/>
              </a:rPr>
              <a:t>04</a:t>
            </a:r>
            <a:endParaRPr/>
          </a:p>
        </p:txBody>
      </p:sp>
      <p:sp>
        <p:nvSpPr>
          <p:cNvPr id="717" name="Google Shape;717;p10"/>
          <p:cNvSpPr/>
          <p:nvPr/>
        </p:nvSpPr>
        <p:spPr>
          <a:xfrm>
            <a:off x="1486545" y="7610000"/>
            <a:ext cx="5000000" cy="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i="0">
                <a:solidFill>
                  <a:srgbClr val="1A1A1A"/>
                </a:solidFill>
                <a:latin typeface="Poppins"/>
                <a:ea typeface="Poppins"/>
                <a:cs typeface="Poppins"/>
                <a:sym typeface="Poppins"/>
              </a:rPr>
              <a:t>Single-Node Resource Contention</a:t>
            </a:r>
            <a:endParaRPr/>
          </a:p>
        </p:txBody>
      </p:sp>
      <p:sp>
        <p:nvSpPr>
          <p:cNvPr id="718" name="Google Shape;718;p10"/>
          <p:cNvSpPr/>
          <p:nvPr/>
        </p:nvSpPr>
        <p:spPr>
          <a:xfrm>
            <a:off x="1486545" y="8080000"/>
            <a:ext cx="10500000" cy="46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0" i="1">
                <a:solidFill>
                  <a:srgbClr val="6B7280"/>
                </a:solidFill>
                <a:latin typeface="Poppins"/>
                <a:ea typeface="Poppins"/>
                <a:cs typeface="Poppins"/>
                <a:sym typeface="Poppins"/>
              </a:rPr>
              <a:t>⚠ Risk: Running Prometheus, Loki, eBPF, Go aggregator, and LLM on the same node as workloads.</a:t>
            </a:r>
            <a:endParaRPr/>
          </a:p>
        </p:txBody>
      </p:sp>
      <p:sp>
        <p:nvSpPr>
          <p:cNvPr id="719" name="Google Shape;719;p10"/>
          <p:cNvSpPr/>
          <p:nvPr/>
        </p:nvSpPr>
        <p:spPr>
          <a:xfrm>
            <a:off x="1486552" y="8540000"/>
            <a:ext cx="15384900" cy="72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900" b="0" i="0">
                <a:solidFill>
                  <a:srgbClr val="1A1A1A"/>
                </a:solidFill>
                <a:latin typeface="Poppins"/>
                <a:ea typeface="Poppins"/>
                <a:cs typeface="Poppins"/>
                <a:sym typeface="Poppins"/>
              </a:rPr>
              <a:t>✓ Mitigation: All observability components in dedicated low-priority namespace with strict CPU/MEM limits; 15s scrape + 5s polling tuned for minimum overhead.</a:t>
            </a:r>
            <a:endParaRPr sz="1600"/>
          </a:p>
        </p:txBody>
      </p:sp>
      <p:sp>
        <p:nvSpPr>
          <p:cNvPr id="720" name="Google Shape;720;p10"/>
          <p:cNvSpPr/>
          <p:nvPr/>
        </p:nvSpPr>
        <p:spPr>
          <a:xfrm>
            <a:off x="0" y="9774936"/>
            <a:ext cx="18288000" cy="512064"/>
          </a:xfrm>
          <a:prstGeom prst="rect">
            <a:avLst/>
          </a:prstGeom>
          <a:solidFill>
            <a:srgbClr val="1A1A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1" name="Google Shape;721;p10"/>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2" name="Google Shape;722;p10"/>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a:p>
        </p:txBody>
      </p:sp>
      <p:sp>
        <p:nvSpPr>
          <p:cNvPr id="723" name="Google Shape;723;p10"/>
          <p:cNvSpPr/>
          <p:nvPr/>
        </p:nvSpPr>
        <p:spPr>
          <a:xfrm>
            <a:off x="1463040" y="9774936"/>
            <a:ext cx="9216000" cy="512064"/>
          </a:xfrm>
          <a:prstGeom prst="rect">
            <a:avLst/>
          </a:prstGeom>
          <a:noFill/>
          <a:ln>
            <a:noFill/>
          </a:ln>
        </p:spPr>
        <p:txBody>
          <a:bodyPr spcFirstLastPara="1" wrap="square" lIns="91425" tIns="0" rIns="91425" bIns="0" anchor="ctr" anchorCtr="0">
            <a:noAutofit/>
          </a:bodyPr>
          <a:lstStyle/>
          <a:p>
            <a:pPr marL="0" marR="0" lvl="0" indent="0" algn="l" rtl="0">
              <a:spcBef>
                <a:spcPts val="0"/>
              </a:spcBef>
              <a:spcAft>
                <a:spcPts val="0"/>
              </a:spcAft>
              <a:buNone/>
            </a:pPr>
            <a:r>
              <a:rPr lang="en-US" sz="1400">
                <a:solidFill>
                  <a:srgbClr val="FFFFFF"/>
                </a:solidFill>
                <a:latin typeface="Poppins"/>
                <a:ea typeface="Poppins"/>
                <a:cs typeface="Poppins"/>
                <a:sym typeface="Poppins"/>
              </a:rPr>
              <a:t>SiliconKnights</a:t>
            </a:r>
            <a:endParaRPr/>
          </a:p>
        </p:txBody>
      </p:sp>
      <p:sp>
        <p:nvSpPr>
          <p:cNvPr id="724" name="Google Shape;724;p10"/>
          <p:cNvSpPr/>
          <p:nvPr/>
        </p:nvSpPr>
        <p:spPr>
          <a:xfrm>
            <a:off x="10679040" y="9774936"/>
            <a:ext cx="753276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a:solidFill>
                  <a:srgbClr val="FFFFFF"/>
                </a:solidFill>
                <a:latin typeface="Poppins"/>
                <a:ea typeface="Poppins"/>
                <a:cs typeface="Poppins"/>
                <a:sym typeface="Poppins"/>
              </a:rPr>
              <a:t>                                                                                                                                                       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728"/>
        <p:cNvGrpSpPr/>
        <p:nvPr/>
      </p:nvGrpSpPr>
      <p:grpSpPr>
        <a:xfrm>
          <a:off x="0" y="0"/>
          <a:ext cx="0" cy="0"/>
          <a:chOff x="0" y="0"/>
          <a:chExt cx="0" cy="0"/>
        </a:xfrm>
      </p:grpSpPr>
      <p:sp>
        <p:nvSpPr>
          <p:cNvPr id="729" name="Google Shape;729;p11"/>
          <p:cNvSpPr/>
          <p:nvPr/>
        </p:nvSpPr>
        <p:spPr>
          <a:xfrm>
            <a:off x="706545" y="365760"/>
            <a:ext cx="585216"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0" name="Google Shape;730;p11"/>
          <p:cNvSpPr/>
          <p:nvPr/>
        </p:nvSpPr>
        <p:spPr>
          <a:xfrm>
            <a:off x="706545" y="365760"/>
            <a:ext cx="585216"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12</a:t>
            </a:r>
            <a:endParaRPr/>
          </a:p>
        </p:txBody>
      </p:sp>
      <p:sp>
        <p:nvSpPr>
          <p:cNvPr id="731" name="Google Shape;731;p11"/>
          <p:cNvSpPr/>
          <p:nvPr/>
        </p:nvSpPr>
        <p:spPr>
          <a:xfrm>
            <a:off x="1390080" y="330480"/>
            <a:ext cx="1097016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3600" b="1">
                <a:solidFill>
                  <a:srgbClr val="1A1A1A"/>
                </a:solidFill>
                <a:latin typeface="Poppins"/>
                <a:ea typeface="Poppins"/>
                <a:cs typeface="Poppins"/>
                <a:sym typeface="Poppins"/>
              </a:rPr>
              <a:t>Implementation Plan</a:t>
            </a:r>
            <a:endParaRPr/>
          </a:p>
        </p:txBody>
      </p:sp>
      <p:sp>
        <p:nvSpPr>
          <p:cNvPr id="732" name="Google Shape;732;p11"/>
          <p:cNvSpPr/>
          <p:nvPr/>
        </p:nvSpPr>
        <p:spPr>
          <a:xfrm>
            <a:off x="706552" y="964871"/>
            <a:ext cx="16725300" cy="47400"/>
          </a:xfrm>
          <a:prstGeom prst="rect">
            <a:avLst/>
          </a:prstGeom>
          <a:solidFill>
            <a:srgbClr val="CC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3" name="Google Shape;733;p11"/>
          <p:cNvSpPr/>
          <p:nvPr/>
        </p:nvSpPr>
        <p:spPr>
          <a:xfrm>
            <a:off x="706550" y="1100000"/>
            <a:ext cx="3927600" cy="83805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4" name="Google Shape;734;p11"/>
          <p:cNvSpPr/>
          <p:nvPr/>
        </p:nvSpPr>
        <p:spPr>
          <a:xfrm>
            <a:off x="706550" y="1100000"/>
            <a:ext cx="3927600" cy="720000"/>
          </a:xfrm>
          <a:prstGeom prst="rect">
            <a:avLst/>
          </a:prstGeom>
          <a:solidFill>
            <a:srgbClr val="1D4E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5" name="Google Shape;735;p11"/>
          <p:cNvSpPr/>
          <p:nvPr/>
        </p:nvSpPr>
        <p:spPr>
          <a:xfrm>
            <a:off x="806552" y="1180000"/>
            <a:ext cx="3602100" cy="38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00" b="1" i="0">
                <a:solidFill>
                  <a:srgbClr val="FFFFFF"/>
                </a:solidFill>
                <a:latin typeface="Poppins"/>
                <a:ea typeface="Poppins"/>
                <a:cs typeface="Poppins"/>
                <a:sym typeface="Poppins"/>
              </a:rPr>
              <a:t>PHASE 01</a:t>
            </a:r>
            <a:endParaRPr/>
          </a:p>
        </p:txBody>
      </p:sp>
      <p:sp>
        <p:nvSpPr>
          <p:cNvPr id="736" name="Google Shape;736;p11"/>
          <p:cNvSpPr/>
          <p:nvPr/>
        </p:nvSpPr>
        <p:spPr>
          <a:xfrm>
            <a:off x="806545" y="1900000"/>
            <a:ext cx="2500000" cy="6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i="0">
                <a:solidFill>
                  <a:srgbClr val="1D4ED8"/>
                </a:solidFill>
                <a:latin typeface="Poppins"/>
                <a:ea typeface="Poppins"/>
                <a:cs typeface="Poppins"/>
                <a:sym typeface="Poppins"/>
              </a:rPr>
              <a:t>Foundation</a:t>
            </a:r>
            <a:endParaRPr/>
          </a:p>
        </p:txBody>
      </p:sp>
      <p:sp>
        <p:nvSpPr>
          <p:cNvPr id="737" name="Google Shape;737;p11"/>
          <p:cNvSpPr/>
          <p:nvPr/>
        </p:nvSpPr>
        <p:spPr>
          <a:xfrm>
            <a:off x="806550" y="2600000"/>
            <a:ext cx="3739200" cy="6466200"/>
          </a:xfrm>
          <a:prstGeom prst="rect">
            <a:avLst/>
          </a:prstGeom>
          <a:noFill/>
          <a:ln>
            <a:noFill/>
          </a:ln>
        </p:spPr>
        <p:txBody>
          <a:bodyPr spcFirstLastPara="1" wrap="square" lIns="91425" tIns="45700" rIns="91425" bIns="45700" anchor="t" anchorCtr="0">
            <a:noAutofit/>
          </a:bodyPr>
          <a:lstStyle/>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Deploy K3s cluster locally</a:t>
            </a:r>
            <a:endParaRPr sz="1900"/>
          </a:p>
          <a:p>
            <a:pPr marL="0" marR="0" lvl="0" indent="0" algn="l" rtl="0">
              <a:spcBef>
                <a:spcPts val="200"/>
              </a:spcBef>
              <a:spcAft>
                <a:spcPts val="0"/>
              </a:spcAft>
              <a:buNone/>
            </a:pPr>
            <a:endParaRPr sz="13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Stand up L0 simulation pods (MQTT, CPUAD, TSDB, CCR)</a:t>
            </a:r>
            <a:endParaRPr sz="1900"/>
          </a:p>
          <a:p>
            <a:pPr marL="0" marR="0" lvl="0" indent="0" algn="l" rtl="0">
              <a:spcBef>
                <a:spcPts val="200"/>
              </a:spcBef>
              <a:spcAft>
                <a:spcPts val="0"/>
              </a:spcAft>
              <a:buNone/>
            </a:pPr>
            <a:endParaRPr sz="13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Configure Prometheus, Loki, Promtail, eBPF via Helm charts</a:t>
            </a:r>
            <a:endParaRPr sz="1900"/>
          </a:p>
          <a:p>
            <a:pPr marL="0" marR="0" lvl="0" indent="0" algn="l" rtl="0">
              <a:spcBef>
                <a:spcPts val="200"/>
              </a:spcBef>
              <a:spcAft>
                <a:spcPts val="0"/>
              </a:spcAft>
              <a:buNone/>
            </a:pPr>
            <a:endParaRPr sz="13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Validate raw telemetry on all 5 signal dimensions</a:t>
            </a:r>
            <a:endParaRPr sz="1900"/>
          </a:p>
          <a:p>
            <a:pPr marL="0" marR="0" lvl="0" indent="0" algn="l" rtl="0">
              <a:spcBef>
                <a:spcPts val="200"/>
              </a:spcBef>
              <a:spcAft>
                <a:spcPts val="0"/>
              </a:spcAft>
              <a:buNone/>
            </a:pPr>
            <a:endParaRPr sz="1300">
              <a:solidFill>
                <a:schemeClr val="dk1"/>
              </a:solidFill>
              <a:latin typeface="Calibri"/>
              <a:ea typeface="Calibri"/>
              <a:cs typeface="Calibri"/>
              <a:sym typeface="Calibri"/>
            </a:endParaRPr>
          </a:p>
        </p:txBody>
      </p:sp>
      <p:sp>
        <p:nvSpPr>
          <p:cNvPr id="738" name="Google Shape;738;p11"/>
          <p:cNvSpPr/>
          <p:nvPr/>
        </p:nvSpPr>
        <p:spPr>
          <a:xfrm>
            <a:off x="4685100" y="1100000"/>
            <a:ext cx="3814500" cy="8400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9" name="Google Shape;739;p11"/>
          <p:cNvSpPr/>
          <p:nvPr/>
        </p:nvSpPr>
        <p:spPr>
          <a:xfrm>
            <a:off x="4685100" y="1096150"/>
            <a:ext cx="3814500" cy="720000"/>
          </a:xfrm>
          <a:prstGeom prst="rect">
            <a:avLst/>
          </a:prstGeom>
          <a:solidFill>
            <a:srgbClr val="D977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0" name="Google Shape;740;p11"/>
          <p:cNvSpPr/>
          <p:nvPr/>
        </p:nvSpPr>
        <p:spPr>
          <a:xfrm>
            <a:off x="4901686" y="1180000"/>
            <a:ext cx="2499900" cy="38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00" b="1" i="0">
                <a:solidFill>
                  <a:srgbClr val="FFFFFF"/>
                </a:solidFill>
                <a:latin typeface="Poppins"/>
                <a:ea typeface="Poppins"/>
                <a:cs typeface="Poppins"/>
                <a:sym typeface="Poppins"/>
              </a:rPr>
              <a:t>PHASE 02</a:t>
            </a:r>
            <a:endParaRPr/>
          </a:p>
        </p:txBody>
      </p:sp>
      <p:sp>
        <p:nvSpPr>
          <p:cNvPr id="741" name="Google Shape;741;p11"/>
          <p:cNvSpPr/>
          <p:nvPr/>
        </p:nvSpPr>
        <p:spPr>
          <a:xfrm>
            <a:off x="4847000" y="1900000"/>
            <a:ext cx="3453600" cy="6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i="0">
                <a:solidFill>
                  <a:srgbClr val="D97706"/>
                </a:solidFill>
                <a:latin typeface="Poppins"/>
                <a:ea typeface="Poppins"/>
                <a:cs typeface="Poppins"/>
                <a:sym typeface="Poppins"/>
              </a:rPr>
              <a:t>Intelligence</a:t>
            </a:r>
            <a:endParaRPr/>
          </a:p>
        </p:txBody>
      </p:sp>
      <p:sp>
        <p:nvSpPr>
          <p:cNvPr id="742" name="Google Shape;742;p11"/>
          <p:cNvSpPr/>
          <p:nvPr/>
        </p:nvSpPr>
        <p:spPr>
          <a:xfrm>
            <a:off x="4823200" y="2600000"/>
            <a:ext cx="3602100" cy="6699900"/>
          </a:xfrm>
          <a:prstGeom prst="rect">
            <a:avLst/>
          </a:prstGeom>
          <a:noFill/>
          <a:ln>
            <a:noFill/>
          </a:ln>
        </p:spPr>
        <p:txBody>
          <a:bodyPr spcFirstLastPara="1" wrap="square" lIns="91425" tIns="45700" rIns="91425" bIns="45700" anchor="t" anchorCtr="0">
            <a:noAutofit/>
          </a:bodyPr>
          <a:lstStyle/>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Build L2 Go aggregation container</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Implement lag correlation engine (Python, NumPy/SciPy)</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Validate dependency inference on known synthetic failure scenarios</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Confirm root cause ranking before any AI integration</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p:txBody>
      </p:sp>
      <p:sp>
        <p:nvSpPr>
          <p:cNvPr id="743" name="Google Shape;743;p11"/>
          <p:cNvSpPr/>
          <p:nvPr/>
        </p:nvSpPr>
        <p:spPr>
          <a:xfrm>
            <a:off x="8642450" y="1193600"/>
            <a:ext cx="4266900" cy="8400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4" name="Google Shape;744;p11"/>
          <p:cNvSpPr/>
          <p:nvPr/>
        </p:nvSpPr>
        <p:spPr>
          <a:xfrm>
            <a:off x="8642425" y="1140850"/>
            <a:ext cx="4266900" cy="720000"/>
          </a:xfrm>
          <a:prstGeom prst="rect">
            <a:avLst/>
          </a:prstGeom>
          <a:solidFill>
            <a:srgbClr val="CC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5" name="Google Shape;745;p11"/>
          <p:cNvSpPr/>
          <p:nvPr/>
        </p:nvSpPr>
        <p:spPr>
          <a:xfrm>
            <a:off x="8642425" y="1313350"/>
            <a:ext cx="3081000" cy="38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00" b="1" i="0">
                <a:solidFill>
                  <a:srgbClr val="FFFFFF"/>
                </a:solidFill>
                <a:latin typeface="Poppins"/>
                <a:ea typeface="Poppins"/>
                <a:cs typeface="Poppins"/>
                <a:sym typeface="Poppins"/>
              </a:rPr>
              <a:t>PHASE 03</a:t>
            </a:r>
            <a:endParaRPr/>
          </a:p>
        </p:txBody>
      </p:sp>
      <p:sp>
        <p:nvSpPr>
          <p:cNvPr id="746" name="Google Shape;746;p11"/>
          <p:cNvSpPr/>
          <p:nvPr/>
        </p:nvSpPr>
        <p:spPr>
          <a:xfrm>
            <a:off x="8750899" y="1977330"/>
            <a:ext cx="3814500" cy="6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i="0">
                <a:solidFill>
                  <a:srgbClr val="CC0000"/>
                </a:solidFill>
                <a:latin typeface="Poppins"/>
                <a:ea typeface="Poppins"/>
                <a:cs typeface="Poppins"/>
                <a:sym typeface="Poppins"/>
              </a:rPr>
              <a:t>AI Integration</a:t>
            </a:r>
            <a:endParaRPr/>
          </a:p>
        </p:txBody>
      </p:sp>
      <p:sp>
        <p:nvSpPr>
          <p:cNvPr id="747" name="Google Shape;747;p11"/>
          <p:cNvSpPr/>
          <p:nvPr/>
        </p:nvSpPr>
        <p:spPr>
          <a:xfrm>
            <a:off x="8717725" y="2528875"/>
            <a:ext cx="4067700" cy="6699900"/>
          </a:xfrm>
          <a:prstGeom prst="rect">
            <a:avLst/>
          </a:prstGeom>
          <a:noFill/>
          <a:ln>
            <a:noFill/>
          </a:ln>
        </p:spPr>
        <p:txBody>
          <a:bodyPr spcFirstLastPara="1" wrap="square" lIns="91425" tIns="45700" rIns="91425" bIns="45700" anchor="t" anchorCtr="0">
            <a:noAutofit/>
          </a:bodyPr>
          <a:lstStyle/>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Integrate LangChain multi-agent pipeline with local Ollama</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Deploy Llama 3 8B or Phi-3 (air-gap preserved)</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Tune agent prompts for reliability on structured JSON input</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Test NLP output quality across multiple incident types</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p:txBody>
      </p:sp>
      <p:sp>
        <p:nvSpPr>
          <p:cNvPr id="748" name="Google Shape;748;p11"/>
          <p:cNvSpPr/>
          <p:nvPr/>
        </p:nvSpPr>
        <p:spPr>
          <a:xfrm>
            <a:off x="13110050" y="1100000"/>
            <a:ext cx="4499700" cy="8400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9" name="Google Shape;749;p11"/>
          <p:cNvSpPr/>
          <p:nvPr/>
        </p:nvSpPr>
        <p:spPr>
          <a:xfrm>
            <a:off x="13111050" y="1100000"/>
            <a:ext cx="4447500" cy="720000"/>
          </a:xfrm>
          <a:prstGeom prst="rect">
            <a:avLst/>
          </a:prstGeom>
          <a:solidFill>
            <a:srgbClr val="04785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0" name="Google Shape;750;p11"/>
          <p:cNvSpPr/>
          <p:nvPr/>
        </p:nvSpPr>
        <p:spPr>
          <a:xfrm>
            <a:off x="13110046" y="1180000"/>
            <a:ext cx="2499900" cy="38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300" b="1" i="0">
                <a:solidFill>
                  <a:srgbClr val="FFFFFF"/>
                </a:solidFill>
                <a:latin typeface="Poppins"/>
                <a:ea typeface="Poppins"/>
                <a:cs typeface="Poppins"/>
                <a:sym typeface="Poppins"/>
              </a:rPr>
              <a:t>PHASE 04</a:t>
            </a:r>
            <a:endParaRPr/>
          </a:p>
        </p:txBody>
      </p:sp>
      <p:sp>
        <p:nvSpPr>
          <p:cNvPr id="751" name="Google Shape;751;p11"/>
          <p:cNvSpPr/>
          <p:nvPr/>
        </p:nvSpPr>
        <p:spPr>
          <a:xfrm>
            <a:off x="13165191" y="1900000"/>
            <a:ext cx="4447500" cy="6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i="0">
                <a:solidFill>
                  <a:srgbClr val="047857"/>
                </a:solidFill>
                <a:latin typeface="Poppins"/>
                <a:ea typeface="Poppins"/>
                <a:cs typeface="Poppins"/>
                <a:sym typeface="Poppins"/>
              </a:rPr>
              <a:t>Dashboard &amp; Demo</a:t>
            </a:r>
            <a:endParaRPr/>
          </a:p>
        </p:txBody>
      </p:sp>
      <p:sp>
        <p:nvSpPr>
          <p:cNvPr id="752" name="Google Shape;752;p11"/>
          <p:cNvSpPr/>
          <p:nvPr/>
        </p:nvSpPr>
        <p:spPr>
          <a:xfrm>
            <a:off x="13165200" y="2579900"/>
            <a:ext cx="4212900" cy="6699900"/>
          </a:xfrm>
          <a:prstGeom prst="rect">
            <a:avLst/>
          </a:prstGeom>
          <a:noFill/>
          <a:ln>
            <a:noFill/>
          </a:ln>
        </p:spPr>
        <p:txBody>
          <a:bodyPr spcFirstLastPara="1" wrap="square" lIns="91425" tIns="45700" rIns="91425" bIns="45700" anchor="t" anchorCtr="0">
            <a:noAutofit/>
          </a:bodyPr>
          <a:lstStyle/>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Build Next.js frontend + Go WebSocket backend</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Wire all layers end-to-end (L0 → L1 → L2 → L3 → L4)</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Record live demo of PVC cascade with real-time detection</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a:p>
            <a:pPr marL="342900" marR="0" lvl="0" indent="-374650" algn="l" rtl="0">
              <a:spcBef>
                <a:spcPts val="0"/>
              </a:spcBef>
              <a:spcAft>
                <a:spcPts val="0"/>
              </a:spcAft>
              <a:buClr>
                <a:srgbClr val="374151"/>
              </a:buClr>
              <a:buSzPts val="2100"/>
              <a:buFont typeface="Arial"/>
              <a:buChar char="•"/>
            </a:pPr>
            <a:r>
              <a:rPr lang="en-US" sz="2100" b="0" i="0">
                <a:solidFill>
                  <a:srgbClr val="374151"/>
                </a:solidFill>
                <a:latin typeface="Poppins"/>
                <a:ea typeface="Poppins"/>
                <a:cs typeface="Poppins"/>
                <a:sym typeface="Poppins"/>
              </a:rPr>
              <a:t>Final prototype: &lt; 30s detection, NLP summary, air-gapped</a:t>
            </a:r>
            <a:endParaRPr sz="2100"/>
          </a:p>
          <a:p>
            <a:pPr marL="0" marR="0" lvl="0" indent="0" algn="l" rtl="0">
              <a:spcBef>
                <a:spcPts val="200"/>
              </a:spcBef>
              <a:spcAft>
                <a:spcPts val="0"/>
              </a:spcAft>
              <a:buNone/>
            </a:pPr>
            <a:endParaRPr sz="2100">
              <a:solidFill>
                <a:schemeClr val="dk1"/>
              </a:solidFill>
              <a:latin typeface="Calibri"/>
              <a:ea typeface="Calibri"/>
              <a:cs typeface="Calibri"/>
              <a:sym typeface="Calibri"/>
            </a:endParaRPr>
          </a:p>
        </p:txBody>
      </p:sp>
      <p:sp>
        <p:nvSpPr>
          <p:cNvPr id="753" name="Google Shape;753;p11"/>
          <p:cNvSpPr/>
          <p:nvPr/>
        </p:nvSpPr>
        <p:spPr>
          <a:xfrm>
            <a:off x="0" y="9774936"/>
            <a:ext cx="18288000" cy="512064"/>
          </a:xfrm>
          <a:prstGeom prst="rect">
            <a:avLst/>
          </a:prstGeom>
          <a:solidFill>
            <a:srgbClr val="1A1A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4" name="Google Shape;754;p11"/>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5" name="Google Shape;755;p11"/>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a:p>
        </p:txBody>
      </p:sp>
      <p:sp>
        <p:nvSpPr>
          <p:cNvPr id="756" name="Google Shape;756;p11"/>
          <p:cNvSpPr/>
          <p:nvPr/>
        </p:nvSpPr>
        <p:spPr>
          <a:xfrm>
            <a:off x="1463040" y="9774936"/>
            <a:ext cx="9216000" cy="512064"/>
          </a:xfrm>
          <a:prstGeom prst="rect">
            <a:avLst/>
          </a:prstGeom>
          <a:noFill/>
          <a:ln>
            <a:noFill/>
          </a:ln>
        </p:spPr>
        <p:txBody>
          <a:bodyPr spcFirstLastPara="1" wrap="square" lIns="91425" tIns="0" rIns="91425" bIns="0" anchor="ctr" anchorCtr="0">
            <a:noAutofit/>
          </a:bodyPr>
          <a:lstStyle/>
          <a:p>
            <a:pPr marL="0" marR="0" lvl="0" indent="0" algn="l" rtl="0">
              <a:spcBef>
                <a:spcPts val="0"/>
              </a:spcBef>
              <a:spcAft>
                <a:spcPts val="0"/>
              </a:spcAft>
              <a:buNone/>
            </a:pPr>
            <a:r>
              <a:rPr lang="en-US" sz="1400">
                <a:solidFill>
                  <a:srgbClr val="FFFFFF"/>
                </a:solidFill>
                <a:latin typeface="Poppins"/>
                <a:ea typeface="Poppins"/>
                <a:cs typeface="Poppins"/>
                <a:sym typeface="Poppins"/>
              </a:rPr>
              <a:t>SiliconKnights</a:t>
            </a:r>
            <a:endParaRPr/>
          </a:p>
        </p:txBody>
      </p:sp>
      <p:sp>
        <p:nvSpPr>
          <p:cNvPr id="757" name="Google Shape;757;p11"/>
          <p:cNvSpPr/>
          <p:nvPr/>
        </p:nvSpPr>
        <p:spPr>
          <a:xfrm>
            <a:off x="10679040" y="9774936"/>
            <a:ext cx="7532760" cy="5120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sz="1400">
                <a:solidFill>
                  <a:srgbClr val="FFFFFF"/>
                </a:solidFill>
                <a:latin typeface="Poppins"/>
                <a:ea typeface="Poppins"/>
                <a:cs typeface="Poppins"/>
                <a:sym typeface="Poppins"/>
              </a:rPr>
              <a:t>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Shape 761"/>
        <p:cNvGrpSpPr/>
        <p:nvPr/>
      </p:nvGrpSpPr>
      <p:grpSpPr>
        <a:xfrm>
          <a:off x="0" y="0"/>
          <a:ext cx="0" cy="0"/>
          <a:chOff x="0" y="0"/>
          <a:chExt cx="0" cy="0"/>
        </a:xfrm>
      </p:grpSpPr>
      <p:sp>
        <p:nvSpPr>
          <p:cNvPr id="762" name="Google Shape;762;p12"/>
          <p:cNvSpPr/>
          <p:nvPr/>
        </p:nvSpPr>
        <p:spPr>
          <a:xfrm>
            <a:off x="706545" y="365760"/>
            <a:ext cx="585216"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3" name="Google Shape;763;p12"/>
          <p:cNvSpPr/>
          <p:nvPr/>
        </p:nvSpPr>
        <p:spPr>
          <a:xfrm>
            <a:off x="706545" y="365760"/>
            <a:ext cx="585216"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1">
                <a:solidFill>
                  <a:srgbClr val="FFFFFF"/>
                </a:solidFill>
                <a:latin typeface="Poppins"/>
                <a:ea typeface="Poppins"/>
                <a:cs typeface="Poppins"/>
                <a:sym typeface="Poppins"/>
              </a:rPr>
              <a:t>13</a:t>
            </a:r>
            <a:endParaRPr/>
          </a:p>
        </p:txBody>
      </p:sp>
      <p:sp>
        <p:nvSpPr>
          <p:cNvPr id="764" name="Google Shape;764;p12"/>
          <p:cNvSpPr/>
          <p:nvPr/>
        </p:nvSpPr>
        <p:spPr>
          <a:xfrm>
            <a:off x="1390080" y="330480"/>
            <a:ext cx="1097016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3600" b="1">
                <a:solidFill>
                  <a:srgbClr val="1A1A1A"/>
                </a:solidFill>
                <a:latin typeface="Poppins"/>
                <a:ea typeface="Poppins"/>
                <a:cs typeface="Poppins"/>
                <a:sym typeface="Poppins"/>
              </a:rPr>
              <a:t>Expected Outcome</a:t>
            </a:r>
            <a:endParaRPr/>
          </a:p>
        </p:txBody>
      </p:sp>
      <p:sp>
        <p:nvSpPr>
          <p:cNvPr id="765" name="Google Shape;765;p12"/>
          <p:cNvSpPr/>
          <p:nvPr/>
        </p:nvSpPr>
        <p:spPr>
          <a:xfrm rot="10800000" flipH="1">
            <a:off x="706552" y="954418"/>
            <a:ext cx="16653000" cy="31500"/>
          </a:xfrm>
          <a:prstGeom prst="rect">
            <a:avLst/>
          </a:prstGeom>
          <a:solidFill>
            <a:srgbClr val="CC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6" name="Google Shape;766;p12"/>
          <p:cNvSpPr/>
          <p:nvPr/>
        </p:nvSpPr>
        <p:spPr>
          <a:xfrm>
            <a:off x="656502" y="1107000"/>
            <a:ext cx="7645500" cy="86001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7" name="Google Shape;767;p12"/>
          <p:cNvSpPr/>
          <p:nvPr/>
        </p:nvSpPr>
        <p:spPr>
          <a:xfrm>
            <a:off x="806552" y="1200000"/>
            <a:ext cx="7043400" cy="6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i="0">
                <a:solidFill>
                  <a:srgbClr val="1A1A1A"/>
                </a:solidFill>
                <a:latin typeface="Poppins"/>
                <a:ea typeface="Poppins"/>
                <a:cs typeface="Poppins"/>
                <a:sym typeface="Poppins"/>
              </a:rPr>
              <a:t>What Round 2 Will Demonstrate</a:t>
            </a:r>
            <a:endParaRPr/>
          </a:p>
        </p:txBody>
      </p:sp>
      <p:sp>
        <p:nvSpPr>
          <p:cNvPr id="768" name="Google Shape;768;p12"/>
          <p:cNvSpPr/>
          <p:nvPr/>
        </p:nvSpPr>
        <p:spPr>
          <a:xfrm>
            <a:off x="806552" y="1900000"/>
            <a:ext cx="7043400" cy="75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700" b="1" i="0">
                <a:solidFill>
                  <a:srgbClr val="1A1A1A"/>
                </a:solidFill>
                <a:latin typeface="Poppins"/>
                <a:ea typeface="Poppins"/>
                <a:cs typeface="Poppins"/>
                <a:sym typeface="Poppins"/>
              </a:rPr>
              <a:t>1. </a:t>
            </a:r>
            <a:r>
              <a:rPr lang="en-US" sz="2000" b="1" i="0">
                <a:solidFill>
                  <a:srgbClr val="1A1A1A"/>
                </a:solidFill>
                <a:latin typeface="Poppins"/>
                <a:ea typeface="Poppins"/>
                <a:cs typeface="Poppins"/>
                <a:sym typeface="Poppins"/>
              </a:rPr>
              <a:t>Trigger a live PVC I/O cascade on the K3s cluster</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0" i="0">
                <a:solidFill>
                  <a:srgbClr val="6B7280"/>
                </a:solidFill>
                <a:latin typeface="Poppins"/>
                <a:ea typeface="Poppins"/>
                <a:cs typeface="Poppins"/>
                <a:sym typeface="Poppins"/>
              </a:rPr>
              <a:t>    All pods report healthy — no alert has fired</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i="0">
                <a:solidFill>
                  <a:srgbClr val="1A1A1A"/>
                </a:solidFill>
                <a:latin typeface="Poppins"/>
                <a:ea typeface="Poppins"/>
                <a:cs typeface="Poppins"/>
                <a:sym typeface="Poppins"/>
              </a:rPr>
              <a:t>2. System detects I/O storm within seconds</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0" i="0">
                <a:solidFill>
                  <a:srgbClr val="6B7280"/>
                </a:solidFill>
                <a:latin typeface="Poppins"/>
                <a:ea typeface="Poppins"/>
                <a:cs typeface="Poppins"/>
                <a:sym typeface="Poppins"/>
              </a:rPr>
              <a:t>    Cooling Monitor flagged at 94% I/O — 5 signal dimensions tracked</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i="0">
                <a:solidFill>
                  <a:srgbClr val="1A1A1A"/>
                </a:solidFill>
                <a:latin typeface="Poppins"/>
                <a:ea typeface="Poppins"/>
                <a:cs typeface="Poppins"/>
                <a:sym typeface="Poppins"/>
              </a:rPr>
              <a:t>3. 5-hop propagation chain traced automatically</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0" i="0">
                <a:solidFill>
                  <a:srgbClr val="6B7280"/>
                </a:solidFill>
                <a:latin typeface="Poppins"/>
                <a:ea typeface="Poppins"/>
                <a:cs typeface="Poppins"/>
                <a:sym typeface="Poppins"/>
              </a:rPr>
              <a:t>    CoolMon → DCIM → AlertDisp → CCR — with lag at each hop</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i="0">
                <a:solidFill>
                  <a:srgbClr val="1A1A1A"/>
                </a:solidFill>
                <a:latin typeface="Poppins"/>
                <a:ea typeface="Poppins"/>
                <a:cs typeface="Poppins"/>
                <a:sym typeface="Poppins"/>
              </a:rPr>
              <a:t>4. Plain-English NLP summary generated locally</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0" i="0">
                <a:solidFill>
                  <a:srgbClr val="6B7280"/>
                </a:solidFill>
                <a:latin typeface="Poppins"/>
                <a:ea typeface="Poppins"/>
                <a:cs typeface="Poppins"/>
                <a:sym typeface="Poppins"/>
              </a:rPr>
              <a:t>    "cooling-monitor I/O spike is the probable root cause..."</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i="0">
                <a:solidFill>
                  <a:srgbClr val="1A1A1A"/>
                </a:solidFill>
                <a:latin typeface="Poppins"/>
                <a:ea typeface="Poppins"/>
                <a:cs typeface="Poppins"/>
                <a:sym typeface="Poppins"/>
              </a:rPr>
              <a:t>5. Live dependency graph updates in real time on dashboard</a:t>
            </a:r>
            <a:endParaRPr sz="1700"/>
          </a:p>
          <a:p>
            <a:pPr marL="0" marR="0" lvl="0" indent="0" algn="l" rtl="0">
              <a:spcBef>
                <a:spcPts val="200"/>
              </a:spcBef>
              <a:spcAft>
                <a:spcPts val="0"/>
              </a:spcAft>
              <a:buNone/>
            </a:pPr>
            <a:endParaRPr sz="7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0" i="0">
                <a:solidFill>
                  <a:srgbClr val="6B7280"/>
                </a:solidFill>
                <a:latin typeface="Poppins"/>
                <a:ea typeface="Poppins"/>
                <a:cs typeface="Poppins"/>
                <a:sym typeface="Poppins"/>
              </a:rPr>
              <a:t>    React Flow renders causal graph; Recharts shows               time-series</a:t>
            </a:r>
            <a:endParaRPr sz="1700"/>
          </a:p>
          <a:p>
            <a:pPr marL="0" marR="0" lvl="0" indent="0" algn="l" rtl="0">
              <a:spcBef>
                <a:spcPts val="200"/>
              </a:spcBef>
              <a:spcAft>
                <a:spcPts val="0"/>
              </a:spcAft>
              <a:buNone/>
            </a:pPr>
            <a:endParaRPr sz="400">
              <a:solidFill>
                <a:schemeClr val="dk1"/>
              </a:solidFill>
              <a:latin typeface="Calibri"/>
              <a:ea typeface="Calibri"/>
              <a:cs typeface="Calibri"/>
              <a:sym typeface="Calibri"/>
            </a:endParaRPr>
          </a:p>
        </p:txBody>
      </p:sp>
      <p:sp>
        <p:nvSpPr>
          <p:cNvPr id="769" name="Google Shape;769;p12"/>
          <p:cNvSpPr/>
          <p:nvPr/>
        </p:nvSpPr>
        <p:spPr>
          <a:xfrm>
            <a:off x="8862376" y="1039050"/>
            <a:ext cx="8497200" cy="8600100"/>
          </a:xfrm>
          <a:prstGeom prst="rect">
            <a:avLst/>
          </a:prstGeom>
          <a:solidFill>
            <a:srgbClr val="1A1A1A"/>
          </a:soli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0" name="Google Shape;770;p12"/>
          <p:cNvSpPr/>
          <p:nvPr/>
        </p:nvSpPr>
        <p:spPr>
          <a:xfrm>
            <a:off x="10144678" y="1200000"/>
            <a:ext cx="5276100" cy="6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i="0">
                <a:solidFill>
                  <a:srgbClr val="FFFFFF"/>
                </a:solidFill>
                <a:latin typeface="Poppins"/>
                <a:ea typeface="Poppins"/>
                <a:cs typeface="Poppins"/>
                <a:sym typeface="Poppins"/>
              </a:rPr>
              <a:t>Prototype Capabilities</a:t>
            </a:r>
            <a:endParaRPr/>
          </a:p>
        </p:txBody>
      </p:sp>
      <p:sp>
        <p:nvSpPr>
          <p:cNvPr id="771" name="Google Shape;771;p12"/>
          <p:cNvSpPr/>
          <p:nvPr/>
        </p:nvSpPr>
        <p:spPr>
          <a:xfrm>
            <a:off x="10054283" y="2000000"/>
            <a:ext cx="150000" cy="150000"/>
          </a:xfrm>
          <a:prstGeom prst="ellipse">
            <a:avLst/>
          </a:prstGeom>
          <a:solidFill>
            <a:srgbClr val="CC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2" name="Google Shape;772;p12"/>
          <p:cNvSpPr/>
          <p:nvPr/>
        </p:nvSpPr>
        <p:spPr>
          <a:xfrm>
            <a:off x="10272362" y="1900000"/>
            <a:ext cx="5126100" cy="14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900" b="1" i="0">
                <a:solidFill>
                  <a:srgbClr val="CC0000"/>
                </a:solidFill>
                <a:latin typeface="Poppins"/>
                <a:ea typeface="Poppins"/>
                <a:cs typeface="Poppins"/>
                <a:sym typeface="Poppins"/>
              </a:rPr>
              <a:t>Fully Air-Gapped</a:t>
            </a:r>
            <a:endParaRPr/>
          </a:p>
          <a:p>
            <a:pPr marL="0" marR="0" lvl="0" indent="0" algn="l" rtl="0">
              <a:spcBef>
                <a:spcPts val="0"/>
              </a:spcBef>
              <a:spcAft>
                <a:spcPts val="0"/>
              </a:spcAft>
              <a:buNone/>
            </a:pPr>
            <a:r>
              <a:rPr lang="en-US" sz="1600" b="0" i="0">
                <a:solidFill>
                  <a:srgbClr val="CCCCCC"/>
                </a:solidFill>
                <a:latin typeface="Poppins"/>
                <a:ea typeface="Poppins"/>
                <a:cs typeface="Poppins"/>
                <a:sym typeface="Poppins"/>
              </a:rPr>
              <a:t>No cloud calls. Local Ollama + Llama 3. Works offline.</a:t>
            </a:r>
            <a:endParaRPr/>
          </a:p>
        </p:txBody>
      </p:sp>
      <p:sp>
        <p:nvSpPr>
          <p:cNvPr id="773" name="Google Shape;773;p12"/>
          <p:cNvSpPr/>
          <p:nvPr/>
        </p:nvSpPr>
        <p:spPr>
          <a:xfrm>
            <a:off x="10054283" y="3500000"/>
            <a:ext cx="150000" cy="150000"/>
          </a:xfrm>
          <a:prstGeom prst="ellipse">
            <a:avLst/>
          </a:prstGeom>
          <a:solidFill>
            <a:srgbClr val="2563E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4" name="Google Shape;774;p12"/>
          <p:cNvSpPr/>
          <p:nvPr/>
        </p:nvSpPr>
        <p:spPr>
          <a:xfrm>
            <a:off x="10416995" y="3400000"/>
            <a:ext cx="5126100" cy="14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900" b="1" i="0">
                <a:solidFill>
                  <a:srgbClr val="2563EB"/>
                </a:solidFill>
                <a:latin typeface="Poppins"/>
                <a:ea typeface="Poppins"/>
                <a:cs typeface="Poppins"/>
                <a:sym typeface="Poppins"/>
              </a:rPr>
              <a:t>Zero-Config Discovery</a:t>
            </a:r>
            <a:endParaRPr/>
          </a:p>
          <a:p>
            <a:pPr marL="0" marR="0" lvl="0" indent="0" algn="l" rtl="0">
              <a:spcBef>
                <a:spcPts val="0"/>
              </a:spcBef>
              <a:spcAft>
                <a:spcPts val="0"/>
              </a:spcAft>
              <a:buNone/>
            </a:pPr>
            <a:r>
              <a:rPr lang="en-US" sz="1600" b="0" i="0">
                <a:solidFill>
                  <a:srgbClr val="CCCCCC"/>
                </a:solidFill>
                <a:latin typeface="Poppins"/>
                <a:ea typeface="Poppins"/>
                <a:cs typeface="Poppins"/>
                <a:sym typeface="Poppins"/>
              </a:rPr>
              <a:t>eBPF infers topology without modifying workloads.</a:t>
            </a:r>
            <a:endParaRPr/>
          </a:p>
        </p:txBody>
      </p:sp>
      <p:sp>
        <p:nvSpPr>
          <p:cNvPr id="775" name="Google Shape;775;p12"/>
          <p:cNvSpPr/>
          <p:nvPr/>
        </p:nvSpPr>
        <p:spPr>
          <a:xfrm>
            <a:off x="10090441" y="5000000"/>
            <a:ext cx="150000" cy="150000"/>
          </a:xfrm>
          <a:prstGeom prst="ellipse">
            <a:avLst/>
          </a:prstGeom>
          <a:solidFill>
            <a:srgbClr val="04785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6" name="Google Shape;776;p12"/>
          <p:cNvSpPr/>
          <p:nvPr/>
        </p:nvSpPr>
        <p:spPr>
          <a:xfrm>
            <a:off x="10398916" y="4900000"/>
            <a:ext cx="5126100" cy="14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900" b="1" i="0">
                <a:solidFill>
                  <a:srgbClr val="047857"/>
                </a:solidFill>
                <a:latin typeface="Poppins"/>
                <a:ea typeface="Poppins"/>
                <a:cs typeface="Poppins"/>
                <a:sym typeface="Poppins"/>
              </a:rPr>
              <a:t>Multi-Resource Cascade</a:t>
            </a:r>
            <a:endParaRPr/>
          </a:p>
          <a:p>
            <a:pPr marL="0" marR="0" lvl="0" indent="0" algn="l" rtl="0">
              <a:spcBef>
                <a:spcPts val="0"/>
              </a:spcBef>
              <a:spcAft>
                <a:spcPts val="0"/>
              </a:spcAft>
              <a:buNone/>
            </a:pPr>
            <a:r>
              <a:rPr lang="en-US" sz="1600" b="0" i="0">
                <a:solidFill>
                  <a:srgbClr val="CCCCCC"/>
                </a:solidFill>
                <a:latin typeface="Poppins"/>
                <a:ea typeface="Poppins"/>
                <a:cs typeface="Poppins"/>
                <a:sym typeface="Poppins"/>
              </a:rPr>
              <a:t>Storage → App → Log → Control chains detected.</a:t>
            </a:r>
            <a:endParaRPr/>
          </a:p>
        </p:txBody>
      </p:sp>
      <p:sp>
        <p:nvSpPr>
          <p:cNvPr id="777" name="Google Shape;777;p12"/>
          <p:cNvSpPr/>
          <p:nvPr/>
        </p:nvSpPr>
        <p:spPr>
          <a:xfrm>
            <a:off x="10018125" y="6500000"/>
            <a:ext cx="150000" cy="150000"/>
          </a:xfrm>
          <a:prstGeom prst="ellipse">
            <a:avLst/>
          </a:prstGeom>
          <a:solidFill>
            <a:srgbClr val="D977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8" name="Google Shape;778;p12"/>
          <p:cNvSpPr/>
          <p:nvPr/>
        </p:nvSpPr>
        <p:spPr>
          <a:xfrm>
            <a:off x="10272362" y="6400000"/>
            <a:ext cx="5126100" cy="14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900" b="1" i="0">
                <a:solidFill>
                  <a:srgbClr val="D97706"/>
                </a:solidFill>
                <a:latin typeface="Poppins"/>
                <a:ea typeface="Poppins"/>
                <a:cs typeface="Poppins"/>
                <a:sym typeface="Poppins"/>
              </a:rPr>
              <a:t>&lt; 30s Detection</a:t>
            </a:r>
            <a:endParaRPr/>
          </a:p>
          <a:p>
            <a:pPr marL="0" marR="0" lvl="0" indent="0" algn="l" rtl="0">
              <a:spcBef>
                <a:spcPts val="0"/>
              </a:spcBef>
              <a:spcAft>
                <a:spcPts val="0"/>
              </a:spcAft>
              <a:buNone/>
            </a:pPr>
            <a:r>
              <a:rPr lang="en-US" sz="1600" b="0" i="0">
                <a:solidFill>
                  <a:srgbClr val="CCCCCC"/>
                </a:solidFill>
                <a:latin typeface="Poppins"/>
                <a:ea typeface="Poppins"/>
                <a:cs typeface="Poppins"/>
                <a:sym typeface="Poppins"/>
              </a:rPr>
              <a:t>From I/O storm trigger to NLP root cause output.</a:t>
            </a:r>
            <a:endParaRPr/>
          </a:p>
        </p:txBody>
      </p:sp>
      <p:sp>
        <p:nvSpPr>
          <p:cNvPr id="779" name="Google Shape;779;p12"/>
          <p:cNvSpPr/>
          <p:nvPr/>
        </p:nvSpPr>
        <p:spPr>
          <a:xfrm>
            <a:off x="10054283" y="8000000"/>
            <a:ext cx="150000" cy="150000"/>
          </a:xfrm>
          <a:prstGeom prst="ellipse">
            <a:avLst/>
          </a:prstGeom>
          <a:solidFill>
            <a:srgbClr val="7C3AE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0" name="Google Shape;780;p12"/>
          <p:cNvSpPr/>
          <p:nvPr/>
        </p:nvSpPr>
        <p:spPr>
          <a:xfrm>
            <a:off x="10254283" y="7900000"/>
            <a:ext cx="5126100" cy="1400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900" b="1" i="0">
                <a:solidFill>
                  <a:srgbClr val="7C3AED"/>
                </a:solidFill>
                <a:latin typeface="Poppins"/>
                <a:ea typeface="Poppins"/>
                <a:cs typeface="Poppins"/>
                <a:sym typeface="Poppins"/>
              </a:rPr>
              <a:t>Live Dashboard</a:t>
            </a:r>
            <a:endParaRPr/>
          </a:p>
          <a:p>
            <a:pPr marL="0" marR="0" lvl="0" indent="0" algn="l" rtl="0">
              <a:spcBef>
                <a:spcPts val="0"/>
              </a:spcBef>
              <a:spcAft>
                <a:spcPts val="0"/>
              </a:spcAft>
              <a:buNone/>
            </a:pPr>
            <a:r>
              <a:rPr lang="en-US" sz="1600" b="0" i="0">
                <a:solidFill>
                  <a:srgbClr val="CCCCCC"/>
                </a:solidFill>
                <a:latin typeface="Poppins"/>
                <a:ea typeface="Poppins"/>
                <a:cs typeface="Poppins"/>
                <a:sym typeface="Poppins"/>
              </a:rPr>
              <a:t>WebSocket-driven React Flow graph updates in real time.</a:t>
            </a:r>
            <a:endParaRPr/>
          </a:p>
        </p:txBody>
      </p:sp>
      <p:sp>
        <p:nvSpPr>
          <p:cNvPr id="781" name="Google Shape;781;p12"/>
          <p:cNvSpPr/>
          <p:nvPr/>
        </p:nvSpPr>
        <p:spPr>
          <a:xfrm>
            <a:off x="0" y="9774936"/>
            <a:ext cx="18288000" cy="512064"/>
          </a:xfrm>
          <a:prstGeom prst="rect">
            <a:avLst/>
          </a:prstGeom>
          <a:solidFill>
            <a:srgbClr val="1A1A1A"/>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2" name="Google Shape;782;p12"/>
          <p:cNvSpPr/>
          <p:nvPr/>
        </p:nvSpPr>
        <p:spPr>
          <a:xfrm>
            <a:off x="0" y="9774936"/>
            <a:ext cx="1463040" cy="512064"/>
          </a:xfrm>
          <a:prstGeom prst="rect">
            <a:avLst/>
          </a:prstGeom>
          <a:solidFill>
            <a:srgbClr val="CC0000"/>
          </a:solidFill>
          <a:ln w="12700" cap="flat" cmpd="sng">
            <a:solidFill>
              <a:srgbClr val="CC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3" name="Google Shape;783;p12"/>
          <p:cNvSpPr/>
          <p:nvPr/>
        </p:nvSpPr>
        <p:spPr>
          <a:xfrm>
            <a:off x="0" y="9774936"/>
            <a:ext cx="1463040" cy="5120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b="1">
                <a:solidFill>
                  <a:srgbClr val="FFFFFF"/>
                </a:solidFill>
                <a:latin typeface="Poppins"/>
                <a:ea typeface="Poppins"/>
                <a:cs typeface="Poppins"/>
                <a:sym typeface="Poppins"/>
              </a:rPr>
              <a:t>ABB Accelerator</a:t>
            </a:r>
            <a:endParaRPr/>
          </a:p>
        </p:txBody>
      </p:sp>
      <p:sp>
        <p:nvSpPr>
          <p:cNvPr id="784" name="Google Shape;784;p12"/>
          <p:cNvSpPr/>
          <p:nvPr/>
        </p:nvSpPr>
        <p:spPr>
          <a:xfrm>
            <a:off x="1463040" y="9774936"/>
            <a:ext cx="9216000" cy="512064"/>
          </a:xfrm>
          <a:prstGeom prst="rect">
            <a:avLst/>
          </a:prstGeom>
          <a:noFill/>
          <a:ln>
            <a:noFill/>
          </a:ln>
        </p:spPr>
        <p:txBody>
          <a:bodyPr spcFirstLastPara="1" wrap="square" lIns="91425" tIns="0" rIns="91425" bIns="0" anchor="ctr" anchorCtr="0">
            <a:noAutofit/>
          </a:bodyPr>
          <a:lstStyle/>
          <a:p>
            <a:pPr marL="0" marR="0" lvl="0" indent="0" algn="l" rtl="0">
              <a:spcBef>
                <a:spcPts val="0"/>
              </a:spcBef>
              <a:spcAft>
                <a:spcPts val="0"/>
              </a:spcAft>
              <a:buNone/>
            </a:pPr>
            <a:r>
              <a:rPr lang="en-US" sz="1400">
                <a:solidFill>
                  <a:srgbClr val="FFFFFF"/>
                </a:solidFill>
                <a:latin typeface="Poppins"/>
                <a:ea typeface="Poppins"/>
                <a:cs typeface="Poppins"/>
                <a:sym typeface="Poppins"/>
              </a:rPr>
              <a:t>SiliconKnights</a:t>
            </a:r>
            <a:endParaRPr/>
          </a:p>
        </p:txBody>
      </p:sp>
      <p:sp>
        <p:nvSpPr>
          <p:cNvPr id="785" name="Google Shape;785;p12"/>
          <p:cNvSpPr/>
          <p:nvPr/>
        </p:nvSpPr>
        <p:spPr>
          <a:xfrm>
            <a:off x="10679040" y="9774936"/>
            <a:ext cx="7456560" cy="512064"/>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US" sz="1400">
                <a:solidFill>
                  <a:srgbClr val="FFFFFF"/>
                </a:solidFill>
                <a:latin typeface="Poppins"/>
                <a:ea typeface="Poppins"/>
                <a:cs typeface="Poppins"/>
                <a:sym typeface="Poppins"/>
              </a:rPr>
              <a:t>1</a:t>
            </a:r>
            <a:r>
              <a:rPr lang="en-US">
                <a:solidFill>
                  <a:srgbClr val="FFFFFF"/>
                </a:solidFill>
                <a:latin typeface="Poppins"/>
                <a:ea typeface="Poppins"/>
                <a:cs typeface="Poppins"/>
                <a:sym typeface="Poppins"/>
              </a:rPr>
              <a:t>3</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A1A1A"/>
      </a:dk2>
      <a:lt2>
        <a:srgbClr val="F5F5F5"/>
      </a:lt2>
      <a:accent1>
        <a:srgbClr val="CC0000"/>
      </a:accent1>
      <a:accent2>
        <a:srgbClr val="8B0000"/>
      </a:accent2>
      <a:accent3>
        <a:srgbClr val="4A4A4A"/>
      </a:accent3>
      <a:accent4>
        <a:srgbClr val="2D2D2D"/>
      </a:accent4>
      <a:accent5>
        <a:srgbClr val="E8E8E8"/>
      </a:accent5>
      <a:accent6>
        <a:srgbClr val="B0B0B0"/>
      </a:accent6>
      <a:hlink>
        <a:srgbClr val="CC0000"/>
      </a:hlink>
      <a:folHlink>
        <a:srgbClr val="8B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2139</Words>
  <Application>Microsoft Office PowerPoint</Application>
  <PresentationFormat>Custom</PresentationFormat>
  <Paragraphs>489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Poppins</vt:lpstr>
      <vt:lpstr>Calibri</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Aaryan Shyam Pillai</cp:lastModifiedBy>
  <cp:revision>1</cp:revision>
  <dcterms:created xsi:type="dcterms:W3CDTF">2006-08-16T00:00:00Z</dcterms:created>
  <dcterms:modified xsi:type="dcterms:W3CDTF">2026-05-20T11:08:26Z</dcterms:modified>
</cp:coreProperties>
</file>